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2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73" r:id="rId11"/>
    <p:sldId id="266" r:id="rId12"/>
    <p:sldId id="267" r:id="rId13"/>
    <p:sldId id="268" r:id="rId14"/>
    <p:sldId id="269" r:id="rId15"/>
    <p:sldId id="270" r:id="rId16"/>
    <p:sldId id="271" r:id="rId17"/>
    <p:sldId id="274" r:id="rId18"/>
    <p:sldId id="272" r:id="rId19"/>
  </p:sldIdLst>
  <p:sldSz cx="18288000" cy="10287000"/>
  <p:notesSz cx="10287000" cy="18288000"/>
  <p:embeddedFontLst>
    <p:embeddedFont>
      <p:font typeface="Calibri" panose="020F0502020204030204" pitchFamily="34" charset="0"/>
      <p:regular r:id="rId21"/>
      <p:bold r:id="rId22"/>
      <p:italic r:id="rId23"/>
      <p:boldItalic r:id="rId24"/>
    </p:embeddedFont>
    <p:embeddedFont>
      <p:font typeface="Microsoft YaHei" panose="020B0503020204020204" pitchFamily="34" charset="-122"/>
      <p:regular r:id="rId25"/>
      <p:bold r:id="rId26"/>
    </p:embeddedFont>
    <p:embeddedFont>
      <p:font typeface="맑은 고딕" panose="020B0503020000020004" pitchFamily="50" charset="-127"/>
      <p:regular r:id="rId27"/>
      <p:bold r:id="rId28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A4A4A"/>
    <a:srgbClr val="C7BFA9"/>
    <a:srgbClr val="ECE9DD"/>
    <a:srgbClr val="807E78"/>
    <a:srgbClr val="6B696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72667" autoAdjust="0"/>
  </p:normalViewPr>
  <p:slideViewPr>
    <p:cSldViewPr snapToGrid="0" snapToObjects="1">
      <p:cViewPr varScale="1">
        <p:scale>
          <a:sx n="79" d="100"/>
          <a:sy n="79" d="100"/>
        </p:scale>
        <p:origin x="1914" y="5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6.fntdata"/><Relationship Id="rId3" Type="http://schemas.openxmlformats.org/officeDocument/2006/relationships/slide" Target="slides/slide2.xml"/><Relationship Id="rId21" Type="http://schemas.openxmlformats.org/officeDocument/2006/relationships/font" Target="fonts/font1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5.fntdata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4.fntdata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3.fntdata"/><Relationship Id="rId28" Type="http://schemas.openxmlformats.org/officeDocument/2006/relationships/font" Target="fonts/font8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2.fntdata"/><Relationship Id="rId27" Type="http://schemas.openxmlformats.org/officeDocument/2006/relationships/font" Target="fonts/font7.fntdata"/><Relationship Id="rId30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11558187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안녕하세요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ko-KR" altLang="en-US" dirty="0"/>
              <a:t>저희가 개발한 국내형 그룹 여행 협업 플랫폼 </a:t>
            </a:r>
            <a:r>
              <a:rPr lang="en-US" altLang="ko-KR" b="1" dirty="0" err="1"/>
              <a:t>Groutrip</a:t>
            </a:r>
            <a:r>
              <a:rPr lang="ko-KR" altLang="en-US" b="1" dirty="0"/>
              <a:t>에 대해서 발표 시작하겠습니다</a:t>
            </a:r>
            <a:r>
              <a:rPr lang="en-US" altLang="ko-KR" b="1" dirty="0"/>
              <a:t>.</a:t>
            </a:r>
            <a:endParaRPr lang="en-US" altLang="ko-KR" dirty="0"/>
          </a:p>
          <a:p>
            <a:r>
              <a:rPr lang="en-US" altLang="ko-KR" dirty="0" err="1"/>
              <a:t>Groutrip</a:t>
            </a:r>
            <a:r>
              <a:rPr lang="ko-KR" altLang="en-US" dirty="0"/>
              <a:t>은 친구</a:t>
            </a:r>
            <a:r>
              <a:rPr lang="en-US" altLang="ko-KR" dirty="0"/>
              <a:t>, </a:t>
            </a:r>
            <a:r>
              <a:rPr lang="ko-KR" altLang="en-US" dirty="0"/>
              <a:t>가족</a:t>
            </a:r>
            <a:r>
              <a:rPr lang="en-US" altLang="ko-KR" dirty="0"/>
              <a:t>, </a:t>
            </a:r>
            <a:r>
              <a:rPr lang="ko-KR" altLang="en-US" dirty="0"/>
              <a:t>동아리처럼 여러 명이 함께 여행을 준비할 때 생기는 불편함을 해결하기 위한 서비스입니다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보통 여행 계획은 </a:t>
            </a:r>
            <a:r>
              <a:rPr lang="ko-KR" altLang="en-US" dirty="0" err="1"/>
              <a:t>단톡방에서</a:t>
            </a:r>
            <a:r>
              <a:rPr lang="ko-KR" altLang="en-US" dirty="0"/>
              <a:t> 시작하지만</a:t>
            </a:r>
            <a:r>
              <a:rPr lang="en-US" altLang="ko-KR" dirty="0"/>
              <a:t>, </a:t>
            </a:r>
            <a:r>
              <a:rPr lang="ko-KR" altLang="en-US" dirty="0"/>
              <a:t>장소는 </a:t>
            </a:r>
            <a:r>
              <a:rPr lang="ko-KR" altLang="en-US" dirty="0" err="1"/>
              <a:t>지도앱에</a:t>
            </a:r>
            <a:r>
              <a:rPr lang="ko-KR" altLang="en-US" dirty="0"/>
              <a:t> 저장하고</a:t>
            </a:r>
            <a:r>
              <a:rPr lang="en-US" altLang="ko-KR" dirty="0"/>
              <a:t>, </a:t>
            </a:r>
            <a:r>
              <a:rPr lang="ko-KR" altLang="en-US" dirty="0"/>
              <a:t>일정은 </a:t>
            </a:r>
            <a:r>
              <a:rPr lang="ko-KR" altLang="en-US" dirty="0" err="1"/>
              <a:t>메모앱에</a:t>
            </a:r>
            <a:r>
              <a:rPr lang="ko-KR" altLang="en-US" dirty="0"/>
              <a:t> 적고</a:t>
            </a:r>
            <a:r>
              <a:rPr lang="en-US" altLang="ko-KR" dirty="0"/>
              <a:t>, </a:t>
            </a:r>
            <a:r>
              <a:rPr lang="ko-KR" altLang="en-US" dirty="0"/>
              <a:t>정산은 따로 계산하게 됩니다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저희는 이렇게 흩어진 여행 준비 과정을 하나의 서비스 안에서 함께 계획하고</a:t>
            </a:r>
            <a:r>
              <a:rPr lang="en-US" altLang="ko-KR" dirty="0"/>
              <a:t>, </a:t>
            </a:r>
            <a:r>
              <a:rPr lang="ko-KR" altLang="en-US" dirty="0"/>
              <a:t>결정하고</a:t>
            </a:r>
            <a:r>
              <a:rPr lang="en-US" altLang="ko-KR" dirty="0"/>
              <a:t>, </a:t>
            </a:r>
            <a:r>
              <a:rPr lang="ko-KR" altLang="en-US" dirty="0"/>
              <a:t>정산할 수 있도록 만들었습니다</a:t>
            </a:r>
            <a:r>
              <a:rPr lang="en-US" altLang="ko-KR"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오늘 발표는 다음 순서로 진행하겠습니다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먼저 저희가 어떤 서비스를 만들었는지 프로젝트 개요를 </a:t>
            </a:r>
            <a:r>
              <a:rPr lang="ko-KR" altLang="en-US" dirty="0" err="1"/>
              <a:t>소개드리고</a:t>
            </a:r>
            <a:r>
              <a:rPr lang="en-US" altLang="ko-KR" dirty="0"/>
              <a:t>,</a:t>
            </a:r>
            <a:br>
              <a:rPr lang="en-US" altLang="ko-KR" dirty="0"/>
            </a:br>
            <a:r>
              <a:rPr lang="ko-KR" altLang="en-US" dirty="0" err="1"/>
              <a:t>그다음</a:t>
            </a:r>
            <a:r>
              <a:rPr lang="ko-KR" altLang="en-US" dirty="0"/>
              <a:t> 그룹 여행에서 어떤 문제가 있다고 생각했는지 말씀드리겠습니다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이후 </a:t>
            </a:r>
            <a:r>
              <a:rPr lang="en-US" altLang="ko-KR" dirty="0" err="1"/>
              <a:t>Groutrip</a:t>
            </a:r>
            <a:r>
              <a:rPr lang="ko-KR" altLang="en-US" dirty="0"/>
              <a:t>이 그 문제를 어떻게 해결하는지</a:t>
            </a:r>
            <a:r>
              <a:rPr lang="en-US" altLang="ko-KR" dirty="0"/>
              <a:t>, </a:t>
            </a:r>
            <a:r>
              <a:rPr lang="ko-KR" altLang="en-US" dirty="0"/>
              <a:t>그리고 핵심 기능 다섯 가지를 </a:t>
            </a:r>
            <a:r>
              <a:rPr lang="ko-KR" altLang="en-US" dirty="0" err="1"/>
              <a:t>설명드리겠습니다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마지막으로 기술 구조와 보안</a:t>
            </a:r>
            <a:r>
              <a:rPr lang="en-US" altLang="ko-KR" dirty="0"/>
              <a:t>, </a:t>
            </a:r>
            <a:r>
              <a:rPr lang="ko-KR" altLang="en-US" dirty="0"/>
              <a:t>개발 과정에서 배운 점을 말씀드린 뒤</a:t>
            </a:r>
            <a:r>
              <a:rPr lang="en-US" altLang="ko-KR" dirty="0"/>
              <a:t>, </a:t>
            </a:r>
            <a:r>
              <a:rPr lang="ko-KR" altLang="en-US" dirty="0"/>
              <a:t>시연으로 마무리하겠습니다</a:t>
            </a:r>
            <a:r>
              <a:rPr lang="en-US" altLang="ko-KR"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 err="1"/>
              <a:t>Groutrip</a:t>
            </a:r>
            <a:r>
              <a:rPr lang="ko-KR" altLang="en-US" dirty="0"/>
              <a:t>은 국내 여행에 특화된 그룹 여행 협업 플랫폼입니다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여러 명이 함께 여행을 준비할 때 필요한 장소 저장</a:t>
            </a:r>
            <a:r>
              <a:rPr lang="en-US" altLang="ko-KR" dirty="0"/>
              <a:t>, </a:t>
            </a:r>
            <a:r>
              <a:rPr lang="ko-KR" altLang="en-US" dirty="0"/>
              <a:t>일정 구성</a:t>
            </a:r>
            <a:r>
              <a:rPr lang="en-US" altLang="ko-KR" dirty="0"/>
              <a:t>, </a:t>
            </a:r>
            <a:r>
              <a:rPr lang="ko-KR" altLang="en-US" dirty="0"/>
              <a:t>투표</a:t>
            </a:r>
            <a:r>
              <a:rPr lang="en-US" altLang="ko-KR" dirty="0"/>
              <a:t>, </a:t>
            </a:r>
            <a:r>
              <a:rPr lang="ko-KR" altLang="en-US" dirty="0"/>
              <a:t>정산 기능을 하나로 묶는 것을 목표로 했습니다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저희는 해외 여행 일정 협업 서비스인 </a:t>
            </a:r>
            <a:r>
              <a:rPr lang="en-US" altLang="ko-KR" dirty="0" err="1"/>
              <a:t>Wanderlog</a:t>
            </a:r>
            <a:r>
              <a:rPr lang="ko-KR" altLang="en-US" dirty="0"/>
              <a:t>를 </a:t>
            </a:r>
            <a:r>
              <a:rPr lang="ko-KR" altLang="en-US" dirty="0" err="1"/>
              <a:t>벤치마크했습니다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ko-KR" altLang="en-US" dirty="0"/>
              <a:t>다만 </a:t>
            </a:r>
            <a:r>
              <a:rPr lang="en-US" altLang="ko-KR" dirty="0" err="1"/>
              <a:t>Wanderlog</a:t>
            </a:r>
            <a:r>
              <a:rPr lang="ko-KR" altLang="en-US" dirty="0"/>
              <a:t>가 비교적 해외 여행 중심이라면</a:t>
            </a:r>
            <a:r>
              <a:rPr lang="en-US" altLang="ko-KR" dirty="0"/>
              <a:t>, </a:t>
            </a:r>
            <a:r>
              <a:rPr lang="en-US" altLang="ko-KR" dirty="0" err="1"/>
              <a:t>Groutrip</a:t>
            </a:r>
            <a:r>
              <a:rPr lang="ko-KR" altLang="en-US" dirty="0"/>
              <a:t>은 국내 사용자에게 익숙한 지도</a:t>
            </a:r>
            <a:r>
              <a:rPr lang="en-US" altLang="ko-KR" dirty="0"/>
              <a:t>, </a:t>
            </a:r>
            <a:r>
              <a:rPr lang="ko-KR" altLang="en-US" dirty="0"/>
              <a:t>장소 추천</a:t>
            </a:r>
            <a:r>
              <a:rPr lang="en-US" altLang="ko-KR" dirty="0"/>
              <a:t>, </a:t>
            </a:r>
            <a:r>
              <a:rPr lang="ko-KR" altLang="en-US" dirty="0"/>
              <a:t>정산 흐름에 더 초점을 맞췄습니다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핵심 가치는 단순합니다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ko-KR" altLang="en-US" dirty="0"/>
              <a:t>흩어진 </a:t>
            </a:r>
            <a:r>
              <a:rPr lang="ko-KR" altLang="en-US" dirty="0" err="1"/>
              <a:t>단톡방</a:t>
            </a:r>
            <a:r>
              <a:rPr lang="ko-KR" altLang="en-US" dirty="0"/>
              <a:t> 여행 계획을 한 곳으로 모아서</a:t>
            </a:r>
            <a:r>
              <a:rPr lang="en-US" altLang="ko-KR" dirty="0"/>
              <a:t>, </a:t>
            </a:r>
            <a:r>
              <a:rPr lang="ko-KR" altLang="en-US" dirty="0"/>
              <a:t>함께 보고 함께 결정할 수 있게 만드는 것입니다</a:t>
            </a:r>
            <a:r>
              <a:rPr lang="en-US" altLang="ko-KR"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저희가 집중한 문제는 크게 세 가지입니다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첫 번째는 </a:t>
            </a:r>
            <a:r>
              <a:rPr lang="ko-KR" altLang="en-US" b="1" dirty="0"/>
              <a:t>의견이 잘 모이지 않는 것</a:t>
            </a:r>
            <a:r>
              <a:rPr lang="ko-KR" altLang="en-US" dirty="0"/>
              <a:t>입니다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en-US" altLang="ko-KR" dirty="0"/>
              <a:t>“</a:t>
            </a:r>
            <a:r>
              <a:rPr lang="ko-KR" altLang="en-US" dirty="0"/>
              <a:t>어디 갈래</a:t>
            </a:r>
            <a:r>
              <a:rPr lang="en-US" altLang="ko-KR" dirty="0"/>
              <a:t>?”, “</a:t>
            </a:r>
            <a:r>
              <a:rPr lang="ko-KR" altLang="en-US" dirty="0"/>
              <a:t>뭐 </a:t>
            </a:r>
            <a:r>
              <a:rPr lang="ko-KR" altLang="en-US" dirty="0" err="1"/>
              <a:t>먹을래</a:t>
            </a:r>
            <a:r>
              <a:rPr lang="en-US" altLang="ko-KR" dirty="0"/>
              <a:t>?” </a:t>
            </a:r>
            <a:r>
              <a:rPr lang="ko-KR" altLang="en-US" dirty="0"/>
              <a:t>같은 이야기가 </a:t>
            </a:r>
            <a:r>
              <a:rPr lang="ko-KR" altLang="en-US" dirty="0" err="1"/>
              <a:t>단톡방에</a:t>
            </a:r>
            <a:r>
              <a:rPr lang="ko-KR" altLang="en-US" dirty="0"/>
              <a:t> 계속 올라오지만</a:t>
            </a:r>
            <a:r>
              <a:rPr lang="en-US" altLang="ko-KR" dirty="0"/>
              <a:t>, </a:t>
            </a:r>
            <a:r>
              <a:rPr lang="ko-KR" altLang="en-US" dirty="0"/>
              <a:t>시간이 지나면 묻히고 결정이 늦어집니다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두 번째는 </a:t>
            </a:r>
            <a:r>
              <a:rPr lang="ko-KR" altLang="en-US" b="1" dirty="0"/>
              <a:t>일정과 장소가 흩어지는 것</a:t>
            </a:r>
            <a:r>
              <a:rPr lang="ko-KR" altLang="en-US" dirty="0"/>
              <a:t>입니다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ko-KR" altLang="en-US" dirty="0"/>
              <a:t>누군가는 네이버 지도에 저장하고</a:t>
            </a:r>
            <a:r>
              <a:rPr lang="en-US" altLang="ko-KR" dirty="0"/>
              <a:t>, </a:t>
            </a:r>
            <a:r>
              <a:rPr lang="ko-KR" altLang="en-US" dirty="0"/>
              <a:t>누군가는 캡처를 보내고</a:t>
            </a:r>
            <a:r>
              <a:rPr lang="en-US" altLang="ko-KR" dirty="0"/>
              <a:t>, </a:t>
            </a:r>
            <a:r>
              <a:rPr lang="ko-KR" altLang="en-US" dirty="0"/>
              <a:t>누군가는 </a:t>
            </a:r>
            <a:r>
              <a:rPr lang="ko-KR" altLang="en-US" dirty="0" err="1"/>
              <a:t>메모앱에</a:t>
            </a:r>
            <a:r>
              <a:rPr lang="ko-KR" altLang="en-US" dirty="0"/>
              <a:t> </a:t>
            </a:r>
            <a:r>
              <a:rPr lang="ko-KR" altLang="en-US" dirty="0" err="1"/>
              <a:t>적어두기</a:t>
            </a:r>
            <a:r>
              <a:rPr lang="ko-KR" altLang="en-US" dirty="0"/>
              <a:t> 때문에 전체 일정을 한눈에 보기 어렵습니다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세 번째는 </a:t>
            </a:r>
            <a:r>
              <a:rPr lang="ko-KR" altLang="en-US" b="1" dirty="0"/>
              <a:t>정산이 번거로운 것</a:t>
            </a:r>
            <a:r>
              <a:rPr lang="ko-KR" altLang="en-US" dirty="0"/>
              <a:t>입니다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ko-KR" altLang="en-US" dirty="0"/>
              <a:t>여행이 끝나고 나면 누가 얼마를 냈는지</a:t>
            </a:r>
            <a:r>
              <a:rPr lang="en-US" altLang="ko-KR" dirty="0"/>
              <a:t>, </a:t>
            </a:r>
            <a:r>
              <a:rPr lang="ko-KR" altLang="en-US" dirty="0"/>
              <a:t>누구에게 얼마를 보내야 하는지 계산기를 두드리거나 엑셀로 정리해야 합니다</a:t>
            </a:r>
            <a:r>
              <a:rPr lang="en-US" altLang="ko-KR" dirty="0"/>
              <a:t>.</a:t>
            </a:r>
          </a:p>
          <a:p>
            <a:r>
              <a:rPr lang="en-US" altLang="ko-KR" dirty="0" err="1"/>
              <a:t>Groutrip</a:t>
            </a:r>
            <a:r>
              <a:rPr lang="ko-KR" altLang="en-US" dirty="0"/>
              <a:t>은 이 세 가지 불편함을 해결하기 위해 시작한 프로젝트입니다</a:t>
            </a:r>
            <a:r>
              <a:rPr lang="en-US" altLang="ko-KR"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 err="1"/>
              <a:t>Groutrip</a:t>
            </a:r>
            <a:r>
              <a:rPr lang="ko-KR" altLang="en-US" dirty="0"/>
              <a:t>의 주요 사용자는 </a:t>
            </a:r>
            <a:r>
              <a:rPr lang="ko-KR" altLang="en-US" dirty="0" err="1"/>
              <a:t>단톡방으로</a:t>
            </a:r>
            <a:r>
              <a:rPr lang="ko-KR" altLang="en-US" dirty="0"/>
              <a:t> 여행을 계획하는 사람들입니다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예를 들어 친구 여행</a:t>
            </a:r>
            <a:r>
              <a:rPr lang="en-US" altLang="ko-KR" dirty="0"/>
              <a:t>, </a:t>
            </a:r>
            <a:r>
              <a:rPr lang="ko-KR" altLang="en-US" dirty="0"/>
              <a:t>가족 여행</a:t>
            </a:r>
            <a:r>
              <a:rPr lang="en-US" altLang="ko-KR" dirty="0"/>
              <a:t>, </a:t>
            </a:r>
            <a:r>
              <a:rPr lang="ko-KR" altLang="en-US" dirty="0"/>
              <a:t>동아리 </a:t>
            </a:r>
            <a:r>
              <a:rPr lang="en-US" altLang="ko-KR" dirty="0"/>
              <a:t>MT, </a:t>
            </a:r>
            <a:r>
              <a:rPr lang="ko-KR" altLang="en-US" dirty="0"/>
              <a:t>회사 워크숍처럼 여러 명이 함께 이동하고 함께 비용을 쓰는 상황입니다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현재는 의견은 </a:t>
            </a:r>
            <a:r>
              <a:rPr lang="ko-KR" altLang="en-US" dirty="0" err="1"/>
              <a:t>단톡방에</a:t>
            </a:r>
            <a:r>
              <a:rPr lang="ko-KR" altLang="en-US" dirty="0"/>
              <a:t> 있고</a:t>
            </a:r>
            <a:r>
              <a:rPr lang="en-US" altLang="ko-KR" dirty="0"/>
              <a:t>, </a:t>
            </a:r>
            <a:r>
              <a:rPr lang="ko-KR" altLang="en-US" dirty="0"/>
              <a:t>일정은 </a:t>
            </a:r>
            <a:r>
              <a:rPr lang="ko-KR" altLang="en-US" dirty="0" err="1"/>
              <a:t>메모앱에</a:t>
            </a:r>
            <a:r>
              <a:rPr lang="ko-KR" altLang="en-US" dirty="0"/>
              <a:t> 있고</a:t>
            </a:r>
            <a:r>
              <a:rPr lang="en-US" altLang="ko-KR" dirty="0"/>
              <a:t>, </a:t>
            </a:r>
            <a:r>
              <a:rPr lang="ko-KR" altLang="en-US" dirty="0"/>
              <a:t>장소는 </a:t>
            </a:r>
            <a:r>
              <a:rPr lang="ko-KR" altLang="en-US" dirty="0" err="1"/>
              <a:t>지도앱에</a:t>
            </a:r>
            <a:r>
              <a:rPr lang="ko-KR" altLang="en-US" dirty="0"/>
              <a:t> 있고</a:t>
            </a:r>
            <a:r>
              <a:rPr lang="en-US" altLang="ko-KR" dirty="0"/>
              <a:t>, </a:t>
            </a:r>
            <a:r>
              <a:rPr lang="ko-KR" altLang="en-US" dirty="0"/>
              <a:t>정산은 엑셀이나 계산기에 따로 있습니다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이처럼 여행 준비에 필요한 정보가 여러 도구에 흩어져 있기 때문에</a:t>
            </a:r>
            <a:r>
              <a:rPr lang="en-US" altLang="ko-KR" dirty="0"/>
              <a:t>, </a:t>
            </a:r>
            <a:r>
              <a:rPr lang="ko-KR" altLang="en-US" dirty="0"/>
              <a:t>중간에 정보가 빠지거나 누가 결정했는지 헷갈리는 문제가 생깁니다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그래서 저희는 이 흩어진 정보들을 </a:t>
            </a:r>
            <a:r>
              <a:rPr lang="en-US" altLang="ko-KR" dirty="0" err="1"/>
              <a:t>Groutrip</a:t>
            </a:r>
            <a:r>
              <a:rPr lang="en-US" altLang="ko-KR" dirty="0"/>
              <a:t> </a:t>
            </a:r>
            <a:r>
              <a:rPr lang="ko-KR" altLang="en-US" dirty="0"/>
              <a:t>한 곳으로 모으는 것을 목표로 했습니다</a:t>
            </a:r>
            <a:r>
              <a:rPr lang="en-US" altLang="ko-KR"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 err="1"/>
              <a:t>Groutrip</a:t>
            </a:r>
            <a:r>
              <a:rPr lang="ko-KR" altLang="en-US" dirty="0"/>
              <a:t>의 차별점은 크게 세 묶음으로 볼 수 있습니다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첫 번째는 </a:t>
            </a:r>
            <a:r>
              <a:rPr lang="ko-KR" altLang="en-US" b="1" dirty="0"/>
              <a:t>다 함께 </a:t>
            </a:r>
            <a:r>
              <a:rPr lang="ko-KR" altLang="en-US" b="1" dirty="0" err="1"/>
              <a:t>의사결정할</a:t>
            </a:r>
            <a:r>
              <a:rPr lang="ko-KR" altLang="en-US" b="1" dirty="0"/>
              <a:t> 수 있다는 점</a:t>
            </a:r>
            <a:r>
              <a:rPr lang="ko-KR" altLang="en-US" dirty="0"/>
              <a:t>입니다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ko-KR" altLang="en-US" dirty="0"/>
              <a:t>여행 장소나 식당 후보를 올리고</a:t>
            </a:r>
            <a:r>
              <a:rPr lang="en-US" altLang="ko-KR" dirty="0"/>
              <a:t>, </a:t>
            </a:r>
            <a:r>
              <a:rPr lang="ko-KR" altLang="en-US" dirty="0"/>
              <a:t>구성원들이 점수로 투표해서 함께 결정할 수 있습니다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ko-KR" altLang="en-US" dirty="0"/>
              <a:t>또 </a:t>
            </a:r>
            <a:r>
              <a:rPr lang="en-US" altLang="ko-KR" dirty="0"/>
              <a:t>SSE</a:t>
            </a:r>
            <a:r>
              <a:rPr lang="ko-KR" altLang="en-US" dirty="0"/>
              <a:t>를 활용해 변경 사항이 실시간으로 반영되도록 했습니다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두 번째는 </a:t>
            </a:r>
            <a:r>
              <a:rPr lang="ko-KR" altLang="en-US" b="1" dirty="0"/>
              <a:t>취향을 고려한다는 점</a:t>
            </a:r>
            <a:r>
              <a:rPr lang="ko-KR" altLang="en-US" dirty="0"/>
              <a:t>입니다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ko-KR" altLang="en-US" dirty="0"/>
              <a:t>사용자가 성향 설문을 하면 그룹의 평균 여행 성향을 확인할 수 있습니다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ko-KR" altLang="en-US" dirty="0"/>
              <a:t>예를 들어 </a:t>
            </a:r>
            <a:r>
              <a:rPr lang="ko-KR" altLang="en-US" dirty="0" err="1"/>
              <a:t>계획형인지</a:t>
            </a:r>
            <a:r>
              <a:rPr lang="ko-KR" altLang="en-US" dirty="0"/>
              <a:t> </a:t>
            </a:r>
            <a:r>
              <a:rPr lang="ko-KR" altLang="en-US" dirty="0" err="1"/>
              <a:t>즉흥형인지</a:t>
            </a:r>
            <a:r>
              <a:rPr lang="en-US" altLang="ko-KR" dirty="0"/>
              <a:t>, </a:t>
            </a:r>
            <a:r>
              <a:rPr lang="ko-KR" altLang="en-US" dirty="0"/>
              <a:t>맛집 중심인지 휴식 중심인지 파악할 수 있습니다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세 번째는 </a:t>
            </a:r>
            <a:r>
              <a:rPr lang="ko-KR" altLang="en-US" b="1" dirty="0"/>
              <a:t>국내 여행에 맞춘 기능</a:t>
            </a:r>
            <a:r>
              <a:rPr lang="ko-KR" altLang="en-US" dirty="0"/>
              <a:t>입니다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en-US" altLang="ko-KR" dirty="0" err="1"/>
              <a:t>TourAPI</a:t>
            </a:r>
            <a:r>
              <a:rPr lang="en-US" altLang="ko-KR" dirty="0"/>
              <a:t>, </a:t>
            </a:r>
            <a:r>
              <a:rPr lang="en-US" altLang="ko-KR" dirty="0" err="1"/>
              <a:t>Kakao</a:t>
            </a:r>
            <a:r>
              <a:rPr lang="en-US" altLang="ko-KR" dirty="0"/>
              <a:t>, Google Places, Gemini </a:t>
            </a:r>
            <a:r>
              <a:rPr lang="ko-KR" altLang="en-US" dirty="0"/>
              <a:t>등을 활용해 국내 장소 추천</a:t>
            </a:r>
            <a:r>
              <a:rPr lang="en-US" altLang="ko-KR" dirty="0"/>
              <a:t>, </a:t>
            </a:r>
            <a:r>
              <a:rPr lang="ko-KR" altLang="en-US" dirty="0"/>
              <a:t>이동 시간 계산</a:t>
            </a:r>
            <a:r>
              <a:rPr lang="en-US" altLang="ko-KR" dirty="0"/>
              <a:t>, </a:t>
            </a:r>
            <a:r>
              <a:rPr lang="ko-KR" altLang="en-US" dirty="0"/>
              <a:t>지도 표시</a:t>
            </a:r>
            <a:r>
              <a:rPr lang="en-US" altLang="ko-KR" dirty="0"/>
              <a:t>, </a:t>
            </a:r>
            <a:r>
              <a:rPr lang="ko-KR" altLang="en-US" dirty="0"/>
              <a:t>리뷰 요약</a:t>
            </a:r>
            <a:r>
              <a:rPr lang="en-US" altLang="ko-KR" dirty="0"/>
              <a:t>, </a:t>
            </a:r>
            <a:r>
              <a:rPr lang="ko-KR" altLang="en-US" dirty="0"/>
              <a:t>한국형 정산 흐름을 지원하도록 구성했습니다</a:t>
            </a:r>
            <a:r>
              <a:rPr lang="en-US" altLang="ko-KR"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 err="1"/>
              <a:t>Groutrip</a:t>
            </a:r>
            <a:r>
              <a:rPr lang="ko-KR" altLang="en-US" dirty="0"/>
              <a:t>의 사용자 여정은 여행 준비의 흐름을 따라갑니다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먼저 사용자는 여행 그룹을 생성하고</a:t>
            </a:r>
            <a:r>
              <a:rPr lang="en-US" altLang="ko-KR" dirty="0"/>
              <a:t>, </a:t>
            </a:r>
            <a:r>
              <a:rPr lang="ko-KR" altLang="en-US" dirty="0"/>
              <a:t>초대코드로 멤버를 초대합니다</a:t>
            </a:r>
            <a:r>
              <a:rPr lang="en-US" altLang="ko-KR" dirty="0"/>
              <a:t>.</a:t>
            </a:r>
          </a:p>
          <a:p>
            <a:r>
              <a:rPr lang="ko-KR" altLang="en-US" dirty="0" err="1"/>
              <a:t>그다음</a:t>
            </a:r>
            <a:r>
              <a:rPr lang="ko-KR" altLang="en-US" dirty="0"/>
              <a:t> 여행 기간과 숙소 같은 기본 계획을 정하고</a:t>
            </a:r>
            <a:r>
              <a:rPr lang="en-US" altLang="ko-KR" dirty="0"/>
              <a:t>, </a:t>
            </a:r>
            <a:r>
              <a:rPr lang="ko-KR" altLang="en-US" dirty="0"/>
              <a:t>가고 싶은 장소를 모읍니다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모은 장소를 바탕으로 </a:t>
            </a:r>
            <a:r>
              <a:rPr lang="ko-KR" altLang="en-US" dirty="0" err="1"/>
              <a:t>일자별</a:t>
            </a:r>
            <a:r>
              <a:rPr lang="ko-KR" altLang="en-US" dirty="0"/>
              <a:t> 일정을 구성하고</a:t>
            </a:r>
            <a:r>
              <a:rPr lang="en-US" altLang="ko-KR" dirty="0"/>
              <a:t>, </a:t>
            </a:r>
            <a:r>
              <a:rPr lang="ko-KR" altLang="en-US" dirty="0"/>
              <a:t>의견이 갈리는 부분은 투표로 결정합니다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여행 중 또는 여행 후에는 지출 내역을 등록하고</a:t>
            </a:r>
            <a:r>
              <a:rPr lang="en-US" altLang="ko-KR" dirty="0"/>
              <a:t>, </a:t>
            </a:r>
            <a:r>
              <a:rPr lang="ko-KR" altLang="en-US" dirty="0"/>
              <a:t>마지막으로 정산까지 진행합니다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즉 </a:t>
            </a:r>
            <a:r>
              <a:rPr lang="en-US" altLang="ko-KR" dirty="0" err="1"/>
              <a:t>Groutrip</a:t>
            </a:r>
            <a:r>
              <a:rPr lang="ko-KR" altLang="en-US" dirty="0"/>
              <a:t>은 여행을 계획하는 순간부터 정산하는 순간까지 이어지는 전체 흐름을 하나의 서비스 안에서 처리하도록 설계했습니다</a:t>
            </a:r>
            <a:r>
              <a:rPr lang="en-US" altLang="ko-KR"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첫 번째 핵심 기능은 </a:t>
            </a:r>
            <a:r>
              <a:rPr lang="ko-KR" altLang="en-US" b="1" dirty="0"/>
              <a:t>그룹과 성향 페르소나</a:t>
            </a:r>
            <a:r>
              <a:rPr lang="ko-KR" altLang="en-US" dirty="0"/>
              <a:t>입니다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사용자는 여행 그룹을 만들고</a:t>
            </a:r>
            <a:r>
              <a:rPr lang="en-US" altLang="ko-KR" dirty="0"/>
              <a:t>, </a:t>
            </a:r>
            <a:r>
              <a:rPr lang="ko-KR" altLang="en-US" dirty="0"/>
              <a:t>초대코드를 통해 다른 사람들을 초대할 수 있습니다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또한 구성원들은 </a:t>
            </a:r>
            <a:r>
              <a:rPr lang="en-US" altLang="ko-KR" dirty="0"/>
              <a:t>5</a:t>
            </a:r>
            <a:r>
              <a:rPr lang="ko-KR" altLang="en-US" dirty="0"/>
              <a:t>차원 성향 설문에 답하게 됩니다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ko-KR" altLang="en-US" dirty="0"/>
              <a:t>예를 들어 </a:t>
            </a:r>
            <a:r>
              <a:rPr lang="ko-KR" altLang="en-US" dirty="0" err="1"/>
              <a:t>계획형인지</a:t>
            </a:r>
            <a:r>
              <a:rPr lang="ko-KR" altLang="en-US" dirty="0"/>
              <a:t> </a:t>
            </a:r>
            <a:r>
              <a:rPr lang="ko-KR" altLang="en-US" dirty="0" err="1"/>
              <a:t>즉흥형인지</a:t>
            </a:r>
            <a:r>
              <a:rPr lang="en-US" altLang="ko-KR" dirty="0"/>
              <a:t>, </a:t>
            </a:r>
            <a:r>
              <a:rPr lang="ko-KR" altLang="en-US" dirty="0"/>
              <a:t>액티비티를 선호하는지 휴식을 선호하는지</a:t>
            </a:r>
            <a:r>
              <a:rPr lang="en-US" altLang="ko-KR" dirty="0"/>
              <a:t>, </a:t>
            </a:r>
            <a:r>
              <a:rPr lang="ko-KR" altLang="en-US" dirty="0"/>
              <a:t>맛집 중심인지 가성비 중심인지 등을 선택합니다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이 응답을 바탕으로 그룹의 평균 성향을 계산하고</a:t>
            </a:r>
            <a:r>
              <a:rPr lang="en-US" altLang="ko-KR" dirty="0"/>
              <a:t>, </a:t>
            </a:r>
            <a:r>
              <a:rPr lang="ko-KR" altLang="en-US" dirty="0"/>
              <a:t>이를 바탕으로 장소들을 추천해줍니다</a:t>
            </a:r>
            <a:r>
              <a:rPr lang="en-US" altLang="ko-KR"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두 번째 기능은 </a:t>
            </a:r>
            <a:r>
              <a:rPr lang="ko-KR" altLang="en-US" b="1" dirty="0"/>
              <a:t>장소 검색과 </a:t>
            </a:r>
            <a:r>
              <a:rPr lang="en-US" altLang="ko-KR" b="1" dirty="0"/>
              <a:t>AI </a:t>
            </a:r>
            <a:r>
              <a:rPr lang="ko-KR" altLang="en-US" b="1" dirty="0"/>
              <a:t>리뷰 요약</a:t>
            </a:r>
            <a:r>
              <a:rPr lang="ko-KR" altLang="en-US" dirty="0"/>
              <a:t>입니다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사용자는 </a:t>
            </a:r>
            <a:r>
              <a:rPr lang="en-US" altLang="ko-KR" dirty="0"/>
              <a:t>Google Places </a:t>
            </a:r>
            <a:r>
              <a:rPr lang="ko-KR" altLang="en-US" dirty="0"/>
              <a:t>기반으로 여행 장소를 검색할 수 있습니다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ko-KR" altLang="en-US" dirty="0"/>
              <a:t>검색한 장소는 맛집</a:t>
            </a:r>
            <a:r>
              <a:rPr lang="en-US" altLang="ko-KR" dirty="0"/>
              <a:t>, </a:t>
            </a:r>
            <a:r>
              <a:rPr lang="ko-KR" altLang="en-US" dirty="0"/>
              <a:t>카페</a:t>
            </a:r>
            <a:r>
              <a:rPr lang="en-US" altLang="ko-KR" dirty="0"/>
              <a:t>, </a:t>
            </a:r>
            <a:r>
              <a:rPr lang="ko-KR" altLang="en-US" dirty="0"/>
              <a:t>관광지처럼 카테고리별로 구분해서 보관할 수 있습니다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여행 장소를 고를 때 리뷰가 많으면 오히려 하나하나 읽기가 어렵습니다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ko-KR" altLang="en-US" dirty="0"/>
              <a:t>그래서 저희는 </a:t>
            </a:r>
            <a:r>
              <a:rPr lang="en-US" altLang="ko-KR" dirty="0"/>
              <a:t>Gemini</a:t>
            </a:r>
            <a:r>
              <a:rPr lang="ko-KR" altLang="en-US" dirty="0"/>
              <a:t>를 활용해 많은 리뷰를 핵심 내용 중심으로 </a:t>
            </a:r>
            <a:r>
              <a:rPr lang="en-US" altLang="ko-KR" dirty="0"/>
              <a:t>3</a:t>
            </a:r>
            <a:r>
              <a:rPr lang="ko-KR" altLang="en-US" dirty="0"/>
              <a:t>줄 요약하도록 구성했습니다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예를 들어 대표 메뉴</a:t>
            </a:r>
            <a:r>
              <a:rPr lang="en-US" altLang="ko-KR" dirty="0"/>
              <a:t>, </a:t>
            </a:r>
            <a:r>
              <a:rPr lang="ko-KR" altLang="en-US" dirty="0"/>
              <a:t>방문하기 좋은 시간</a:t>
            </a:r>
            <a:r>
              <a:rPr lang="en-US" altLang="ko-KR" dirty="0"/>
              <a:t>, </a:t>
            </a:r>
            <a:r>
              <a:rPr lang="ko-KR" altLang="en-US" dirty="0"/>
              <a:t>주차나 대기 같은 주의사항을 짧게 보여줍니다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이를 통해 사용자는 리뷰 전체를 읽지 않아도 장소의 장단점을 빠르게 판단할 수 있습니다</a:t>
            </a:r>
            <a:r>
              <a:rPr lang="en-US" altLang="ko-KR"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세 번째 기능은 </a:t>
            </a:r>
            <a:r>
              <a:rPr lang="ko-KR" altLang="en-US" b="1" dirty="0"/>
              <a:t>일정 </a:t>
            </a:r>
            <a:r>
              <a:rPr lang="ko-KR" altLang="en-US" b="1" dirty="0" err="1"/>
              <a:t>빌더와</a:t>
            </a:r>
            <a:r>
              <a:rPr lang="ko-KR" altLang="en-US" b="1" dirty="0"/>
              <a:t> 일정 지도</a:t>
            </a:r>
            <a:r>
              <a:rPr lang="ko-KR" altLang="en-US" dirty="0"/>
              <a:t>입니다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사용자는 저장해둔 장소를 </a:t>
            </a:r>
            <a:r>
              <a:rPr lang="ko-KR" altLang="en-US" dirty="0" err="1"/>
              <a:t>일자별</a:t>
            </a:r>
            <a:r>
              <a:rPr lang="ko-KR" altLang="en-US" dirty="0"/>
              <a:t> 타임라인에 배치할 수 있습니다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예를 들어 오전 </a:t>
            </a:r>
            <a:r>
              <a:rPr lang="en-US" altLang="ko-KR" dirty="0"/>
              <a:t>9</a:t>
            </a:r>
            <a:r>
              <a:rPr lang="ko-KR" altLang="en-US" dirty="0"/>
              <a:t>시에 성심당</a:t>
            </a:r>
            <a:r>
              <a:rPr lang="en-US" altLang="ko-KR" dirty="0"/>
              <a:t>, 12</a:t>
            </a:r>
            <a:r>
              <a:rPr lang="ko-KR" altLang="en-US" dirty="0"/>
              <a:t>시에 안목해변</a:t>
            </a:r>
            <a:r>
              <a:rPr lang="en-US" altLang="ko-KR" dirty="0"/>
              <a:t>, 2</a:t>
            </a:r>
            <a:r>
              <a:rPr lang="ko-KR" altLang="en-US" dirty="0"/>
              <a:t>시 </a:t>
            </a:r>
            <a:r>
              <a:rPr lang="en-US" altLang="ko-KR" dirty="0"/>
              <a:t>30</a:t>
            </a:r>
            <a:r>
              <a:rPr lang="ko-KR" altLang="en-US" dirty="0"/>
              <a:t>분에 오죽헌처럼 하루 일정을 순서대로 구성할 수 있습니다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장소 사이의 이동 시간과 비용은 </a:t>
            </a:r>
            <a:r>
              <a:rPr lang="en-US" altLang="ko-KR" dirty="0" err="1"/>
              <a:t>Kakao</a:t>
            </a:r>
            <a:r>
              <a:rPr lang="en-US" altLang="ko-KR" dirty="0"/>
              <a:t> API</a:t>
            </a:r>
            <a:r>
              <a:rPr lang="ko-KR" altLang="en-US" dirty="0"/>
              <a:t>를 활용해 계산하도록 설계했습니다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또한 </a:t>
            </a:r>
            <a:r>
              <a:rPr lang="ko-KR" altLang="en-US" dirty="0" err="1"/>
              <a:t>일자별</a:t>
            </a:r>
            <a:r>
              <a:rPr lang="ko-KR" altLang="en-US" dirty="0"/>
              <a:t> 장소를 지도에 핀으로 표시해서</a:t>
            </a:r>
            <a:r>
              <a:rPr lang="en-US" altLang="ko-KR" dirty="0"/>
              <a:t>, </a:t>
            </a:r>
            <a:r>
              <a:rPr lang="ko-KR" altLang="en-US" dirty="0"/>
              <a:t>하루 동선이 너무 멀지는 </a:t>
            </a:r>
            <a:r>
              <a:rPr lang="ko-KR" altLang="en-US" dirty="0" err="1"/>
              <a:t>않은지</a:t>
            </a:r>
            <a:r>
              <a:rPr lang="ko-KR" altLang="en-US" dirty="0"/>
              <a:t> 시각적으로 확인할 수 있습니다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즉 단순히 장소 목록만 보여주는 것이 아니라</a:t>
            </a:r>
            <a:r>
              <a:rPr lang="en-US" altLang="ko-KR" dirty="0"/>
              <a:t>, </a:t>
            </a:r>
            <a:r>
              <a:rPr lang="ko-KR" altLang="en-US" dirty="0"/>
              <a:t>실제 이동 가능한 여행 일정으로 정리해주는 기능입니다</a:t>
            </a:r>
            <a:r>
              <a:rPr lang="en-US" altLang="ko-KR"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134410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네 번째 기능은 </a:t>
            </a:r>
            <a:r>
              <a:rPr lang="ko-KR" altLang="en-US" b="1" dirty="0"/>
              <a:t>투표로 함께 </a:t>
            </a:r>
            <a:r>
              <a:rPr lang="ko-KR" altLang="en-US" b="1" dirty="0" err="1"/>
              <a:t>정하기</a:t>
            </a:r>
            <a:r>
              <a:rPr lang="ko-KR" altLang="en-US" dirty="0" err="1"/>
              <a:t>입니다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그룹 여행에서는 의견이 갈리는 상황이 자주 생깁니다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ko-KR" altLang="en-US" dirty="0"/>
              <a:t>예를 들어 점심을 어디서 먹을지</a:t>
            </a:r>
            <a:r>
              <a:rPr lang="en-US" altLang="ko-KR" dirty="0"/>
              <a:t>, </a:t>
            </a:r>
            <a:r>
              <a:rPr lang="ko-KR" altLang="en-US" dirty="0"/>
              <a:t>어떤 장소를 먼저 갈지 같은 문제입니다</a:t>
            </a:r>
            <a:r>
              <a:rPr lang="en-US" altLang="ko-KR" dirty="0"/>
              <a:t>.</a:t>
            </a:r>
          </a:p>
          <a:p>
            <a:r>
              <a:rPr lang="en-US" altLang="ko-KR" dirty="0" err="1"/>
              <a:t>Groutrip</a:t>
            </a:r>
            <a:r>
              <a:rPr lang="ko-KR" altLang="en-US" dirty="0"/>
              <a:t>에서는 후보를 등록하고</a:t>
            </a:r>
            <a:r>
              <a:rPr lang="en-US" altLang="ko-KR" dirty="0"/>
              <a:t>, </a:t>
            </a:r>
            <a:r>
              <a:rPr lang="ko-KR" altLang="en-US" dirty="0"/>
              <a:t>그룹원들이 각 후보에 점수를 주는 방식으로 투표할 수 있습니다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투표 결과는 실시간으로 반영되며</a:t>
            </a:r>
            <a:r>
              <a:rPr lang="en-US" altLang="ko-KR" dirty="0"/>
              <a:t>, </a:t>
            </a:r>
            <a:r>
              <a:rPr lang="ko-KR" altLang="en-US" dirty="0"/>
              <a:t>가장 높은 점수를 받은 후보가 선택됩니다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동점이 발생할 경우에는 먼저 등록된 후보를 우선으로 처리하고</a:t>
            </a:r>
            <a:r>
              <a:rPr lang="en-US" altLang="ko-KR" dirty="0"/>
              <a:t>, </a:t>
            </a:r>
            <a:r>
              <a:rPr lang="ko-KR" altLang="en-US" dirty="0"/>
              <a:t>필요하면 </a:t>
            </a:r>
            <a:r>
              <a:rPr lang="en-US" altLang="ko-KR" dirty="0"/>
              <a:t>Owner</a:t>
            </a:r>
            <a:r>
              <a:rPr lang="ko-KR" altLang="en-US" dirty="0"/>
              <a:t>가 수동으로 확정할 수 있게 했습니다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이 기능을 통해 </a:t>
            </a:r>
            <a:r>
              <a:rPr lang="ko-KR" altLang="en-US" dirty="0" err="1"/>
              <a:t>단톡방에서</a:t>
            </a:r>
            <a:r>
              <a:rPr lang="ko-KR" altLang="en-US" dirty="0"/>
              <a:t> 계속 의견을 주고받는 시간을 줄이고</a:t>
            </a:r>
            <a:r>
              <a:rPr lang="en-US" altLang="ko-KR" dirty="0"/>
              <a:t>, </a:t>
            </a:r>
            <a:r>
              <a:rPr lang="ko-KR" altLang="en-US" dirty="0"/>
              <a:t>결정 과정을 명확하게 만들 수 있습니다</a:t>
            </a:r>
            <a:r>
              <a:rPr lang="en-US" altLang="ko-KR"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다섯 번째 기능은 </a:t>
            </a:r>
            <a:r>
              <a:rPr lang="ko-KR" altLang="en-US" b="1" dirty="0"/>
              <a:t>정산과 송금</a:t>
            </a:r>
            <a:r>
              <a:rPr lang="ko-KR" altLang="en-US" dirty="0"/>
              <a:t>입니다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여행에서는 한 사람이 숙소를 결제하고</a:t>
            </a:r>
            <a:r>
              <a:rPr lang="en-US" altLang="ko-KR" dirty="0"/>
              <a:t>, </a:t>
            </a:r>
            <a:r>
              <a:rPr lang="ko-KR" altLang="en-US" dirty="0"/>
              <a:t>다른 사람이 식비를 내는 식으로 지출이 섞이는 경우가 많습니다</a:t>
            </a:r>
            <a:r>
              <a:rPr lang="en-US" altLang="ko-KR" dirty="0"/>
              <a:t>.</a:t>
            </a:r>
          </a:p>
          <a:p>
            <a:r>
              <a:rPr lang="en-US" altLang="ko-KR" dirty="0" err="1"/>
              <a:t>Groutrip</a:t>
            </a:r>
            <a:r>
              <a:rPr lang="ko-KR" altLang="en-US" dirty="0"/>
              <a:t>에서는 총 지출액과 참여 인원을 기준으로 각자의 부담 금액을 계산합니다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그리고 단순히 모든 사람에게 각각 보내게 하는 것이 아니라</a:t>
            </a:r>
            <a:r>
              <a:rPr lang="en-US" altLang="ko-KR" dirty="0"/>
              <a:t>, </a:t>
            </a:r>
            <a:r>
              <a:rPr lang="ko-KR" altLang="en-US" dirty="0"/>
              <a:t>최소 송금 방식으로 누가 누구에게 얼마를 보내면 되는지 계산합니다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예를 들어 </a:t>
            </a:r>
            <a:r>
              <a:rPr lang="en-US" altLang="ko-KR" dirty="0"/>
              <a:t>10</a:t>
            </a:r>
            <a:r>
              <a:rPr lang="ko-KR" altLang="en-US" dirty="0"/>
              <a:t>건의 송금이 필요할 상황을 </a:t>
            </a:r>
            <a:r>
              <a:rPr lang="en-US" altLang="ko-KR" dirty="0"/>
              <a:t>3</a:t>
            </a:r>
            <a:r>
              <a:rPr lang="ko-KR" altLang="en-US" dirty="0"/>
              <a:t>건으로 줄여서</a:t>
            </a:r>
            <a:r>
              <a:rPr lang="en-US" altLang="ko-KR" dirty="0"/>
              <a:t>, </a:t>
            </a:r>
            <a:r>
              <a:rPr lang="ko-KR" altLang="en-US" dirty="0"/>
              <a:t>정산 과정을 더 간단하게 만들 수 있습니다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또한 토스</a:t>
            </a:r>
            <a:r>
              <a:rPr lang="en-US" altLang="ko-KR" dirty="0"/>
              <a:t>, </a:t>
            </a:r>
            <a:r>
              <a:rPr lang="ko-KR" altLang="en-US" dirty="0"/>
              <a:t>카카오페이 </a:t>
            </a:r>
            <a:r>
              <a:rPr lang="ko-KR" altLang="en-US" dirty="0" err="1"/>
              <a:t>딥링크나</a:t>
            </a:r>
            <a:r>
              <a:rPr lang="ko-KR" altLang="en-US" dirty="0"/>
              <a:t> 계좌 안내를 통해 실제 송금으로 이어질 수 있도록 구성했습니다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정산 시작은 </a:t>
            </a:r>
            <a:r>
              <a:rPr lang="en-US" altLang="ko-KR" dirty="0"/>
              <a:t>Owner</a:t>
            </a:r>
            <a:r>
              <a:rPr lang="ko-KR" altLang="en-US" dirty="0"/>
              <a:t>만 할 수 있게 해서</a:t>
            </a:r>
            <a:r>
              <a:rPr lang="en-US" altLang="ko-KR" dirty="0"/>
              <a:t>, </a:t>
            </a:r>
            <a:r>
              <a:rPr lang="ko-KR" altLang="en-US" dirty="0"/>
              <a:t>그룹 내 권한도 함께 고려했습니다</a:t>
            </a:r>
            <a:r>
              <a:rPr lang="en-US" altLang="ko-KR"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앞에서 설명한 일정</a:t>
            </a:r>
            <a:r>
              <a:rPr lang="en-US" altLang="ko-KR" dirty="0"/>
              <a:t>, </a:t>
            </a:r>
            <a:r>
              <a:rPr lang="ko-KR" altLang="en-US" dirty="0"/>
              <a:t>투표</a:t>
            </a:r>
            <a:r>
              <a:rPr lang="en-US" altLang="ko-KR" dirty="0"/>
              <a:t>, </a:t>
            </a:r>
            <a:r>
              <a:rPr lang="ko-KR" altLang="en-US" dirty="0"/>
              <a:t>정산 기능은 모두 여러 명이 함께 사용하는 기능입니다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그래서 중요한 것이 </a:t>
            </a:r>
            <a:r>
              <a:rPr lang="ko-KR" altLang="en-US" b="1" dirty="0"/>
              <a:t>실시간 동기화</a:t>
            </a:r>
            <a:r>
              <a:rPr lang="ko-KR" altLang="en-US" dirty="0"/>
              <a:t>입니다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한 명이 일정을 변경하거나 투표를 하거나 정산 상태를 바꾸면</a:t>
            </a:r>
            <a:r>
              <a:rPr lang="en-US" altLang="ko-KR" dirty="0"/>
              <a:t>, </a:t>
            </a:r>
            <a:r>
              <a:rPr lang="ko-KR" altLang="en-US" dirty="0"/>
              <a:t>다른 구성원들도 같은 변경 사항을 바로 확인할 수 있어야 합니다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저희는 이를 위해 </a:t>
            </a:r>
            <a:r>
              <a:rPr lang="en-US" altLang="ko-KR" dirty="0"/>
              <a:t>SSE, </a:t>
            </a:r>
            <a:r>
              <a:rPr lang="ko-KR" altLang="en-US" dirty="0"/>
              <a:t>즉 </a:t>
            </a:r>
            <a:r>
              <a:rPr lang="en-US" altLang="ko-KR" dirty="0"/>
              <a:t>Server-Sent Events</a:t>
            </a:r>
            <a:r>
              <a:rPr lang="ko-KR" altLang="en-US" dirty="0"/>
              <a:t>를 사용했습니다</a:t>
            </a:r>
            <a:r>
              <a:rPr lang="en-US" altLang="ko-KR" dirty="0"/>
              <a:t>.</a:t>
            </a:r>
          </a:p>
          <a:p>
            <a:r>
              <a:rPr lang="en-US" altLang="ko-KR" dirty="0"/>
              <a:t>SSE</a:t>
            </a:r>
            <a:r>
              <a:rPr lang="ko-KR" altLang="en-US" dirty="0"/>
              <a:t>는 서버에서 클라이언트로 변경 사항을 실시간으로 전달하는 방식입니다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채팅처럼 완전한 양방향 통신이 필요한 상황보다는</a:t>
            </a:r>
            <a:r>
              <a:rPr lang="en-US" altLang="ko-KR" dirty="0"/>
              <a:t>, </a:t>
            </a:r>
            <a:r>
              <a:rPr lang="ko-KR" altLang="en-US" dirty="0"/>
              <a:t>일정 변경이나 투표 결과처럼 서버의 변경 사항을 여러 사용자에게 알려주는 데 적합하다고 판단했습니다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이를 통해 </a:t>
            </a:r>
            <a:r>
              <a:rPr lang="ko-KR" altLang="en-US" dirty="0" err="1"/>
              <a:t>새로고침</a:t>
            </a:r>
            <a:r>
              <a:rPr lang="ko-KR" altLang="en-US" dirty="0"/>
              <a:t> 없이도 그룹원들이 같은 여행 정보를 볼 수 있도록 했습니다</a:t>
            </a:r>
            <a:r>
              <a:rPr lang="en-US" altLang="ko-KR"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다음은 시스템 구조입니다</a:t>
            </a:r>
            <a:r>
              <a:rPr lang="en-US" altLang="ko-KR" dirty="0"/>
              <a:t>.</a:t>
            </a:r>
          </a:p>
          <a:p>
            <a:r>
              <a:rPr lang="ko-KR" altLang="en-US" dirty="0" err="1"/>
              <a:t>프론트엔드는</a:t>
            </a:r>
            <a:r>
              <a:rPr lang="ko-KR" altLang="en-US" dirty="0"/>
              <a:t> </a:t>
            </a:r>
            <a:r>
              <a:rPr lang="en-US" altLang="ko-KR" dirty="0"/>
              <a:t>Vue.js</a:t>
            </a:r>
            <a:r>
              <a:rPr lang="ko-KR" altLang="en-US" dirty="0"/>
              <a:t>를 사용했고</a:t>
            </a:r>
            <a:r>
              <a:rPr lang="en-US" altLang="ko-KR" dirty="0"/>
              <a:t>, </a:t>
            </a:r>
            <a:r>
              <a:rPr lang="ko-KR" altLang="en-US" dirty="0" err="1"/>
              <a:t>백엔드는</a:t>
            </a:r>
            <a:r>
              <a:rPr lang="ko-KR" altLang="en-US" dirty="0"/>
              <a:t> </a:t>
            </a:r>
            <a:r>
              <a:rPr lang="en-US" altLang="ko-KR" dirty="0"/>
              <a:t>Spring Boot</a:t>
            </a:r>
            <a:r>
              <a:rPr lang="ko-KR" altLang="en-US" dirty="0"/>
              <a:t>와 </a:t>
            </a:r>
            <a:r>
              <a:rPr lang="en-US" altLang="ko-KR" dirty="0"/>
              <a:t>Java </a:t>
            </a:r>
            <a:r>
              <a:rPr lang="ko-KR" altLang="en-US" dirty="0"/>
              <a:t>기반으로 구성했습니다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ko-KR" altLang="en-US" dirty="0"/>
              <a:t>데이터베이스는 </a:t>
            </a:r>
            <a:r>
              <a:rPr lang="en-US" altLang="ko-KR" dirty="0"/>
              <a:t>PostgreSQL</a:t>
            </a:r>
            <a:r>
              <a:rPr lang="ko-KR" altLang="en-US" dirty="0"/>
              <a:t>을 사용했으며</a:t>
            </a:r>
            <a:r>
              <a:rPr lang="en-US" altLang="ko-KR" dirty="0"/>
              <a:t>, JPA</a:t>
            </a:r>
            <a:r>
              <a:rPr lang="ko-KR" altLang="en-US" dirty="0"/>
              <a:t>를 통해 데이터를 관리했습니다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서비스는 </a:t>
            </a:r>
            <a:r>
              <a:rPr lang="en-US" altLang="ko-KR" dirty="0"/>
              <a:t>REST API</a:t>
            </a:r>
            <a:r>
              <a:rPr lang="ko-KR" altLang="en-US" dirty="0"/>
              <a:t>를 통해 기본 데이터를 주고받고</a:t>
            </a:r>
            <a:r>
              <a:rPr lang="en-US" altLang="ko-KR" dirty="0"/>
              <a:t>, </a:t>
            </a:r>
            <a:r>
              <a:rPr lang="ko-KR" altLang="en-US" dirty="0"/>
              <a:t>실시간 변경 사항은 </a:t>
            </a:r>
            <a:r>
              <a:rPr lang="en-US" altLang="ko-KR" dirty="0"/>
              <a:t>SSE</a:t>
            </a:r>
            <a:r>
              <a:rPr lang="ko-KR" altLang="en-US" dirty="0"/>
              <a:t>를 통해 전달합니다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외부 </a:t>
            </a:r>
            <a:r>
              <a:rPr lang="en-US" altLang="ko-KR" dirty="0"/>
              <a:t>API</a:t>
            </a:r>
            <a:r>
              <a:rPr lang="ko-KR" altLang="en-US" dirty="0"/>
              <a:t>는 역할을 나누어 사용했습니다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장소 검색과 장소 정보</a:t>
            </a:r>
            <a:r>
              <a:rPr lang="en-US" altLang="ko-KR" dirty="0"/>
              <a:t>, </a:t>
            </a:r>
            <a:r>
              <a:rPr lang="ko-KR" altLang="en-US" dirty="0"/>
              <a:t>사진은 </a:t>
            </a:r>
            <a:r>
              <a:rPr lang="en-US" altLang="ko-KR" dirty="0"/>
              <a:t>Google Places</a:t>
            </a:r>
            <a:r>
              <a:rPr lang="ko-KR" altLang="en-US" dirty="0"/>
              <a:t>를 사용했습니다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ko-KR" altLang="en-US" dirty="0"/>
              <a:t>이동 시간</a:t>
            </a:r>
            <a:r>
              <a:rPr lang="en-US" altLang="ko-KR" dirty="0"/>
              <a:t>, </a:t>
            </a:r>
            <a:r>
              <a:rPr lang="ko-KR" altLang="en-US" dirty="0"/>
              <a:t>이동 비용</a:t>
            </a:r>
            <a:r>
              <a:rPr lang="en-US" altLang="ko-KR" dirty="0"/>
              <a:t>, </a:t>
            </a:r>
            <a:r>
              <a:rPr lang="ko-KR" altLang="en-US" dirty="0"/>
              <a:t>지도 표시는 </a:t>
            </a:r>
            <a:r>
              <a:rPr lang="en-US" altLang="ko-KR" dirty="0" err="1"/>
              <a:t>Kakao</a:t>
            </a:r>
            <a:r>
              <a:rPr lang="en-US" altLang="ko-KR" dirty="0"/>
              <a:t> API</a:t>
            </a:r>
            <a:r>
              <a:rPr lang="ko-KR" altLang="en-US" dirty="0"/>
              <a:t>를 활용했습니다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ko-KR" altLang="en-US" dirty="0"/>
              <a:t>국내 관광지 추천은 </a:t>
            </a:r>
            <a:r>
              <a:rPr lang="en-US" altLang="ko-KR" dirty="0" err="1"/>
              <a:t>TourAPI</a:t>
            </a:r>
            <a:r>
              <a:rPr lang="ko-KR" altLang="en-US" dirty="0"/>
              <a:t>를 활용했고</a:t>
            </a:r>
            <a:r>
              <a:rPr lang="en-US" altLang="ko-KR" dirty="0"/>
              <a:t>, </a:t>
            </a:r>
            <a:r>
              <a:rPr lang="ko-KR" altLang="en-US" dirty="0"/>
              <a:t>리뷰 요약은 </a:t>
            </a:r>
            <a:r>
              <a:rPr lang="en-US" altLang="ko-KR" dirty="0"/>
              <a:t>Gemini</a:t>
            </a:r>
            <a:r>
              <a:rPr lang="ko-KR" altLang="en-US" dirty="0"/>
              <a:t>를 사용했습니다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즉 하나의 </a:t>
            </a:r>
            <a:r>
              <a:rPr lang="en-US" altLang="ko-KR" dirty="0"/>
              <a:t>API</a:t>
            </a:r>
            <a:r>
              <a:rPr lang="ko-KR" altLang="en-US" dirty="0"/>
              <a:t>에 모든 기능을 의존하기보다</a:t>
            </a:r>
            <a:r>
              <a:rPr lang="en-US" altLang="ko-KR" dirty="0"/>
              <a:t>, </a:t>
            </a:r>
            <a:r>
              <a:rPr lang="ko-KR" altLang="en-US" dirty="0"/>
              <a:t>각 </a:t>
            </a:r>
            <a:r>
              <a:rPr lang="en-US" altLang="ko-KR" dirty="0"/>
              <a:t>API</a:t>
            </a:r>
            <a:r>
              <a:rPr lang="ko-KR" altLang="en-US" dirty="0"/>
              <a:t>가 잘하는 역할에 맞게 분리해 연동했습니다</a:t>
            </a:r>
            <a:r>
              <a:rPr lang="en-US" altLang="ko-KR"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기술 스택과 보안입니다</a:t>
            </a:r>
            <a:r>
              <a:rPr lang="en-US" altLang="ko-KR" dirty="0"/>
              <a:t>.</a:t>
            </a:r>
          </a:p>
          <a:p>
            <a:r>
              <a:rPr lang="ko-KR" altLang="en-US" dirty="0" err="1"/>
              <a:t>백엔드는</a:t>
            </a:r>
            <a:r>
              <a:rPr lang="ko-KR" altLang="en-US" dirty="0"/>
              <a:t> </a:t>
            </a:r>
            <a:r>
              <a:rPr lang="en-US" altLang="ko-KR" dirty="0"/>
              <a:t>Spring Boot, Java 21, Spring Data JPA</a:t>
            </a:r>
            <a:r>
              <a:rPr lang="ko-KR" altLang="en-US" dirty="0"/>
              <a:t>를 사용했고</a:t>
            </a:r>
            <a:r>
              <a:rPr lang="en-US" altLang="ko-KR" dirty="0"/>
              <a:t>, </a:t>
            </a:r>
            <a:r>
              <a:rPr lang="ko-KR" altLang="en-US" dirty="0"/>
              <a:t>데이터베이스는 </a:t>
            </a:r>
            <a:r>
              <a:rPr lang="en-US" altLang="ko-KR" dirty="0"/>
              <a:t>PostgreSQL</a:t>
            </a:r>
            <a:r>
              <a:rPr lang="ko-KR" altLang="en-US" dirty="0"/>
              <a:t>을 사용했습니다</a:t>
            </a:r>
            <a:r>
              <a:rPr lang="en-US" altLang="ko-KR" dirty="0"/>
              <a:t>.</a:t>
            </a:r>
          </a:p>
          <a:p>
            <a:r>
              <a:rPr lang="ko-KR" altLang="en-US" dirty="0" err="1"/>
              <a:t>프론트엔드는</a:t>
            </a:r>
            <a:r>
              <a:rPr lang="ko-KR" altLang="en-US" dirty="0"/>
              <a:t> </a:t>
            </a:r>
            <a:r>
              <a:rPr lang="en-US" altLang="ko-KR" dirty="0"/>
              <a:t>Vue.js</a:t>
            </a:r>
            <a:r>
              <a:rPr lang="ko-KR" altLang="en-US" dirty="0"/>
              <a:t>를 사용했습니다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인프라와 데이터 관리 측면에서는 </a:t>
            </a:r>
            <a:r>
              <a:rPr lang="en-US" altLang="ko-KR" dirty="0"/>
              <a:t>Docker</a:t>
            </a:r>
            <a:r>
              <a:rPr lang="ko-KR" altLang="en-US" dirty="0"/>
              <a:t>를 활용해 실행 환경을 구성했고</a:t>
            </a:r>
            <a:r>
              <a:rPr lang="en-US" altLang="ko-KR" dirty="0"/>
              <a:t>, Flyway</a:t>
            </a:r>
            <a:r>
              <a:rPr lang="ko-KR" altLang="en-US" dirty="0"/>
              <a:t>를 통해 데이터베이스 스키마 변경 이력을 관리했습니다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보안 측면에서는 </a:t>
            </a:r>
            <a:r>
              <a:rPr lang="en-US" altLang="ko-KR" dirty="0"/>
              <a:t>JWT</a:t>
            </a:r>
            <a:r>
              <a:rPr lang="ko-KR" altLang="en-US" dirty="0"/>
              <a:t>와 </a:t>
            </a:r>
            <a:r>
              <a:rPr lang="en-US" altLang="ko-KR" dirty="0"/>
              <a:t>OAuth2</a:t>
            </a:r>
            <a:r>
              <a:rPr lang="ko-KR" altLang="en-US" dirty="0"/>
              <a:t>를 활용해 인증 흐름을 구성했습니다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또한 그룹마다 </a:t>
            </a:r>
            <a:r>
              <a:rPr lang="en-US" altLang="ko-KR" dirty="0"/>
              <a:t>Owner</a:t>
            </a:r>
            <a:r>
              <a:rPr lang="ko-KR" altLang="en-US" dirty="0"/>
              <a:t>와 일반 멤버의 권한이 다르기 때문에</a:t>
            </a:r>
            <a:r>
              <a:rPr lang="en-US" altLang="ko-KR" dirty="0"/>
              <a:t>, </a:t>
            </a:r>
            <a:r>
              <a:rPr lang="ko-KR" altLang="en-US" dirty="0"/>
              <a:t>권한 검증 로직을 </a:t>
            </a:r>
            <a:r>
              <a:rPr lang="en-US" altLang="ko-KR" dirty="0"/>
              <a:t>AOP</a:t>
            </a:r>
            <a:r>
              <a:rPr lang="ko-KR" altLang="en-US" dirty="0"/>
              <a:t>로 분리했습니다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ko-KR" altLang="en-US" dirty="0"/>
              <a:t>이를 통해 컨트롤러나 서비스마다 반복적으로 권한 체크 코드를 작성하지 않고</a:t>
            </a:r>
            <a:r>
              <a:rPr lang="en-US" altLang="ko-KR" dirty="0"/>
              <a:t>, </a:t>
            </a:r>
            <a:r>
              <a:rPr lang="ko-KR" altLang="en-US" dirty="0"/>
              <a:t>공통 관심사로 관리할 수 있었습니다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정산 기능에서는 계좌번호와 같은 민감한 정보가 포함될 수 있기 때문에</a:t>
            </a:r>
            <a:r>
              <a:rPr lang="en-US" altLang="ko-KR" dirty="0"/>
              <a:t>, AES-GCM </a:t>
            </a:r>
            <a:r>
              <a:rPr lang="ko-KR" altLang="en-US" dirty="0"/>
              <a:t>방식으로 암호화해 저장하도록 설계했습니다</a:t>
            </a:r>
            <a:r>
              <a:rPr lang="en-US" altLang="ko-KR"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마지막으로 회고와 향후 계획입니다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저희 팀은 </a:t>
            </a:r>
            <a:r>
              <a:rPr lang="ko-KR" altLang="en-US" dirty="0" err="1"/>
              <a:t>백엔드와</a:t>
            </a:r>
            <a:r>
              <a:rPr lang="ko-KR" altLang="en-US" dirty="0"/>
              <a:t> 프론트를 완전히 나누기보다는</a:t>
            </a:r>
            <a:r>
              <a:rPr lang="en-US" altLang="ko-KR" dirty="0"/>
              <a:t>, </a:t>
            </a:r>
            <a:r>
              <a:rPr lang="ko-KR" altLang="en-US" dirty="0"/>
              <a:t>학습을 위해서</a:t>
            </a:r>
            <a:r>
              <a:rPr lang="en-US" altLang="ko-KR" dirty="0"/>
              <a:t> </a:t>
            </a:r>
            <a:r>
              <a:rPr lang="ko-KR" altLang="en-US" dirty="0"/>
              <a:t>도메인 단위로 역할을 나누어 개발했습니다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저는 그룹</a:t>
            </a:r>
            <a:r>
              <a:rPr lang="en-US" altLang="ko-KR" dirty="0"/>
              <a:t>, </a:t>
            </a:r>
            <a:r>
              <a:rPr lang="ko-KR" altLang="en-US" dirty="0"/>
              <a:t>일정</a:t>
            </a:r>
            <a:r>
              <a:rPr lang="en-US" altLang="ko-KR" dirty="0"/>
              <a:t>, </a:t>
            </a:r>
            <a:r>
              <a:rPr lang="ko-KR" altLang="en-US" dirty="0"/>
              <a:t>실시간 동기화 기능을 중심으로 담당했고</a:t>
            </a:r>
            <a:r>
              <a:rPr lang="en-US" altLang="ko-KR" dirty="0"/>
              <a:t>,</a:t>
            </a:r>
            <a:br>
              <a:rPr lang="en-US" altLang="ko-KR" dirty="0"/>
            </a:br>
            <a:r>
              <a:rPr lang="ko-KR" altLang="en-US" dirty="0"/>
              <a:t>정희성은 장소</a:t>
            </a:r>
            <a:r>
              <a:rPr lang="en-US" altLang="ko-KR" dirty="0"/>
              <a:t>, </a:t>
            </a:r>
            <a:r>
              <a:rPr lang="ko-KR" altLang="en-US" dirty="0"/>
              <a:t>투표</a:t>
            </a:r>
            <a:r>
              <a:rPr lang="en-US" altLang="ko-KR" dirty="0"/>
              <a:t>, </a:t>
            </a:r>
            <a:r>
              <a:rPr lang="ko-KR" altLang="en-US" dirty="0"/>
              <a:t>정산</a:t>
            </a:r>
            <a:r>
              <a:rPr lang="en-US" altLang="ko-KR" dirty="0"/>
              <a:t>, </a:t>
            </a:r>
            <a:r>
              <a:rPr lang="ko-KR" altLang="en-US" dirty="0"/>
              <a:t>페르소나 기능을 중심으로 담당했습니다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이 방식은 기능 단위로 책임을 나눌 수 있어서 충돌을 줄이는 데 도움이 되었습니다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이번 프로젝트를 통해 </a:t>
            </a:r>
            <a:r>
              <a:rPr lang="en-US" altLang="ko-KR" dirty="0"/>
              <a:t>SSE </a:t>
            </a:r>
            <a:r>
              <a:rPr lang="ko-KR" altLang="en-US" dirty="0"/>
              <a:t>기반 실시간 설계</a:t>
            </a:r>
            <a:r>
              <a:rPr lang="en-US" altLang="ko-KR" dirty="0"/>
              <a:t>, </a:t>
            </a:r>
            <a:r>
              <a:rPr lang="ko-KR" altLang="en-US" dirty="0"/>
              <a:t>외부 </a:t>
            </a:r>
            <a:r>
              <a:rPr lang="en-US" altLang="ko-KR" dirty="0"/>
              <a:t>API </a:t>
            </a:r>
            <a:r>
              <a:rPr lang="ko-KR" altLang="en-US" dirty="0"/>
              <a:t>통합</a:t>
            </a:r>
            <a:r>
              <a:rPr lang="en-US" altLang="ko-KR" dirty="0"/>
              <a:t>, </a:t>
            </a:r>
            <a:r>
              <a:rPr lang="ko-KR" altLang="en-US" dirty="0"/>
              <a:t>그리고 도메인 단위 협업 방식을 경험할 수 있었습니다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향후에는 해외 여행 지원</a:t>
            </a:r>
            <a:r>
              <a:rPr lang="en-US" altLang="ko-KR" dirty="0"/>
              <a:t>, AI </a:t>
            </a:r>
            <a:r>
              <a:rPr lang="ko-KR" altLang="en-US" dirty="0"/>
              <a:t>코스 추천 고도화</a:t>
            </a:r>
            <a:r>
              <a:rPr lang="en-US" altLang="ko-KR" dirty="0"/>
              <a:t>, </a:t>
            </a:r>
            <a:r>
              <a:rPr lang="ko-KR" altLang="en-US" dirty="0"/>
              <a:t>모바일 앱 출시까지 확장해보고 싶습니다</a:t>
            </a:r>
            <a:r>
              <a:rPr lang="en-US" altLang="ko-KR"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지금부터는 실제 사용 흐름을 기준으로 짧게 시연하겠습니다</a:t>
            </a:r>
            <a:r>
              <a:rPr lang="en-US" altLang="ko-KR" dirty="0"/>
              <a:t>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7276829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이상으로 발표를 마치겠습니다</a:t>
            </a:r>
            <a:r>
              <a:rPr lang="en-US" altLang="ko-KR" dirty="0"/>
              <a:t>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777395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sv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8.sv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5" Type="http://schemas.openxmlformats.org/officeDocument/2006/relationships/image" Target="../media/image6.svg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12.sv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.png"/><Relationship Id="rId5" Type="http://schemas.openxmlformats.org/officeDocument/2006/relationships/image" Target="../media/image10.svg"/><Relationship Id="rId4" Type="http://schemas.openxmlformats.org/officeDocument/2006/relationships/image" Target="../media/image9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svg"/><Relationship Id="rId3" Type="http://schemas.openxmlformats.org/officeDocument/2006/relationships/image" Target="../media/image1.png"/><Relationship Id="rId7" Type="http://schemas.openxmlformats.org/officeDocument/2006/relationships/image" Target="../media/image1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5.png"/><Relationship Id="rId11" Type="http://schemas.openxmlformats.org/officeDocument/2006/relationships/image" Target="../media/image20.svg"/><Relationship Id="rId5" Type="http://schemas.openxmlformats.org/officeDocument/2006/relationships/image" Target="../media/image14.svg"/><Relationship Id="rId10" Type="http://schemas.openxmlformats.org/officeDocument/2006/relationships/image" Target="../media/image19.png"/><Relationship Id="rId4" Type="http://schemas.openxmlformats.org/officeDocument/2006/relationships/image" Target="../media/image13.png"/><Relationship Id="rId9" Type="http://schemas.openxmlformats.org/officeDocument/2006/relationships/image" Target="../media/image18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1.svg"/><Relationship Id="rId4" Type="http://schemas.openxmlformats.org/officeDocument/2006/relationships/image" Target="../media/image5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3.svg"/><Relationship Id="rId4" Type="http://schemas.openxmlformats.org/officeDocument/2006/relationships/image" Target="../media/image22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.svg"/><Relationship Id="rId3" Type="http://schemas.openxmlformats.org/officeDocument/2006/relationships/image" Target="../media/image1.png"/><Relationship Id="rId7" Type="http://schemas.openxmlformats.org/officeDocument/2006/relationships/image" Target="../media/image27.sv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6.png"/><Relationship Id="rId5" Type="http://schemas.openxmlformats.org/officeDocument/2006/relationships/image" Target="../media/image25.svg"/><Relationship Id="rId4" Type="http://schemas.openxmlformats.org/officeDocument/2006/relationships/image" Target="../media/image24.png"/><Relationship Id="rId9" Type="http://schemas.openxmlformats.org/officeDocument/2006/relationships/image" Target="../media/image29.sv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1.svg"/><Relationship Id="rId4" Type="http://schemas.openxmlformats.org/officeDocument/2006/relationships/image" Target="../media/image30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36.png"/><Relationship Id="rId13" Type="http://schemas.openxmlformats.org/officeDocument/2006/relationships/image" Target="../media/image41.png"/><Relationship Id="rId18" Type="http://schemas.openxmlformats.org/officeDocument/2006/relationships/image" Target="../media/image46.svg"/><Relationship Id="rId3" Type="http://schemas.openxmlformats.org/officeDocument/2006/relationships/image" Target="../media/image1.png"/><Relationship Id="rId7" Type="http://schemas.openxmlformats.org/officeDocument/2006/relationships/image" Target="../media/image35.png"/><Relationship Id="rId12" Type="http://schemas.openxmlformats.org/officeDocument/2006/relationships/image" Target="../media/image40.svg"/><Relationship Id="rId17" Type="http://schemas.openxmlformats.org/officeDocument/2006/relationships/image" Target="../media/image45.png"/><Relationship Id="rId2" Type="http://schemas.openxmlformats.org/officeDocument/2006/relationships/notesSlide" Target="../notesSlides/notesSlide15.xml"/><Relationship Id="rId16" Type="http://schemas.openxmlformats.org/officeDocument/2006/relationships/image" Target="../media/image4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4.png"/><Relationship Id="rId11" Type="http://schemas.openxmlformats.org/officeDocument/2006/relationships/image" Target="../media/image39.png"/><Relationship Id="rId5" Type="http://schemas.openxmlformats.org/officeDocument/2006/relationships/image" Target="../media/image33.png"/><Relationship Id="rId15" Type="http://schemas.openxmlformats.org/officeDocument/2006/relationships/image" Target="../media/image43.png"/><Relationship Id="rId10" Type="http://schemas.openxmlformats.org/officeDocument/2006/relationships/image" Target="../media/image38.png"/><Relationship Id="rId4" Type="http://schemas.openxmlformats.org/officeDocument/2006/relationships/image" Target="../media/image32.png"/><Relationship Id="rId9" Type="http://schemas.openxmlformats.org/officeDocument/2006/relationships/image" Target="../media/image37.png"/><Relationship Id="rId14" Type="http://schemas.openxmlformats.org/officeDocument/2006/relationships/image" Target="../media/image42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50.sv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9.svg"/><Relationship Id="rId5" Type="http://schemas.openxmlformats.org/officeDocument/2006/relationships/image" Target="../media/image48.svg"/><Relationship Id="rId4" Type="http://schemas.openxmlformats.org/officeDocument/2006/relationships/image" Target="../media/image47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87A0B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52450" y="552450"/>
            <a:ext cx="17183100" cy="9182100"/>
          </a:xfrm>
          <a:prstGeom prst="roundRect">
            <a:avLst>
              <a:gd name="adj" fmla="val 3734"/>
            </a:avLst>
          </a:prstGeom>
          <a:solidFill>
            <a:srgbClr val="FBF8EF"/>
          </a:solidFill>
          <a:ln/>
          <a:effectLst>
            <a:outerShdw blurRad="857250" dist="381000" dir="5400000" algn="bl" rotWithShape="0">
              <a:srgbClr val="233241">
                <a:alpha val="2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15468600" y="552450"/>
            <a:ext cx="19050" cy="9182100"/>
          </a:xfrm>
          <a:prstGeom prst="rect">
            <a:avLst/>
          </a:prstGeom>
          <a:solidFill>
            <a:srgbClr val="C7BFA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15278100" y="342900"/>
            <a:ext cx="419100" cy="419100"/>
          </a:xfrm>
          <a:prstGeom prst="ellipse">
            <a:avLst/>
          </a:prstGeom>
          <a:solidFill>
            <a:srgbClr val="87A0B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15278100" y="9525000"/>
            <a:ext cx="419100" cy="419100"/>
          </a:xfrm>
          <a:prstGeom prst="ellipse">
            <a:avLst/>
          </a:prstGeom>
          <a:solidFill>
            <a:srgbClr val="87A0B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/>
          <p:nvPr/>
        </p:nvSpPr>
        <p:spPr>
          <a:xfrm rot="10800000">
            <a:off x="16373475" y="3166533"/>
            <a:ext cx="552450" cy="3055822"/>
          </a:xfrm>
          <a:prstGeom prst="rect">
            <a:avLst/>
          </a:prstGeom>
          <a:noFill/>
          <a:ln/>
        </p:spPr>
        <p:txBody>
          <a:bodyPr vert="eaVert"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3150" b="1" i="1" kern="0" spc="504" dirty="0">
                <a:solidFill>
                  <a:srgbClr val="4A4A4A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Georgia" pitchFamily="34" charset="-120"/>
              </a:rPr>
              <a:t>GROUTRIP</a:t>
            </a:r>
            <a:endParaRPr lang="en-US" sz="3150" dirty="0">
              <a:latin typeface="맑은 고딕" panose="020B0503020000020004" pitchFamily="50" charset="-127"/>
            </a:endParaRPr>
          </a:p>
        </p:txBody>
      </p:sp>
      <p:sp>
        <p:nvSpPr>
          <p:cNvPr id="8" name="Shape 6"/>
          <p:cNvSpPr/>
          <p:nvPr/>
        </p:nvSpPr>
        <p:spPr>
          <a:xfrm>
            <a:off x="15887551" y="7943850"/>
            <a:ext cx="1447800" cy="590550"/>
          </a:xfrm>
          <a:prstGeom prst="rect">
            <a:avLst/>
          </a:prstGeom>
          <a:blipFill>
            <a:blip r:embed="rId3"/>
            <a:tile tx="0" ty="0" sx="100000" sy="100000" flip="none" algn="tl"/>
          </a:blip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9" name="Text 7"/>
          <p:cNvSpPr/>
          <p:nvPr/>
        </p:nvSpPr>
        <p:spPr>
          <a:xfrm>
            <a:off x="15796766" y="8705850"/>
            <a:ext cx="1792471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kern="0" spc="324" dirty="0">
                <a:solidFill>
                  <a:srgbClr val="B0AA9B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Space Mono" pitchFamily="34" charset="-120"/>
              </a:rPr>
              <a:t>ADMIT ONE</a:t>
            </a:r>
            <a:endParaRPr lang="en-US" sz="1800" dirty="0">
              <a:latin typeface="맑은 고딕" panose="020B0503020000020004" pitchFamily="50" charset="-127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1466850" y="1352550"/>
            <a:ext cx="2753767" cy="533400"/>
          </a:xfrm>
          <a:prstGeom prst="roundRect">
            <a:avLst>
              <a:gd name="adj" fmla="val 50000"/>
            </a:avLst>
          </a:prstGeom>
          <a:ln w="9525">
            <a:solidFill>
              <a:srgbClr val="8AA6C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/>
          <p:nvPr/>
        </p:nvSpPr>
        <p:spPr>
          <a:xfrm>
            <a:off x="1777530" y="1444973"/>
            <a:ext cx="2436330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buNone/>
            </a:pPr>
            <a:r>
              <a:rPr lang="en-US" sz="1800" kern="0" spc="324" dirty="0">
                <a:solidFill>
                  <a:srgbClr val="8AA6C0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Space Mono" pitchFamily="34" charset="-120"/>
              </a:rPr>
              <a:t>BOARDING PASS</a:t>
            </a:r>
            <a:endParaRPr lang="en-US" sz="1800" dirty="0">
              <a:latin typeface="맑은 고딕" panose="020B0503020000020004" pitchFamily="50" charset="-127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4392067" y="1447800"/>
            <a:ext cx="2978393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kern="0" spc="72" dirty="0" err="1">
                <a:solidFill>
                  <a:srgbClr val="8C887C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Space Mono" pitchFamily="34" charset="-120"/>
              </a:rPr>
              <a:t>국내형</a:t>
            </a:r>
            <a:r>
              <a:rPr lang="en-US" sz="1800" kern="0" spc="72" dirty="0">
                <a:solidFill>
                  <a:srgbClr val="8C887C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Space Mono" pitchFamily="34" charset="-120"/>
              </a:rPr>
              <a:t> 그룹 여행</a:t>
            </a:r>
            <a:endParaRPr lang="en-US" sz="1800" dirty="0">
              <a:latin typeface="맑은 고딕" panose="020B0503020000020004" pitchFamily="50" charset="-127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13515231" y="1352550"/>
            <a:ext cx="1134219" cy="4000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950" b="1" kern="0" spc="195" dirty="0">
                <a:solidFill>
                  <a:srgbClr val="A9A395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Space Mono" pitchFamily="34" charset="-120"/>
              </a:rPr>
              <a:t>No. </a:t>
            </a:r>
            <a:r>
              <a:rPr lang="en-US" sz="1950" b="1" kern="0" spc="195" dirty="0">
                <a:solidFill>
                  <a:srgbClr val="A9A395"/>
                </a:solidFill>
                <a:latin typeface="+mj-ea"/>
                <a:ea typeface="+mj-ea"/>
                <a:cs typeface="Space Mono" pitchFamily="34" charset="-120"/>
              </a:rPr>
              <a:t>01</a:t>
            </a:r>
            <a:endParaRPr lang="en-US" sz="1950" b="1" dirty="0">
              <a:latin typeface="+mj-ea"/>
              <a:ea typeface="+mj-ea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1466850" y="3480495"/>
            <a:ext cx="14417040" cy="609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3600" kern="0" spc="36" dirty="0">
                <a:solidFill>
                  <a:srgbClr val="4A4A4A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Black Han Sans" pitchFamily="34" charset="-120"/>
              </a:rPr>
              <a:t>우리, 같이 떠날까?</a:t>
            </a:r>
            <a:endParaRPr lang="en-US" sz="3600" dirty="0">
              <a:latin typeface="맑은 고딕" panose="020B0503020000020004" pitchFamily="50" charset="-127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1458610" y="4442519"/>
            <a:ext cx="14417040" cy="14781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90000"/>
              </a:lnSpc>
              <a:buNone/>
            </a:pPr>
            <a:r>
              <a:rPr lang="en-US" sz="12600" b="1" i="1" kern="0" spc="-189" dirty="0">
                <a:solidFill>
                  <a:srgbClr val="4A4A4A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Georgia" pitchFamily="34" charset="-120"/>
              </a:rPr>
              <a:t>GROUTRIP</a:t>
            </a:r>
            <a:endParaRPr lang="en-US" sz="12600" dirty="0">
              <a:latin typeface="맑은 고딕" panose="020B0503020000020004" pitchFamily="50" charset="-127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1466850" y="5873055"/>
            <a:ext cx="4187235" cy="571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3450" i="1" kern="0" spc="621" dirty="0">
                <a:solidFill>
                  <a:srgbClr val="8AA6C0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Georgia" pitchFamily="34" charset="-120"/>
              </a:rPr>
              <a:t>GROUP TRAVEL</a:t>
            </a:r>
            <a:endParaRPr lang="en-US" sz="3450" dirty="0">
              <a:latin typeface="맑은 고딕" panose="020B0503020000020004" pitchFamily="50" charset="-127"/>
            </a:endParaRPr>
          </a:p>
        </p:txBody>
      </p:sp>
      <p:sp>
        <p:nvSpPr>
          <p:cNvPr id="17" name="Shape 15"/>
          <p:cNvSpPr/>
          <p:nvPr/>
        </p:nvSpPr>
        <p:spPr>
          <a:xfrm>
            <a:off x="5521077" y="6130230"/>
            <a:ext cx="8385423" cy="19050"/>
          </a:xfrm>
          <a:prstGeom prst="rect">
            <a:avLst/>
          </a:prstGeom>
          <a:solidFill>
            <a:srgbClr val="C7BFA9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18" name="Image 0" descr="preencoded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 rot="2700000">
            <a:off x="14067352" y="5843407"/>
            <a:ext cx="592696" cy="592696"/>
          </a:xfrm>
          <a:prstGeom prst="rect">
            <a:avLst/>
          </a:prstGeom>
        </p:spPr>
      </p:pic>
      <p:sp>
        <p:nvSpPr>
          <p:cNvPr id="19" name="Text 16"/>
          <p:cNvSpPr/>
          <p:nvPr/>
        </p:nvSpPr>
        <p:spPr>
          <a:xfrm>
            <a:off x="1466850" y="8001000"/>
            <a:ext cx="2933700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b="1" kern="0" spc="360" dirty="0">
                <a:solidFill>
                  <a:srgbClr val="B0AA9B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Space Mono" pitchFamily="34" charset="-120"/>
              </a:rPr>
              <a:t>TRAVELER</a:t>
            </a:r>
            <a:endParaRPr lang="en-US" sz="1800" b="1" dirty="0">
              <a:latin typeface="맑은 고딕" panose="020B0503020000020004" pitchFamily="50" charset="-127"/>
            </a:endParaRPr>
          </a:p>
        </p:txBody>
      </p:sp>
      <p:sp>
        <p:nvSpPr>
          <p:cNvPr id="20" name="Shape 17"/>
          <p:cNvSpPr/>
          <p:nvPr/>
        </p:nvSpPr>
        <p:spPr>
          <a:xfrm>
            <a:off x="1466850" y="8915400"/>
            <a:ext cx="2667000" cy="19050"/>
          </a:xfrm>
          <a:prstGeom prst="rect">
            <a:avLst/>
          </a:prstGeom>
          <a:solidFill>
            <a:srgbClr val="B7AF9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1" name="Text 18"/>
          <p:cNvSpPr/>
          <p:nvPr/>
        </p:nvSpPr>
        <p:spPr>
          <a:xfrm>
            <a:off x="1466850" y="8458200"/>
            <a:ext cx="2747010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2250" b="1" dirty="0">
                <a:solidFill>
                  <a:srgbClr val="4A4A4A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retendard" pitchFamily="34" charset="-120"/>
              </a:rPr>
              <a:t>김민준 · 정희성</a:t>
            </a:r>
            <a:endParaRPr lang="en-US" sz="2250" dirty="0">
              <a:latin typeface="맑은 고딕" panose="020B0503020000020004" pitchFamily="50" charset="-127"/>
            </a:endParaRPr>
          </a:p>
        </p:txBody>
      </p:sp>
      <p:sp>
        <p:nvSpPr>
          <p:cNvPr id="22" name="Text 19"/>
          <p:cNvSpPr/>
          <p:nvPr/>
        </p:nvSpPr>
        <p:spPr>
          <a:xfrm>
            <a:off x="4743450" y="8001000"/>
            <a:ext cx="2305050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b="1" kern="0" spc="360" dirty="0">
                <a:solidFill>
                  <a:srgbClr val="B0AA9B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Space Mono" pitchFamily="34" charset="-120"/>
              </a:rPr>
              <a:t>WHERE</a:t>
            </a:r>
            <a:endParaRPr lang="en-US" sz="1800" b="1" dirty="0">
              <a:latin typeface="맑은 고딕" panose="020B0503020000020004" pitchFamily="50" charset="-127"/>
            </a:endParaRPr>
          </a:p>
        </p:txBody>
      </p:sp>
      <p:sp>
        <p:nvSpPr>
          <p:cNvPr id="23" name="Shape 20"/>
          <p:cNvSpPr/>
          <p:nvPr/>
        </p:nvSpPr>
        <p:spPr>
          <a:xfrm>
            <a:off x="4743450" y="8915400"/>
            <a:ext cx="2095500" cy="19050"/>
          </a:xfrm>
          <a:prstGeom prst="rect">
            <a:avLst/>
          </a:prstGeom>
          <a:solidFill>
            <a:srgbClr val="B7AF9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4" name="Text 21"/>
          <p:cNvSpPr/>
          <p:nvPr/>
        </p:nvSpPr>
        <p:spPr>
          <a:xfrm>
            <a:off x="4743450" y="8458200"/>
            <a:ext cx="2171700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2250" b="1" dirty="0">
                <a:solidFill>
                  <a:srgbClr val="4A4A4A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retendard" pitchFamily="34" charset="-120"/>
              </a:rPr>
              <a:t>국내 어디든</a:t>
            </a:r>
            <a:endParaRPr lang="en-US" sz="2250" dirty="0">
              <a:latin typeface="맑은 고딕" panose="020B0503020000020004" pitchFamily="50" charset="-127"/>
            </a:endParaRPr>
          </a:p>
        </p:txBody>
      </p:sp>
      <p:sp>
        <p:nvSpPr>
          <p:cNvPr id="25" name="Text 22"/>
          <p:cNvSpPr/>
          <p:nvPr/>
        </p:nvSpPr>
        <p:spPr>
          <a:xfrm>
            <a:off x="7448550" y="8001000"/>
            <a:ext cx="2305050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b="1" kern="0" spc="360" dirty="0">
                <a:solidFill>
                  <a:srgbClr val="B0AA9B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Space Mono" pitchFamily="34" charset="-120"/>
              </a:rPr>
              <a:t>TRIP</a:t>
            </a:r>
            <a:endParaRPr lang="en-US" sz="1800" b="1" dirty="0">
              <a:latin typeface="맑은 고딕" panose="020B0503020000020004" pitchFamily="50" charset="-127"/>
            </a:endParaRPr>
          </a:p>
        </p:txBody>
      </p:sp>
      <p:sp>
        <p:nvSpPr>
          <p:cNvPr id="26" name="Shape 23"/>
          <p:cNvSpPr/>
          <p:nvPr/>
        </p:nvSpPr>
        <p:spPr>
          <a:xfrm>
            <a:off x="7448550" y="8915400"/>
            <a:ext cx="2095500" cy="19050"/>
          </a:xfrm>
          <a:prstGeom prst="rect">
            <a:avLst/>
          </a:prstGeom>
          <a:solidFill>
            <a:srgbClr val="B7AF9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7" name="Text 24"/>
          <p:cNvSpPr/>
          <p:nvPr/>
        </p:nvSpPr>
        <p:spPr>
          <a:xfrm>
            <a:off x="7448550" y="8458200"/>
            <a:ext cx="2171700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2250" b="1" dirty="0">
                <a:solidFill>
                  <a:srgbClr val="4A4A4A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retendard" pitchFamily="34" charset="-120"/>
              </a:rPr>
              <a:t>SSAFY </a:t>
            </a:r>
            <a:endParaRPr lang="en-US" sz="2250" dirty="0">
              <a:latin typeface="맑은 고딕" panose="020B0503020000020004" pitchFamily="50" charset="-127"/>
            </a:endParaRPr>
          </a:p>
        </p:txBody>
      </p:sp>
      <p:sp>
        <p:nvSpPr>
          <p:cNvPr id="28" name="Text 4">
            <a:extLst>
              <a:ext uri="{FF2B5EF4-FFF2-40B4-BE49-F238E27FC236}">
                <a16:creationId xmlns:a16="http://schemas.microsoft.com/office/drawing/2014/main" id="{C58D1C29-623F-4310-99CC-B22C3D541DD7}"/>
              </a:ext>
            </a:extLst>
          </p:cNvPr>
          <p:cNvSpPr/>
          <p:nvPr/>
        </p:nvSpPr>
        <p:spPr>
          <a:xfrm>
            <a:off x="15830996" y="1238250"/>
            <a:ext cx="1561207" cy="723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800" kern="0" spc="360" dirty="0">
                <a:solidFill>
                  <a:srgbClr val="B0AA9B"/>
                </a:solidFill>
                <a:latin typeface="맑은 고딕" panose="020B0503020000020004" pitchFamily="50" charset="-127"/>
                <a:ea typeface="Microsoft YaHei" panose="020B0503020204020204" pitchFamily="34" charset="-122"/>
                <a:cs typeface="Arial" panose="020B0604020202020204" pitchFamily="34" charset="0"/>
              </a:rPr>
              <a:t>BOARDING</a:t>
            </a:r>
          </a:p>
          <a:p>
            <a:pPr marL="0" indent="0" algn="ctr">
              <a:lnSpc>
                <a:spcPct val="150000"/>
              </a:lnSpc>
              <a:buNone/>
            </a:pPr>
            <a:r>
              <a:rPr lang="en-US" sz="1800" kern="0" spc="360" dirty="0">
                <a:solidFill>
                  <a:srgbClr val="B0AA9B"/>
                </a:solidFill>
                <a:latin typeface="맑은 고딕" panose="020B0503020000020004" pitchFamily="50" charset="-127"/>
                <a:ea typeface="Microsoft YaHei" panose="020B0503020204020204" pitchFamily="34" charset="-122"/>
                <a:cs typeface="Arial" panose="020B0604020202020204" pitchFamily="34" charset="0"/>
              </a:rPr>
              <a:t>PASS</a:t>
            </a:r>
            <a:endParaRPr lang="en-US" sz="1800" dirty="0">
              <a:latin typeface="맑은 고딕" panose="020B0503020000020004" pitchFamily="50" charset="-127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87A0B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52450" y="552450"/>
            <a:ext cx="17183100" cy="9182100"/>
          </a:xfrm>
          <a:prstGeom prst="roundRect">
            <a:avLst>
              <a:gd name="adj" fmla="val 3734"/>
            </a:avLst>
          </a:prstGeom>
          <a:solidFill>
            <a:srgbClr val="FBF8EF"/>
          </a:solidFill>
          <a:ln/>
          <a:effectLst>
            <a:outerShdw blurRad="857250" dist="381000" dir="5400000" algn="bl" rotWithShape="0">
              <a:srgbClr val="233241">
                <a:alpha val="2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15468600" y="552450"/>
            <a:ext cx="19050" cy="9182100"/>
          </a:xfrm>
          <a:prstGeom prst="rect">
            <a:avLst/>
          </a:prstGeom>
          <a:solidFill>
            <a:srgbClr val="C7BFA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15278100" y="342900"/>
            <a:ext cx="419100" cy="419100"/>
          </a:xfrm>
          <a:prstGeom prst="ellipse">
            <a:avLst/>
          </a:prstGeom>
          <a:solidFill>
            <a:srgbClr val="87A0B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15278100" y="9525000"/>
            <a:ext cx="419100" cy="419100"/>
          </a:xfrm>
          <a:prstGeom prst="ellipse">
            <a:avLst/>
          </a:prstGeom>
          <a:solidFill>
            <a:srgbClr val="87A0B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15830996" y="1238250"/>
            <a:ext cx="1561207" cy="723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800" kern="0" spc="360" dirty="0">
                <a:solidFill>
                  <a:srgbClr val="B0AA9B"/>
                </a:solidFill>
                <a:latin typeface="맑은 고딕" panose="020B0503020000020004" pitchFamily="50" charset="-127"/>
                <a:ea typeface="Microsoft YaHei" panose="020B0503020204020204" pitchFamily="34" charset="-122"/>
                <a:cs typeface="Arial" panose="020B0604020202020204" pitchFamily="34" charset="0"/>
              </a:rPr>
              <a:t>BOARDING</a:t>
            </a:r>
          </a:p>
          <a:p>
            <a:pPr marL="0" indent="0" algn="ctr">
              <a:lnSpc>
                <a:spcPct val="150000"/>
              </a:lnSpc>
              <a:buNone/>
            </a:pPr>
            <a:r>
              <a:rPr lang="en-US" sz="1800" kern="0" spc="360" dirty="0">
                <a:solidFill>
                  <a:srgbClr val="B0AA9B"/>
                </a:solidFill>
                <a:latin typeface="맑은 고딕" panose="020B0503020000020004" pitchFamily="50" charset="-127"/>
                <a:ea typeface="Microsoft YaHei" panose="020B0503020204020204" pitchFamily="34" charset="-122"/>
                <a:cs typeface="Arial" panose="020B0604020202020204" pitchFamily="34" charset="0"/>
              </a:rPr>
              <a:t>PASS</a:t>
            </a:r>
            <a:endParaRPr lang="en-US" sz="1800" dirty="0">
              <a:latin typeface="맑은 고딕" panose="020B0503020000020004" pitchFamily="50" charset="-127"/>
              <a:cs typeface="Arial" panose="020B0604020202020204" pitchFamily="34" charset="0"/>
            </a:endParaRPr>
          </a:p>
        </p:txBody>
      </p:sp>
      <p:sp>
        <p:nvSpPr>
          <p:cNvPr id="8" name="Shape 6"/>
          <p:cNvSpPr/>
          <p:nvPr/>
        </p:nvSpPr>
        <p:spPr>
          <a:xfrm>
            <a:off x="15887551" y="7943850"/>
            <a:ext cx="1447800" cy="590550"/>
          </a:xfrm>
          <a:prstGeom prst="rect">
            <a:avLst/>
          </a:prstGeom>
          <a:blipFill>
            <a:blip r:embed="rId3"/>
            <a:tile tx="0" ty="0" sx="100000" sy="100000" flip="none" algn="tl"/>
          </a:blip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9" name="Text 7"/>
          <p:cNvSpPr/>
          <p:nvPr/>
        </p:nvSpPr>
        <p:spPr>
          <a:xfrm>
            <a:off x="15796766" y="8705850"/>
            <a:ext cx="1792471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kern="0" spc="324" dirty="0">
                <a:solidFill>
                  <a:srgbClr val="B0AA9B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Space Mono" pitchFamily="34" charset="-120"/>
              </a:rPr>
              <a:t>ADMIT ONE</a:t>
            </a:r>
            <a:endParaRPr lang="en-US" sz="1800" dirty="0">
              <a:latin typeface="맑은 고딕" panose="020B0503020000020004" pitchFamily="50" charset="-127"/>
            </a:endParaRPr>
          </a:p>
        </p:txBody>
      </p:sp>
      <p:sp>
        <p:nvSpPr>
          <p:cNvPr id="10" name="Text 8"/>
          <p:cNvSpPr/>
          <p:nvPr/>
        </p:nvSpPr>
        <p:spPr>
          <a:xfrm>
            <a:off x="1352550" y="1276350"/>
            <a:ext cx="2754273" cy="4286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2550" i="1" kern="0" spc="408" dirty="0">
                <a:solidFill>
                  <a:srgbClr val="8AA6C0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Cormorant Garamond" pitchFamily="34" charset="-120"/>
              </a:rPr>
              <a:t>Boarding Info</a:t>
            </a:r>
            <a:endParaRPr lang="en-US" sz="2550" dirty="0">
              <a:latin typeface="맑은 고딕" panose="020B0503020000020004" pitchFamily="50" charset="-127"/>
            </a:endParaRPr>
          </a:p>
        </p:txBody>
      </p:sp>
      <p:sp>
        <p:nvSpPr>
          <p:cNvPr id="11" name="Text 9"/>
          <p:cNvSpPr/>
          <p:nvPr/>
        </p:nvSpPr>
        <p:spPr>
          <a:xfrm>
            <a:off x="1736005" y="1781175"/>
            <a:ext cx="3058583" cy="8953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ko-KR" altLang="en-US" sz="5400" b="1" dirty="0">
                <a:solidFill>
                  <a:srgbClr val="4A4A4A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Black Han Sans" pitchFamily="34" charset="-120"/>
              </a:rPr>
              <a:t>목차</a:t>
            </a:r>
            <a:endParaRPr lang="en-US" sz="5400" b="1" dirty="0">
              <a:latin typeface="맑은 고딕" panose="020B0503020000020004" pitchFamily="50" charset="-127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13629531" y="1276350"/>
            <a:ext cx="1134219" cy="4000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950" b="1" kern="0" spc="195" dirty="0">
                <a:solidFill>
                  <a:srgbClr val="A9A395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Space Mono" pitchFamily="34" charset="-120"/>
              </a:rPr>
              <a:t>No. 02</a:t>
            </a:r>
            <a:endParaRPr lang="en-US" sz="1950" b="1" dirty="0">
              <a:latin typeface="맑은 고딕" panose="020B0503020000020004" pitchFamily="50" charset="-127"/>
            </a:endParaRPr>
          </a:p>
        </p:txBody>
      </p:sp>
      <p:sp>
        <p:nvSpPr>
          <p:cNvPr id="13" name="Shape 11"/>
          <p:cNvSpPr/>
          <p:nvPr/>
        </p:nvSpPr>
        <p:spPr>
          <a:xfrm>
            <a:off x="1352550" y="3038475"/>
            <a:ext cx="766911" cy="561975"/>
          </a:xfrm>
          <a:prstGeom prst="roundRect">
            <a:avLst>
              <a:gd name="adj" fmla="val 50000"/>
            </a:avLst>
          </a:prstGeom>
          <a:solidFill>
            <a:srgbClr val="8AA6C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2"/>
          <p:cNvSpPr/>
          <p:nvPr/>
        </p:nvSpPr>
        <p:spPr>
          <a:xfrm>
            <a:off x="1562100" y="3124200"/>
            <a:ext cx="424011" cy="4286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100" b="1" kern="0" spc="84" dirty="0">
                <a:solidFill>
                  <a:srgbClr val="FBF8EF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Space Mono" pitchFamily="34" charset="-120"/>
              </a:rPr>
              <a:t>01</a:t>
            </a:r>
            <a:endParaRPr lang="en-US" sz="2100" dirty="0">
              <a:latin typeface="맑은 고딕" panose="020B0503020000020004" pitchFamily="50" charset="-127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2405211" y="3057525"/>
            <a:ext cx="2514600" cy="5619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3300" dirty="0">
                <a:solidFill>
                  <a:srgbClr val="4A4A4A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Black Han Sans" pitchFamily="34" charset="-120"/>
              </a:rPr>
              <a:t>개요</a:t>
            </a:r>
            <a:endParaRPr lang="en-US" sz="3300" dirty="0">
              <a:latin typeface="맑은 고딕" panose="020B0503020000020004" pitchFamily="50" charset="-127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4976961" y="3309938"/>
            <a:ext cx="7382173" cy="19050"/>
          </a:xfrm>
          <a:prstGeom prst="rect">
            <a:avLst/>
          </a:prstGeom>
          <a:solidFill>
            <a:srgbClr val="C7BFA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5"/>
          <p:cNvSpPr/>
          <p:nvPr/>
        </p:nvSpPr>
        <p:spPr>
          <a:xfrm>
            <a:off x="12644884" y="3157538"/>
            <a:ext cx="2246933" cy="3619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buNone/>
            </a:pPr>
            <a:r>
              <a:rPr lang="en-US" sz="2100" dirty="0">
                <a:solidFill>
                  <a:srgbClr val="8C887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retendard" pitchFamily="34" charset="-120"/>
              </a:rPr>
              <a:t>무엇을, 왜 만들었나</a:t>
            </a:r>
            <a:endParaRPr lang="en-US" sz="2100" dirty="0">
              <a:latin typeface="맑은 고딕" panose="020B0503020000020004" pitchFamily="50" charset="-127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1352550" y="3848100"/>
            <a:ext cx="766911" cy="561975"/>
          </a:xfrm>
          <a:prstGeom prst="roundRect">
            <a:avLst>
              <a:gd name="adj" fmla="val 50000"/>
            </a:avLst>
          </a:prstGeom>
          <a:solidFill>
            <a:srgbClr val="8AA6C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7"/>
          <p:cNvSpPr/>
          <p:nvPr/>
        </p:nvSpPr>
        <p:spPr>
          <a:xfrm>
            <a:off x="1562100" y="3933825"/>
            <a:ext cx="424011" cy="4286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100" b="1" kern="0" spc="84" dirty="0">
                <a:solidFill>
                  <a:srgbClr val="FBF8EF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Space Mono" pitchFamily="34" charset="-120"/>
              </a:rPr>
              <a:t>02</a:t>
            </a:r>
            <a:endParaRPr lang="en-US" sz="2100" dirty="0">
              <a:latin typeface="맑은 고딕" panose="020B0503020000020004" pitchFamily="50" charset="-127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2405211" y="3867150"/>
            <a:ext cx="2514600" cy="5619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3300" dirty="0">
                <a:solidFill>
                  <a:srgbClr val="4A4A4A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Black Han Sans" pitchFamily="34" charset="-120"/>
              </a:rPr>
              <a:t>문제</a:t>
            </a:r>
            <a:endParaRPr lang="en-US" sz="3300" dirty="0">
              <a:latin typeface="맑은 고딕" panose="020B0503020000020004" pitchFamily="50" charset="-127"/>
            </a:endParaRPr>
          </a:p>
        </p:txBody>
      </p:sp>
      <p:sp>
        <p:nvSpPr>
          <p:cNvPr id="21" name="Shape 19"/>
          <p:cNvSpPr/>
          <p:nvPr/>
        </p:nvSpPr>
        <p:spPr>
          <a:xfrm>
            <a:off x="4976961" y="4119562"/>
            <a:ext cx="6859339" cy="19050"/>
          </a:xfrm>
          <a:prstGeom prst="rect">
            <a:avLst/>
          </a:prstGeom>
          <a:solidFill>
            <a:srgbClr val="C7BFA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2" name="Text 20"/>
          <p:cNvSpPr/>
          <p:nvPr/>
        </p:nvSpPr>
        <p:spPr>
          <a:xfrm>
            <a:off x="12122051" y="3967163"/>
            <a:ext cx="2822049" cy="3619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buNone/>
            </a:pPr>
            <a:r>
              <a:rPr lang="en-US" sz="2100" dirty="0">
                <a:solidFill>
                  <a:srgbClr val="8C887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retendard" pitchFamily="34" charset="-120"/>
              </a:rPr>
              <a:t>그룹 여행의 세 가지 불편</a:t>
            </a:r>
            <a:endParaRPr lang="en-US" sz="2100" dirty="0">
              <a:latin typeface="맑은 고딕" panose="020B0503020000020004" pitchFamily="50" charset="-127"/>
            </a:endParaRPr>
          </a:p>
        </p:txBody>
      </p:sp>
      <p:sp>
        <p:nvSpPr>
          <p:cNvPr id="23" name="Shape 21"/>
          <p:cNvSpPr/>
          <p:nvPr/>
        </p:nvSpPr>
        <p:spPr>
          <a:xfrm>
            <a:off x="1352550" y="4657725"/>
            <a:ext cx="766911" cy="561975"/>
          </a:xfrm>
          <a:prstGeom prst="roundRect">
            <a:avLst>
              <a:gd name="adj" fmla="val 50000"/>
            </a:avLst>
          </a:prstGeom>
          <a:solidFill>
            <a:srgbClr val="8AA6C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4" name="Text 22"/>
          <p:cNvSpPr/>
          <p:nvPr/>
        </p:nvSpPr>
        <p:spPr>
          <a:xfrm>
            <a:off x="1562100" y="4743450"/>
            <a:ext cx="424011" cy="4286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100" b="1" kern="0" spc="84" dirty="0">
                <a:solidFill>
                  <a:srgbClr val="FBF8EF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Space Mono" pitchFamily="34" charset="-120"/>
              </a:rPr>
              <a:t>03</a:t>
            </a:r>
            <a:endParaRPr lang="en-US" sz="2100" dirty="0">
              <a:latin typeface="맑은 고딕" panose="020B0503020000020004" pitchFamily="50" charset="-127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2405211" y="4676775"/>
            <a:ext cx="2514600" cy="5619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3300" dirty="0">
                <a:solidFill>
                  <a:srgbClr val="4A4A4A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Black Han Sans" pitchFamily="34" charset="-120"/>
              </a:rPr>
              <a:t>솔루션</a:t>
            </a:r>
            <a:endParaRPr lang="en-US" sz="3300" dirty="0">
              <a:latin typeface="맑은 고딕" panose="020B0503020000020004" pitchFamily="50" charset="-127"/>
            </a:endParaRPr>
          </a:p>
        </p:txBody>
      </p:sp>
      <p:sp>
        <p:nvSpPr>
          <p:cNvPr id="26" name="Shape 24"/>
          <p:cNvSpPr/>
          <p:nvPr/>
        </p:nvSpPr>
        <p:spPr>
          <a:xfrm>
            <a:off x="4976961" y="4929188"/>
            <a:ext cx="6924526" cy="19050"/>
          </a:xfrm>
          <a:prstGeom prst="rect">
            <a:avLst/>
          </a:prstGeom>
          <a:solidFill>
            <a:srgbClr val="C7BFA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7" name="Text 25"/>
          <p:cNvSpPr/>
          <p:nvPr/>
        </p:nvSpPr>
        <p:spPr>
          <a:xfrm>
            <a:off x="12187238" y="4776788"/>
            <a:ext cx="2750344" cy="3619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buNone/>
            </a:pPr>
            <a:r>
              <a:rPr lang="en-US" sz="2100" dirty="0">
                <a:solidFill>
                  <a:srgbClr val="8C887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retendard" pitchFamily="34" charset="-120"/>
              </a:rPr>
              <a:t>함께 계획하고 함께 정산</a:t>
            </a:r>
            <a:endParaRPr lang="en-US" sz="2100" dirty="0">
              <a:latin typeface="맑은 고딕" panose="020B0503020000020004" pitchFamily="50" charset="-127"/>
            </a:endParaRPr>
          </a:p>
        </p:txBody>
      </p:sp>
      <p:sp>
        <p:nvSpPr>
          <p:cNvPr id="28" name="Shape 26"/>
          <p:cNvSpPr/>
          <p:nvPr/>
        </p:nvSpPr>
        <p:spPr>
          <a:xfrm>
            <a:off x="1352550" y="5467350"/>
            <a:ext cx="766911" cy="561975"/>
          </a:xfrm>
          <a:prstGeom prst="roundRect">
            <a:avLst>
              <a:gd name="adj" fmla="val 50000"/>
            </a:avLst>
          </a:prstGeom>
          <a:solidFill>
            <a:srgbClr val="8AA6C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9" name="Text 27"/>
          <p:cNvSpPr/>
          <p:nvPr/>
        </p:nvSpPr>
        <p:spPr>
          <a:xfrm>
            <a:off x="1562100" y="5553075"/>
            <a:ext cx="424011" cy="4286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100" b="1" kern="0" spc="84" dirty="0">
                <a:solidFill>
                  <a:srgbClr val="FBF8EF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Space Mono" pitchFamily="34" charset="-120"/>
              </a:rPr>
              <a:t>04</a:t>
            </a:r>
            <a:endParaRPr lang="en-US" sz="2100" dirty="0">
              <a:latin typeface="맑은 고딕" panose="020B0503020000020004" pitchFamily="50" charset="-127"/>
            </a:endParaRPr>
          </a:p>
        </p:txBody>
      </p:sp>
      <p:sp>
        <p:nvSpPr>
          <p:cNvPr id="30" name="Text 28"/>
          <p:cNvSpPr/>
          <p:nvPr/>
        </p:nvSpPr>
        <p:spPr>
          <a:xfrm>
            <a:off x="2405211" y="5486400"/>
            <a:ext cx="2514600" cy="5619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3300" dirty="0">
                <a:solidFill>
                  <a:srgbClr val="4A4A4A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Black Han Sans" pitchFamily="34" charset="-120"/>
              </a:rPr>
              <a:t>기능 시연</a:t>
            </a:r>
            <a:endParaRPr lang="en-US" sz="3300" dirty="0">
              <a:latin typeface="맑은 고딕" panose="020B0503020000020004" pitchFamily="50" charset="-127"/>
            </a:endParaRPr>
          </a:p>
        </p:txBody>
      </p:sp>
      <p:sp>
        <p:nvSpPr>
          <p:cNvPr id="31" name="Shape 29"/>
          <p:cNvSpPr/>
          <p:nvPr/>
        </p:nvSpPr>
        <p:spPr>
          <a:xfrm>
            <a:off x="4976961" y="5738813"/>
            <a:ext cx="7385447" cy="19050"/>
          </a:xfrm>
          <a:prstGeom prst="rect">
            <a:avLst/>
          </a:prstGeom>
          <a:solidFill>
            <a:srgbClr val="C7BFA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2" name="Text 30"/>
          <p:cNvSpPr/>
          <p:nvPr/>
        </p:nvSpPr>
        <p:spPr>
          <a:xfrm>
            <a:off x="12648158" y="5586413"/>
            <a:ext cx="2243331" cy="3619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buNone/>
            </a:pPr>
            <a:r>
              <a:rPr lang="en-US" sz="2100" dirty="0">
                <a:solidFill>
                  <a:srgbClr val="8C887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retendard" pitchFamily="34" charset="-120"/>
              </a:rPr>
              <a:t>다섯 가지 핵심 기능</a:t>
            </a:r>
            <a:endParaRPr lang="en-US" sz="2100" dirty="0">
              <a:latin typeface="맑은 고딕" panose="020B0503020000020004" pitchFamily="50" charset="-127"/>
            </a:endParaRPr>
          </a:p>
        </p:txBody>
      </p:sp>
      <p:sp>
        <p:nvSpPr>
          <p:cNvPr id="33" name="Shape 31"/>
          <p:cNvSpPr/>
          <p:nvPr/>
        </p:nvSpPr>
        <p:spPr>
          <a:xfrm>
            <a:off x="1352550" y="6310313"/>
            <a:ext cx="766911" cy="561975"/>
          </a:xfrm>
          <a:prstGeom prst="roundRect">
            <a:avLst>
              <a:gd name="adj" fmla="val 50000"/>
            </a:avLst>
          </a:prstGeom>
          <a:solidFill>
            <a:srgbClr val="8AA6C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4" name="Text 32"/>
          <p:cNvSpPr/>
          <p:nvPr/>
        </p:nvSpPr>
        <p:spPr>
          <a:xfrm>
            <a:off x="1562100" y="6396038"/>
            <a:ext cx="424011" cy="4286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100" b="1" kern="0" spc="84" dirty="0">
                <a:solidFill>
                  <a:srgbClr val="FBF8EF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Space Mono" pitchFamily="34" charset="-120"/>
              </a:rPr>
              <a:t>05</a:t>
            </a:r>
            <a:endParaRPr lang="en-US" sz="2100" dirty="0">
              <a:latin typeface="맑은 고딕" panose="020B0503020000020004" pitchFamily="50" charset="-127"/>
            </a:endParaRPr>
          </a:p>
        </p:txBody>
      </p:sp>
      <p:sp>
        <p:nvSpPr>
          <p:cNvPr id="35" name="Text 33"/>
          <p:cNvSpPr/>
          <p:nvPr/>
        </p:nvSpPr>
        <p:spPr>
          <a:xfrm>
            <a:off x="2405211" y="6276975"/>
            <a:ext cx="2514600" cy="666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3300" dirty="0">
                <a:solidFill>
                  <a:srgbClr val="4A4A4A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Black Han Sans" pitchFamily="34" charset="-120"/>
              </a:rPr>
              <a:t>기술 · 회고</a:t>
            </a:r>
            <a:endParaRPr lang="en-US" sz="3300" dirty="0">
              <a:latin typeface="맑은 고딕" panose="020B0503020000020004" pitchFamily="50" charset="-127"/>
            </a:endParaRPr>
          </a:p>
        </p:txBody>
      </p:sp>
      <p:sp>
        <p:nvSpPr>
          <p:cNvPr id="36" name="Shape 34"/>
          <p:cNvSpPr/>
          <p:nvPr/>
        </p:nvSpPr>
        <p:spPr>
          <a:xfrm>
            <a:off x="4976961" y="6581775"/>
            <a:ext cx="7345114" cy="19050"/>
          </a:xfrm>
          <a:prstGeom prst="rect">
            <a:avLst/>
          </a:prstGeom>
          <a:solidFill>
            <a:srgbClr val="C7BFA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7" name="Text 35"/>
          <p:cNvSpPr/>
          <p:nvPr/>
        </p:nvSpPr>
        <p:spPr>
          <a:xfrm>
            <a:off x="12607826" y="6429375"/>
            <a:ext cx="2287697" cy="3619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buNone/>
            </a:pPr>
            <a:r>
              <a:rPr lang="en-US" sz="2100" dirty="0">
                <a:solidFill>
                  <a:srgbClr val="8C887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retendard" pitchFamily="34" charset="-120"/>
              </a:rPr>
              <a:t>구조 · 보안 · 배운 점</a:t>
            </a:r>
            <a:endParaRPr lang="en-US" sz="2100" dirty="0">
              <a:latin typeface="맑은 고딕" panose="020B0503020000020004" pitchFamily="50" charset="-127"/>
            </a:endParaRPr>
          </a:p>
        </p:txBody>
      </p:sp>
      <p:sp>
        <p:nvSpPr>
          <p:cNvPr id="38" name="Text 5">
            <a:extLst>
              <a:ext uri="{FF2B5EF4-FFF2-40B4-BE49-F238E27FC236}">
                <a16:creationId xmlns:a16="http://schemas.microsoft.com/office/drawing/2014/main" id="{4F6A269E-4343-485E-8D86-0ADFAE3055F9}"/>
              </a:ext>
            </a:extLst>
          </p:cNvPr>
          <p:cNvSpPr/>
          <p:nvPr/>
        </p:nvSpPr>
        <p:spPr>
          <a:xfrm rot="10800000">
            <a:off x="16373475" y="3166533"/>
            <a:ext cx="552450" cy="3055822"/>
          </a:xfrm>
          <a:prstGeom prst="rect">
            <a:avLst/>
          </a:prstGeom>
          <a:noFill/>
          <a:ln/>
        </p:spPr>
        <p:txBody>
          <a:bodyPr vert="eaVert"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3150" b="1" i="1" kern="0" spc="504" dirty="0">
                <a:solidFill>
                  <a:srgbClr val="4A4A4A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Georgia" pitchFamily="34" charset="-120"/>
              </a:rPr>
              <a:t>GROUTRIP</a:t>
            </a:r>
            <a:endParaRPr lang="en-US" sz="3150" dirty="0">
              <a:latin typeface="맑은 고딕" panose="020B0503020000020004" pitchFamily="50" charset="-127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87A0B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52450" y="552450"/>
            <a:ext cx="17183100" cy="9182100"/>
          </a:xfrm>
          <a:prstGeom prst="roundRect">
            <a:avLst>
              <a:gd name="adj" fmla="val 3734"/>
            </a:avLst>
          </a:prstGeom>
          <a:solidFill>
            <a:srgbClr val="FBF8EF"/>
          </a:solidFill>
          <a:ln/>
          <a:effectLst>
            <a:outerShdw blurRad="857250" dist="381000" dir="5400000" algn="bl" rotWithShape="0">
              <a:srgbClr val="233241">
                <a:alpha val="2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15468600" y="552450"/>
            <a:ext cx="19050" cy="9182100"/>
          </a:xfrm>
          <a:prstGeom prst="rect">
            <a:avLst/>
          </a:prstGeom>
          <a:solidFill>
            <a:srgbClr val="C7BFA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15278100" y="342900"/>
            <a:ext cx="419100" cy="419100"/>
          </a:xfrm>
          <a:prstGeom prst="ellipse">
            <a:avLst/>
          </a:prstGeom>
          <a:solidFill>
            <a:srgbClr val="87A0B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15278100" y="9525000"/>
            <a:ext cx="419100" cy="419100"/>
          </a:xfrm>
          <a:prstGeom prst="ellipse">
            <a:avLst/>
          </a:prstGeom>
          <a:solidFill>
            <a:srgbClr val="87A0B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Shape 6"/>
          <p:cNvSpPr/>
          <p:nvPr/>
        </p:nvSpPr>
        <p:spPr>
          <a:xfrm>
            <a:off x="15887551" y="7943850"/>
            <a:ext cx="1447800" cy="590550"/>
          </a:xfrm>
          <a:prstGeom prst="rect">
            <a:avLst/>
          </a:prstGeom>
          <a:blipFill>
            <a:blip r:embed="rId3"/>
            <a:tile tx="0" ty="0" sx="100000" sy="100000" flip="none" algn="tl"/>
          </a:blip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9" name="Text 7"/>
          <p:cNvSpPr/>
          <p:nvPr/>
        </p:nvSpPr>
        <p:spPr>
          <a:xfrm>
            <a:off x="15796766" y="8705850"/>
            <a:ext cx="1792471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kern="0" spc="324" dirty="0">
                <a:solidFill>
                  <a:srgbClr val="B0AA9B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Space Mono" pitchFamily="34" charset="-120"/>
              </a:rPr>
              <a:t>ADMIT ONE</a:t>
            </a:r>
            <a:endParaRPr lang="en-US" sz="1800" dirty="0">
              <a:latin typeface="맑은 고딕" panose="020B0503020000020004" pitchFamily="50" charset="-127"/>
            </a:endParaRPr>
          </a:p>
        </p:txBody>
      </p:sp>
      <p:sp>
        <p:nvSpPr>
          <p:cNvPr id="10" name="Text 8"/>
          <p:cNvSpPr/>
          <p:nvPr/>
        </p:nvSpPr>
        <p:spPr>
          <a:xfrm>
            <a:off x="1352550" y="1276350"/>
            <a:ext cx="4045134" cy="4286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2550" i="1" kern="0" spc="408" dirty="0">
                <a:solidFill>
                  <a:srgbClr val="8AA6C0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Cormorant Garamond" pitchFamily="34" charset="-120"/>
              </a:rPr>
              <a:t>Travel Overview</a:t>
            </a:r>
            <a:endParaRPr lang="en-US" sz="2550" dirty="0">
              <a:latin typeface="맑은 고딕" panose="020B0503020000020004" pitchFamily="50" charset="-127"/>
            </a:endParaRPr>
          </a:p>
        </p:txBody>
      </p:sp>
      <p:sp>
        <p:nvSpPr>
          <p:cNvPr id="11" name="Text 9"/>
          <p:cNvSpPr/>
          <p:nvPr/>
        </p:nvSpPr>
        <p:spPr>
          <a:xfrm>
            <a:off x="1352549" y="1762125"/>
            <a:ext cx="4337893" cy="8953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buNone/>
            </a:pPr>
            <a:r>
              <a:rPr lang="en-US" sz="5400" b="1" dirty="0">
                <a:solidFill>
                  <a:srgbClr val="4A4A4A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Black Han Sans" pitchFamily="34" charset="-120"/>
              </a:rPr>
              <a:t>프로젝트 개요</a:t>
            </a:r>
            <a:endParaRPr lang="en-US" sz="5400" b="1" dirty="0">
              <a:latin typeface="맑은 고딕" panose="020B0503020000020004" pitchFamily="50" charset="-127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13629531" y="1276350"/>
            <a:ext cx="1134219" cy="4000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950" b="1" kern="0" spc="195" dirty="0">
                <a:solidFill>
                  <a:srgbClr val="A9A395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Space Mono" pitchFamily="34" charset="-120"/>
              </a:rPr>
              <a:t>No. 03</a:t>
            </a:r>
            <a:endParaRPr lang="en-US" sz="1950" b="1" dirty="0">
              <a:latin typeface="맑은 고딕" panose="020B0503020000020004" pitchFamily="50" charset="-127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1352550" y="3076575"/>
            <a:ext cx="12276981" cy="122961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36000"/>
              </a:lnSpc>
              <a:buNone/>
            </a:pPr>
            <a:r>
              <a:rPr lang="en-US" sz="3450" dirty="0">
                <a:solidFill>
                  <a:srgbClr val="4A4A4A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retendard" pitchFamily="34" charset="-120"/>
              </a:rPr>
              <a:t>국내 여행에 특화된, </a:t>
            </a:r>
            <a:r>
              <a:rPr lang="en-US" sz="3450" b="1" dirty="0">
                <a:solidFill>
                  <a:srgbClr val="4A4A4A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retendard" pitchFamily="34" charset="-120"/>
              </a:rPr>
              <a:t>함께 계획하고 함께 </a:t>
            </a:r>
            <a:r>
              <a:rPr lang="en-US" sz="3450" b="1" dirty="0" err="1">
                <a:solidFill>
                  <a:srgbClr val="4A4A4A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retendard" pitchFamily="34" charset="-120"/>
              </a:rPr>
              <a:t>정산하는</a:t>
            </a:r>
            <a:r>
              <a:rPr lang="en-US" sz="3450" b="1" dirty="0">
                <a:solidFill>
                  <a:srgbClr val="4A4A4A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retendard" pitchFamily="34" charset="-120"/>
              </a:rPr>
              <a:t> </a:t>
            </a:r>
          </a:p>
          <a:p>
            <a:pPr marL="0" indent="0" algn="l">
              <a:lnSpc>
                <a:spcPct val="136000"/>
              </a:lnSpc>
              <a:buNone/>
            </a:pPr>
            <a:r>
              <a:rPr lang="en-US" sz="3450" dirty="0" err="1">
                <a:solidFill>
                  <a:srgbClr val="4A4A4A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retendard" pitchFamily="34" charset="-120"/>
              </a:rPr>
              <a:t>그룹</a:t>
            </a:r>
            <a:r>
              <a:rPr lang="en-US" sz="3450" dirty="0">
                <a:solidFill>
                  <a:srgbClr val="4A4A4A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retendard" pitchFamily="34" charset="-120"/>
              </a:rPr>
              <a:t> 여행 협업 플랫폼</a:t>
            </a:r>
            <a:endParaRPr lang="en-US" sz="3450" dirty="0">
              <a:latin typeface="맑은 고딕" panose="020B0503020000020004" pitchFamily="50" charset="-127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1352550" y="6962775"/>
            <a:ext cx="3766393" cy="2047875"/>
          </a:xfrm>
          <a:prstGeom prst="roundRect">
            <a:avLst>
              <a:gd name="adj" fmla="val 9302"/>
            </a:avLst>
          </a:prstGeom>
          <a:solidFill>
            <a:srgbClr val="ECE9D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3"/>
          <p:cNvSpPr/>
          <p:nvPr/>
        </p:nvSpPr>
        <p:spPr>
          <a:xfrm>
            <a:off x="1695450" y="7286625"/>
            <a:ext cx="3388653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kern="0" spc="288" dirty="0">
                <a:solidFill>
                  <a:srgbClr val="9A9486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Space Mono" pitchFamily="34" charset="-120"/>
              </a:rPr>
              <a:t>BENCHMARK</a:t>
            </a:r>
            <a:endParaRPr lang="en-US" sz="1800" dirty="0">
              <a:latin typeface="맑은 고딕" panose="020B0503020000020004" pitchFamily="50" charset="-127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2454094" y="7714173"/>
            <a:ext cx="2248996" cy="590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3450" dirty="0">
                <a:solidFill>
                  <a:srgbClr val="4A4A4A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Black Han Sans" pitchFamily="34" charset="-120"/>
              </a:rPr>
              <a:t>Wanderlog</a:t>
            </a:r>
            <a:endParaRPr lang="en-US" sz="3450" dirty="0">
              <a:latin typeface="맑은 고딕" panose="020B0503020000020004" pitchFamily="50" charset="-127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2266964" y="8393652"/>
            <a:ext cx="3388653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950" dirty="0">
                <a:solidFill>
                  <a:srgbClr val="8C887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retendard" pitchFamily="34" charset="-120"/>
              </a:rPr>
              <a:t>여행 일정 협업 앱</a:t>
            </a:r>
            <a:endParaRPr lang="en-US" sz="1950" dirty="0">
              <a:latin typeface="맑은 고딕" panose="020B0503020000020004" pitchFamily="50" charset="-127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5690443" y="7762875"/>
            <a:ext cx="3388816" cy="590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endParaRPr lang="en-US" sz="3450" dirty="0">
              <a:latin typeface="맑은 고딕" panose="020B0503020000020004" pitchFamily="50" charset="-127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5964733" y="6962775"/>
            <a:ext cx="8722817" cy="2047875"/>
          </a:xfrm>
          <a:prstGeom prst="roundRect">
            <a:avLst>
              <a:gd name="adj" fmla="val 9302"/>
            </a:avLst>
          </a:prstGeom>
          <a:solidFill>
            <a:srgbClr val="FBF8EF"/>
          </a:solidFill>
          <a:ln w="19050">
            <a:solidFill>
              <a:srgbClr val="C7BFA9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Text 21"/>
          <p:cNvSpPr/>
          <p:nvPr/>
        </p:nvSpPr>
        <p:spPr>
          <a:xfrm>
            <a:off x="6268978" y="7100641"/>
            <a:ext cx="5083061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b="1" kern="0" spc="288" dirty="0">
                <a:solidFill>
                  <a:srgbClr val="8AA6C0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Space Mono" pitchFamily="34" charset="-120"/>
              </a:rPr>
              <a:t>VALUE</a:t>
            </a:r>
            <a:endParaRPr lang="en-US" b="1" dirty="0">
              <a:latin typeface="맑은 고딕" panose="020B0503020000020004" pitchFamily="50" charset="-127"/>
            </a:endParaRPr>
          </a:p>
        </p:txBody>
      </p:sp>
      <p:sp>
        <p:nvSpPr>
          <p:cNvPr id="24" name="Text 22"/>
          <p:cNvSpPr/>
          <p:nvPr/>
        </p:nvSpPr>
        <p:spPr>
          <a:xfrm>
            <a:off x="6856460" y="7810780"/>
            <a:ext cx="6939362" cy="49473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85000" lnSpcReduction="10000"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2700" b="1" i="1" dirty="0">
                <a:solidFill>
                  <a:srgbClr val="4A4A4A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Cormorant Garamond" pitchFamily="34" charset="-120"/>
              </a:rPr>
              <a:t>흩어진 단톡방 여행 계획을, </a:t>
            </a:r>
            <a:r>
              <a:rPr lang="ko-KR" altLang="en-US" sz="2700" b="1" i="1" dirty="0">
                <a:solidFill>
                  <a:srgbClr val="4A4A4A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Cormorant Garamond" pitchFamily="34" charset="-120"/>
              </a:rPr>
              <a:t>하나로 모아서  해결 </a:t>
            </a:r>
            <a:r>
              <a:rPr lang="en-US" altLang="ko-KR" sz="2700" b="1" i="1" dirty="0">
                <a:solidFill>
                  <a:srgbClr val="4A4A4A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Cormorant Garamond" pitchFamily="34" charset="-120"/>
              </a:rPr>
              <a:t>~</a:t>
            </a:r>
            <a:endParaRPr lang="en-US" sz="2700" dirty="0">
              <a:latin typeface="맑은 고딕" panose="020B0503020000020004" pitchFamily="50" charset="-127"/>
            </a:endParaRPr>
          </a:p>
        </p:txBody>
      </p:sp>
      <p:pic>
        <p:nvPicPr>
          <p:cNvPr id="1026" name="Picture 2" descr="Change color and icon of map markers – Wanderlog App Help Center">
            <a:extLst>
              <a:ext uri="{FF2B5EF4-FFF2-40B4-BE49-F238E27FC236}">
                <a16:creationId xmlns:a16="http://schemas.microsoft.com/office/drawing/2014/main" id="{F4D367E9-AE2E-4DAD-B50F-754A92867CD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67619" y="7757629"/>
            <a:ext cx="458165" cy="4581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6" name="Text 4">
            <a:extLst>
              <a:ext uri="{FF2B5EF4-FFF2-40B4-BE49-F238E27FC236}">
                <a16:creationId xmlns:a16="http://schemas.microsoft.com/office/drawing/2014/main" id="{83878738-E781-4460-A63F-953655D13A42}"/>
              </a:ext>
            </a:extLst>
          </p:cNvPr>
          <p:cNvSpPr/>
          <p:nvPr/>
        </p:nvSpPr>
        <p:spPr>
          <a:xfrm>
            <a:off x="15830996" y="1238250"/>
            <a:ext cx="1561207" cy="723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800" kern="0" spc="360" dirty="0">
                <a:solidFill>
                  <a:srgbClr val="B0AA9B"/>
                </a:solidFill>
                <a:latin typeface="맑은 고딕" panose="020B0503020000020004" pitchFamily="50" charset="-127"/>
                <a:ea typeface="Microsoft YaHei" panose="020B0503020204020204" pitchFamily="34" charset="-122"/>
                <a:cs typeface="Arial" panose="020B0604020202020204" pitchFamily="34" charset="0"/>
              </a:rPr>
              <a:t>BOARDING</a:t>
            </a:r>
          </a:p>
          <a:p>
            <a:pPr marL="0" indent="0" algn="ctr">
              <a:lnSpc>
                <a:spcPct val="150000"/>
              </a:lnSpc>
              <a:buNone/>
            </a:pPr>
            <a:r>
              <a:rPr lang="en-US" sz="1800" kern="0" spc="360" dirty="0">
                <a:solidFill>
                  <a:srgbClr val="B0AA9B"/>
                </a:solidFill>
                <a:latin typeface="맑은 고딕" panose="020B0503020000020004" pitchFamily="50" charset="-127"/>
                <a:ea typeface="Microsoft YaHei" panose="020B0503020204020204" pitchFamily="34" charset="-122"/>
                <a:cs typeface="Arial" panose="020B0604020202020204" pitchFamily="34" charset="0"/>
              </a:rPr>
              <a:t>PASS</a:t>
            </a:r>
            <a:endParaRPr lang="en-US" sz="1800" dirty="0">
              <a:latin typeface="맑은 고딕" panose="020B0503020000020004" pitchFamily="50" charset="-127"/>
              <a:cs typeface="Arial" panose="020B0604020202020204" pitchFamily="34" charset="0"/>
            </a:endParaRPr>
          </a:p>
        </p:txBody>
      </p:sp>
      <p:sp>
        <p:nvSpPr>
          <p:cNvPr id="25" name="Text 5">
            <a:extLst>
              <a:ext uri="{FF2B5EF4-FFF2-40B4-BE49-F238E27FC236}">
                <a16:creationId xmlns:a16="http://schemas.microsoft.com/office/drawing/2014/main" id="{5CA4AA45-34A5-44A2-8A7C-6BEFFA09F622}"/>
              </a:ext>
            </a:extLst>
          </p:cNvPr>
          <p:cNvSpPr/>
          <p:nvPr/>
        </p:nvSpPr>
        <p:spPr>
          <a:xfrm rot="10800000">
            <a:off x="16373475" y="3166533"/>
            <a:ext cx="552450" cy="3055822"/>
          </a:xfrm>
          <a:prstGeom prst="rect">
            <a:avLst/>
          </a:prstGeom>
          <a:noFill/>
          <a:ln/>
        </p:spPr>
        <p:txBody>
          <a:bodyPr vert="eaVert"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3150" b="1" i="1" kern="0" spc="504" dirty="0">
                <a:solidFill>
                  <a:srgbClr val="4A4A4A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Georgia" pitchFamily="34" charset="-120"/>
              </a:rPr>
              <a:t>GROUTRIP</a:t>
            </a:r>
            <a:endParaRPr lang="en-US" sz="3150" dirty="0">
              <a:latin typeface="맑은 고딕" panose="020B0503020000020004" pitchFamily="50" charset="-127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87A0B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52450" y="552450"/>
            <a:ext cx="17183100" cy="9182100"/>
          </a:xfrm>
          <a:prstGeom prst="roundRect">
            <a:avLst>
              <a:gd name="adj" fmla="val 3734"/>
            </a:avLst>
          </a:prstGeom>
          <a:solidFill>
            <a:srgbClr val="FBF8EF"/>
          </a:solidFill>
          <a:ln/>
          <a:effectLst>
            <a:outerShdw blurRad="857250" dist="381000" dir="5400000" algn="bl" rotWithShape="0">
              <a:srgbClr val="233241">
                <a:alpha val="2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590550" y="214843"/>
            <a:ext cx="17183100" cy="9182100"/>
          </a:xfrm>
          <a:prstGeom prst="rect">
            <a:avLst/>
          </a:prstGeom>
          <a:gradFill rotWithShape="1">
            <a:gsLst>
              <a:gs pos="0">
                <a:srgbClr val="8AA6C0">
                  <a:alpha val="9000"/>
                </a:srgbClr>
              </a:gs>
              <a:gs pos="100000">
                <a:srgbClr val="8AA6C0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15468600" y="552450"/>
            <a:ext cx="19050" cy="9182100"/>
          </a:xfrm>
          <a:prstGeom prst="rect">
            <a:avLst/>
          </a:prstGeom>
          <a:solidFill>
            <a:srgbClr val="C7BFA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15278100" y="342900"/>
            <a:ext cx="419100" cy="419100"/>
          </a:xfrm>
          <a:prstGeom prst="ellipse">
            <a:avLst/>
          </a:prstGeom>
          <a:solidFill>
            <a:srgbClr val="87A0B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15278100" y="9525000"/>
            <a:ext cx="419100" cy="419100"/>
          </a:xfrm>
          <a:prstGeom prst="ellipse">
            <a:avLst/>
          </a:prstGeom>
          <a:solidFill>
            <a:srgbClr val="87A0B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9" name="Shape 7"/>
          <p:cNvSpPr/>
          <p:nvPr/>
        </p:nvSpPr>
        <p:spPr>
          <a:xfrm>
            <a:off x="15887551" y="7943850"/>
            <a:ext cx="1447800" cy="590550"/>
          </a:xfrm>
          <a:prstGeom prst="rect">
            <a:avLst/>
          </a:prstGeom>
          <a:blipFill>
            <a:blip r:embed="rId3"/>
            <a:tile tx="0" ty="0" sx="100000" sy="100000" flip="none" algn="tl"/>
          </a:blip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/>
          <p:cNvSpPr/>
          <p:nvPr/>
        </p:nvSpPr>
        <p:spPr>
          <a:xfrm>
            <a:off x="15796766" y="8705850"/>
            <a:ext cx="1792471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kern="0" spc="324" dirty="0">
                <a:solidFill>
                  <a:srgbClr val="B0AA9B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Space Mono" pitchFamily="34" charset="-120"/>
              </a:rPr>
              <a:t>ADMIT ONE</a:t>
            </a:r>
            <a:endParaRPr lang="en-US" sz="1800" dirty="0">
              <a:latin typeface="맑은 고딕" panose="020B0503020000020004" pitchFamily="50" charset="-127"/>
            </a:endParaRPr>
          </a:p>
        </p:txBody>
      </p:sp>
      <p:sp>
        <p:nvSpPr>
          <p:cNvPr id="11" name="Text 9"/>
          <p:cNvSpPr/>
          <p:nvPr/>
        </p:nvSpPr>
        <p:spPr>
          <a:xfrm>
            <a:off x="1352550" y="1276350"/>
            <a:ext cx="7221781" cy="4286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2550" i="1" kern="0" spc="408" dirty="0">
                <a:solidFill>
                  <a:srgbClr val="8AA6C0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Cormorant Garamond" pitchFamily="34" charset="-120"/>
              </a:rPr>
              <a:t>The Problem</a:t>
            </a:r>
            <a:endParaRPr lang="en-US" sz="2550" dirty="0">
              <a:latin typeface="맑은 고딕" panose="020B0503020000020004" pitchFamily="50" charset="-127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1352550" y="1762125"/>
            <a:ext cx="7742039" cy="8953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buNone/>
            </a:pPr>
            <a:r>
              <a:rPr lang="en-US" sz="5400" b="1" dirty="0">
                <a:solidFill>
                  <a:srgbClr val="4A4A4A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Black Han Sans" pitchFamily="34" charset="-120"/>
              </a:rPr>
              <a:t>그룹 여행의 세 가지 불편</a:t>
            </a:r>
            <a:endParaRPr lang="en-US" sz="5400" b="1" dirty="0">
              <a:latin typeface="맑은 고딕" panose="020B0503020000020004" pitchFamily="50" charset="-127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13629531" y="1276350"/>
            <a:ext cx="1134219" cy="4000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950" b="1" kern="0" spc="195" dirty="0">
                <a:solidFill>
                  <a:srgbClr val="A9A395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Space Mono" pitchFamily="34" charset="-120"/>
              </a:rPr>
              <a:t>No. 04</a:t>
            </a:r>
            <a:endParaRPr lang="en-US" sz="1950" b="1" dirty="0">
              <a:latin typeface="맑은 고딕" panose="020B0503020000020004" pitchFamily="50" charset="-127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1352550" y="4034368"/>
            <a:ext cx="4610100" cy="838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6300" b="1" i="1" dirty="0">
                <a:solidFill>
                  <a:srgbClr val="D7D2C4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Bitter" pitchFamily="34" charset="-120"/>
              </a:rPr>
              <a:t>01</a:t>
            </a:r>
            <a:endParaRPr lang="en-US" sz="6300" dirty="0">
              <a:latin typeface="맑은 고딕" panose="020B0503020000020004" pitchFamily="50" charset="-127"/>
            </a:endParaRPr>
          </a:p>
        </p:txBody>
      </p:sp>
      <p:sp>
        <p:nvSpPr>
          <p:cNvPr id="15" name="Shape 13"/>
          <p:cNvSpPr/>
          <p:nvPr/>
        </p:nvSpPr>
        <p:spPr>
          <a:xfrm>
            <a:off x="1390650" y="5498571"/>
            <a:ext cx="2441972" cy="19050"/>
          </a:xfrm>
          <a:prstGeom prst="rect">
            <a:avLst/>
          </a:prstGeom>
          <a:solidFill>
            <a:srgbClr val="B7AF9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6" name="Text 14"/>
          <p:cNvSpPr/>
          <p:nvPr/>
        </p:nvSpPr>
        <p:spPr>
          <a:xfrm>
            <a:off x="1352550" y="4972052"/>
            <a:ext cx="2518172" cy="5143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300" dirty="0">
                <a:solidFill>
                  <a:srgbClr val="4A4A4A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Black Han Sans" pitchFamily="34" charset="-120"/>
              </a:rPr>
              <a:t>의견이 안 모인다</a:t>
            </a:r>
            <a:endParaRPr lang="en-US" sz="2300" dirty="0">
              <a:latin typeface="맑은 고딕" panose="020B0503020000020004" pitchFamily="50" charset="-127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1352550" y="6374079"/>
            <a:ext cx="4316730" cy="838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2100" dirty="0">
                <a:solidFill>
                  <a:srgbClr val="6B6965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retendard" pitchFamily="34" charset="-120"/>
              </a:rPr>
              <a:t>“어디 갈래?” 단톡방에 흩어지는 의견,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2100" dirty="0" err="1">
                <a:solidFill>
                  <a:srgbClr val="6B6965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retendard" pitchFamily="34" charset="-120"/>
              </a:rPr>
              <a:t>결정은</a:t>
            </a:r>
            <a:r>
              <a:rPr lang="en-US" sz="2100" dirty="0">
                <a:solidFill>
                  <a:srgbClr val="6B6965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retendard" pitchFamily="34" charset="-120"/>
              </a:rPr>
              <a:t> 늘 뒤로 밀린다.</a:t>
            </a:r>
            <a:endParaRPr lang="en-US" sz="2100" dirty="0">
              <a:solidFill>
                <a:srgbClr val="6B6965"/>
              </a:solidFill>
              <a:latin typeface="맑은 고딕" panose="020B0503020000020004" pitchFamily="50" charset="-127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5924550" y="4034368"/>
            <a:ext cx="4610100" cy="838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6300" b="1" i="1" dirty="0">
                <a:solidFill>
                  <a:srgbClr val="D7D2C4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Bitter" pitchFamily="34" charset="-120"/>
              </a:rPr>
              <a:t>02</a:t>
            </a:r>
            <a:endParaRPr lang="en-US" sz="6300" dirty="0">
              <a:latin typeface="맑은 고딕" panose="020B0503020000020004" pitchFamily="50" charset="-127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5923508" y="5517621"/>
            <a:ext cx="3170039" cy="19050"/>
          </a:xfrm>
          <a:prstGeom prst="rect">
            <a:avLst/>
          </a:prstGeom>
          <a:solidFill>
            <a:srgbClr val="B7AF9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0" name="Text 18"/>
          <p:cNvSpPr/>
          <p:nvPr/>
        </p:nvSpPr>
        <p:spPr>
          <a:xfrm>
            <a:off x="5924550" y="4972052"/>
            <a:ext cx="3265140" cy="6000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300" dirty="0">
                <a:solidFill>
                  <a:srgbClr val="4A4A4A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Black Han Sans" pitchFamily="34" charset="-120"/>
              </a:rPr>
              <a:t>일정·장소가 흩어진다</a:t>
            </a:r>
            <a:endParaRPr lang="en-US" sz="2300" dirty="0">
              <a:latin typeface="맑은 고딕" panose="020B0503020000020004" pitchFamily="50" charset="-127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5924550" y="6372225"/>
            <a:ext cx="4316730" cy="838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2100" dirty="0">
                <a:solidFill>
                  <a:srgbClr val="807E78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retendard" pitchFamily="34" charset="-120"/>
              </a:rPr>
              <a:t>메모앱·지도·캡처에 </a:t>
            </a:r>
            <a:r>
              <a:rPr lang="en-US" sz="2100" dirty="0" err="1">
                <a:solidFill>
                  <a:srgbClr val="807E78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retendard" pitchFamily="34" charset="-120"/>
              </a:rPr>
              <a:t>따로</a:t>
            </a:r>
            <a:r>
              <a:rPr lang="en-US" sz="2100" dirty="0">
                <a:solidFill>
                  <a:srgbClr val="807E78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retendard" pitchFamily="34" charset="-120"/>
              </a:rPr>
              <a:t> </a:t>
            </a:r>
            <a:r>
              <a:rPr lang="en-US" sz="2100" dirty="0" err="1">
                <a:solidFill>
                  <a:srgbClr val="807E78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retendard" pitchFamily="34" charset="-120"/>
              </a:rPr>
              <a:t>저장</a:t>
            </a:r>
            <a:r>
              <a:rPr lang="ko-KR" altLang="en-US" sz="2100" dirty="0">
                <a:solidFill>
                  <a:srgbClr val="807E78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retendard" pitchFamily="34" charset="-120"/>
              </a:rPr>
              <a:t>돼</a:t>
            </a:r>
            <a:r>
              <a:rPr lang="en-US" sz="2100" dirty="0">
                <a:solidFill>
                  <a:srgbClr val="807E78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retendard" pitchFamily="34" charset="-120"/>
              </a:rPr>
              <a:t>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2100" dirty="0" err="1">
                <a:solidFill>
                  <a:srgbClr val="807E78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retendard" pitchFamily="34" charset="-120"/>
              </a:rPr>
              <a:t>한눈에</a:t>
            </a:r>
            <a:r>
              <a:rPr lang="en-US" sz="2100" dirty="0">
                <a:solidFill>
                  <a:srgbClr val="807E78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retendard" pitchFamily="34" charset="-120"/>
              </a:rPr>
              <a:t> 보이지 않는다.</a:t>
            </a:r>
            <a:endParaRPr lang="en-US" sz="2100" dirty="0">
              <a:solidFill>
                <a:srgbClr val="807E78"/>
              </a:solidFill>
              <a:latin typeface="맑은 고딕" panose="020B0503020000020004" pitchFamily="50" charset="-127"/>
            </a:endParaRPr>
          </a:p>
        </p:txBody>
      </p:sp>
      <p:sp>
        <p:nvSpPr>
          <p:cNvPr id="22" name="Text 20"/>
          <p:cNvSpPr/>
          <p:nvPr/>
        </p:nvSpPr>
        <p:spPr>
          <a:xfrm>
            <a:off x="10496550" y="4034368"/>
            <a:ext cx="4610100" cy="838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6300" b="1" i="1" dirty="0">
                <a:solidFill>
                  <a:srgbClr val="D7D2C4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Bitter" pitchFamily="34" charset="-120"/>
              </a:rPr>
              <a:t>03</a:t>
            </a:r>
            <a:endParaRPr lang="en-US" sz="6300" dirty="0">
              <a:latin typeface="맑은 고딕" panose="020B0503020000020004" pitchFamily="50" charset="-127"/>
            </a:endParaRPr>
          </a:p>
        </p:txBody>
      </p:sp>
      <p:sp>
        <p:nvSpPr>
          <p:cNvPr id="23" name="Shape 21"/>
          <p:cNvSpPr/>
          <p:nvPr/>
        </p:nvSpPr>
        <p:spPr>
          <a:xfrm>
            <a:off x="10496550" y="5527146"/>
            <a:ext cx="2007245" cy="19050"/>
          </a:xfrm>
          <a:prstGeom prst="rect">
            <a:avLst/>
          </a:prstGeom>
          <a:solidFill>
            <a:srgbClr val="B7AF9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4" name="Text 22"/>
          <p:cNvSpPr/>
          <p:nvPr/>
        </p:nvSpPr>
        <p:spPr>
          <a:xfrm>
            <a:off x="10458449" y="5050898"/>
            <a:ext cx="2083445" cy="5143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77500" lnSpcReduction="20000"/>
          </a:bodyPr>
          <a:lstStyle/>
          <a:p>
            <a:pPr marL="0" indent="0" algn="l">
              <a:buNone/>
            </a:pPr>
            <a:r>
              <a:rPr lang="en-US" sz="3000" dirty="0">
                <a:solidFill>
                  <a:srgbClr val="4A4A4A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Black Han Sans" pitchFamily="34" charset="-120"/>
              </a:rPr>
              <a:t>정산이 귀찮다</a:t>
            </a:r>
            <a:endParaRPr lang="en-US" sz="3000" dirty="0">
              <a:latin typeface="맑은 고딕" panose="020B0503020000020004" pitchFamily="50" charset="-127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10496550" y="6374079"/>
            <a:ext cx="4316730" cy="838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2100" dirty="0">
                <a:solidFill>
                  <a:srgbClr val="807E78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retendard" pitchFamily="34" charset="-120"/>
              </a:rPr>
              <a:t>누가 얼마 냈는지 계산기를 </a:t>
            </a:r>
            <a:r>
              <a:rPr lang="en-US" sz="2100" dirty="0" err="1">
                <a:solidFill>
                  <a:srgbClr val="807E78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retendard" pitchFamily="34" charset="-120"/>
              </a:rPr>
              <a:t>두드리며</a:t>
            </a:r>
            <a:r>
              <a:rPr lang="en-US" sz="2100" dirty="0">
                <a:solidFill>
                  <a:srgbClr val="807E78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retendard" pitchFamily="34" charset="-120"/>
              </a:rPr>
              <a:t>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2100" dirty="0" err="1">
                <a:solidFill>
                  <a:srgbClr val="807E78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retendard" pitchFamily="34" charset="-120"/>
              </a:rPr>
              <a:t>엑셀로</a:t>
            </a:r>
            <a:r>
              <a:rPr lang="en-US" sz="2100" dirty="0">
                <a:solidFill>
                  <a:srgbClr val="807E78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retendard" pitchFamily="34" charset="-120"/>
              </a:rPr>
              <a:t> 정산한다.</a:t>
            </a:r>
            <a:endParaRPr lang="en-US" sz="2100" dirty="0">
              <a:solidFill>
                <a:srgbClr val="807E78"/>
              </a:solidFill>
              <a:latin typeface="맑은 고딕" panose="020B0503020000020004" pitchFamily="50" charset="-127"/>
            </a:endParaRPr>
          </a:p>
        </p:txBody>
      </p:sp>
      <p:sp>
        <p:nvSpPr>
          <p:cNvPr id="27" name="Text 4">
            <a:extLst>
              <a:ext uri="{FF2B5EF4-FFF2-40B4-BE49-F238E27FC236}">
                <a16:creationId xmlns:a16="http://schemas.microsoft.com/office/drawing/2014/main" id="{D9DD9950-D1CF-4A8F-82D9-A05922157D34}"/>
              </a:ext>
            </a:extLst>
          </p:cNvPr>
          <p:cNvSpPr/>
          <p:nvPr/>
        </p:nvSpPr>
        <p:spPr>
          <a:xfrm>
            <a:off x="15830996" y="1238250"/>
            <a:ext cx="1561207" cy="723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800" kern="0" spc="360" dirty="0">
                <a:solidFill>
                  <a:srgbClr val="B0AA9B"/>
                </a:solidFill>
                <a:latin typeface="맑은 고딕" panose="020B0503020000020004" pitchFamily="50" charset="-127"/>
                <a:ea typeface="Microsoft YaHei" panose="020B0503020204020204" pitchFamily="34" charset="-122"/>
                <a:cs typeface="Arial" panose="020B0604020202020204" pitchFamily="34" charset="0"/>
              </a:rPr>
              <a:t>BOARDING</a:t>
            </a:r>
          </a:p>
          <a:p>
            <a:pPr marL="0" indent="0" algn="ctr">
              <a:lnSpc>
                <a:spcPct val="150000"/>
              </a:lnSpc>
              <a:buNone/>
            </a:pPr>
            <a:r>
              <a:rPr lang="en-US" sz="1800" kern="0" spc="360" dirty="0">
                <a:solidFill>
                  <a:srgbClr val="B0AA9B"/>
                </a:solidFill>
                <a:latin typeface="맑은 고딕" panose="020B0503020000020004" pitchFamily="50" charset="-127"/>
                <a:ea typeface="Microsoft YaHei" panose="020B0503020204020204" pitchFamily="34" charset="-122"/>
                <a:cs typeface="Arial" panose="020B0604020202020204" pitchFamily="34" charset="0"/>
              </a:rPr>
              <a:t>PASS</a:t>
            </a:r>
            <a:endParaRPr lang="en-US" sz="1800" dirty="0">
              <a:latin typeface="맑은 고딕" panose="020B0503020000020004" pitchFamily="50" charset="-127"/>
              <a:cs typeface="Arial" panose="020B0604020202020204" pitchFamily="34" charset="0"/>
            </a:endParaRPr>
          </a:p>
        </p:txBody>
      </p:sp>
      <p:sp>
        <p:nvSpPr>
          <p:cNvPr id="26" name="Text 5">
            <a:extLst>
              <a:ext uri="{FF2B5EF4-FFF2-40B4-BE49-F238E27FC236}">
                <a16:creationId xmlns:a16="http://schemas.microsoft.com/office/drawing/2014/main" id="{20803903-DDC1-47BF-83DC-43FC83E5F520}"/>
              </a:ext>
            </a:extLst>
          </p:cNvPr>
          <p:cNvSpPr/>
          <p:nvPr/>
        </p:nvSpPr>
        <p:spPr>
          <a:xfrm rot="10800000">
            <a:off x="16373475" y="3166533"/>
            <a:ext cx="552450" cy="3055822"/>
          </a:xfrm>
          <a:prstGeom prst="rect">
            <a:avLst/>
          </a:prstGeom>
          <a:noFill/>
          <a:ln/>
        </p:spPr>
        <p:txBody>
          <a:bodyPr vert="eaVert"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3150" b="1" i="1" kern="0" spc="504" dirty="0">
                <a:solidFill>
                  <a:srgbClr val="4A4A4A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Georgia" pitchFamily="34" charset="-120"/>
              </a:rPr>
              <a:t>GROUTRIP</a:t>
            </a:r>
            <a:endParaRPr lang="en-US" sz="3150" dirty="0">
              <a:latin typeface="맑은 고딕" panose="020B0503020000020004" pitchFamily="50" charset="-127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87A0B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52450" y="552450"/>
            <a:ext cx="17183100" cy="9182100"/>
          </a:xfrm>
          <a:prstGeom prst="roundRect">
            <a:avLst>
              <a:gd name="adj" fmla="val 3734"/>
            </a:avLst>
          </a:prstGeom>
          <a:solidFill>
            <a:srgbClr val="FBF8EF"/>
          </a:solidFill>
          <a:ln/>
          <a:effectLst>
            <a:outerShdw blurRad="857250" dist="381000" dir="5400000" algn="bl" rotWithShape="0">
              <a:srgbClr val="233241">
                <a:alpha val="2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15468600" y="552450"/>
            <a:ext cx="19050" cy="9182100"/>
          </a:xfrm>
          <a:prstGeom prst="rect">
            <a:avLst/>
          </a:prstGeom>
          <a:solidFill>
            <a:srgbClr val="C7BFA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15278100" y="342900"/>
            <a:ext cx="419100" cy="419100"/>
          </a:xfrm>
          <a:prstGeom prst="ellipse">
            <a:avLst/>
          </a:prstGeom>
          <a:solidFill>
            <a:srgbClr val="87A0B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15278100" y="9525000"/>
            <a:ext cx="419100" cy="419100"/>
          </a:xfrm>
          <a:prstGeom prst="ellipse">
            <a:avLst/>
          </a:prstGeom>
          <a:solidFill>
            <a:srgbClr val="87A0B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Shape 6"/>
          <p:cNvSpPr/>
          <p:nvPr/>
        </p:nvSpPr>
        <p:spPr>
          <a:xfrm>
            <a:off x="15887551" y="7943850"/>
            <a:ext cx="1447800" cy="590550"/>
          </a:xfrm>
          <a:prstGeom prst="rect">
            <a:avLst/>
          </a:prstGeom>
          <a:blipFill>
            <a:blip r:embed="rId3"/>
            <a:tile tx="0" ty="0" sx="100000" sy="100000" flip="none" algn="tl"/>
          </a:blip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9" name="Text 7"/>
          <p:cNvSpPr/>
          <p:nvPr/>
        </p:nvSpPr>
        <p:spPr>
          <a:xfrm>
            <a:off x="15796766" y="8705850"/>
            <a:ext cx="1792471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kern="0" spc="324" dirty="0">
                <a:solidFill>
                  <a:srgbClr val="B0AA9B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Space Mono" pitchFamily="34" charset="-120"/>
              </a:rPr>
              <a:t>ADMIT ONE</a:t>
            </a:r>
            <a:endParaRPr lang="en-US" sz="1800" dirty="0">
              <a:latin typeface="맑은 고딕" panose="020B0503020000020004" pitchFamily="50" charset="-127"/>
            </a:endParaRPr>
          </a:p>
        </p:txBody>
      </p:sp>
      <p:sp>
        <p:nvSpPr>
          <p:cNvPr id="10" name="Text 8"/>
          <p:cNvSpPr/>
          <p:nvPr/>
        </p:nvSpPr>
        <p:spPr>
          <a:xfrm>
            <a:off x="1352550" y="1276350"/>
            <a:ext cx="8254469" cy="4286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2550" i="1" kern="0" spc="408" dirty="0">
                <a:solidFill>
                  <a:srgbClr val="8AA6C0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Cormorant Garamond" pitchFamily="34" charset="-120"/>
              </a:rPr>
              <a:t>Who &amp; When</a:t>
            </a:r>
            <a:endParaRPr lang="en-US" sz="2550" dirty="0">
              <a:latin typeface="맑은 고딕" panose="020B0503020000020004" pitchFamily="50" charset="-127"/>
            </a:endParaRPr>
          </a:p>
        </p:txBody>
      </p:sp>
      <p:sp>
        <p:nvSpPr>
          <p:cNvPr id="11" name="Text 9"/>
          <p:cNvSpPr/>
          <p:nvPr/>
        </p:nvSpPr>
        <p:spPr>
          <a:xfrm>
            <a:off x="1352550" y="1762125"/>
            <a:ext cx="8254469" cy="8953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85000" lnSpcReduction="10000"/>
          </a:bodyPr>
          <a:lstStyle/>
          <a:p>
            <a:pPr marL="0" indent="0" algn="l">
              <a:buNone/>
            </a:pPr>
            <a:r>
              <a:rPr lang="en-US" sz="5400" b="1" dirty="0">
                <a:solidFill>
                  <a:srgbClr val="4A4A4A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Black Han Sans" pitchFamily="34" charset="-120"/>
              </a:rPr>
              <a:t>단톡방으로 여행 짜는 사람들</a:t>
            </a:r>
            <a:endParaRPr lang="en-US" sz="5400" b="1" dirty="0">
              <a:latin typeface="맑은 고딕" panose="020B0503020000020004" pitchFamily="50" charset="-127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13629531" y="1276350"/>
            <a:ext cx="1134219" cy="4000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950" b="1" kern="0" spc="195" dirty="0">
                <a:solidFill>
                  <a:srgbClr val="A9A395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Space Mono" pitchFamily="34" charset="-120"/>
              </a:rPr>
              <a:t>No. 05</a:t>
            </a:r>
            <a:endParaRPr lang="en-US" sz="1950" b="1" dirty="0">
              <a:latin typeface="맑은 고딕" panose="020B0503020000020004" pitchFamily="50" charset="-127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1352550" y="3343276"/>
            <a:ext cx="11634186" cy="1104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3000" dirty="0">
                <a:solidFill>
                  <a:srgbClr val="4A4A4A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retendard" pitchFamily="34" charset="-120"/>
              </a:rPr>
              <a:t>여행은 가고 싶지만, 계획은 늘 </a:t>
            </a:r>
            <a:r>
              <a:rPr lang="en-US" sz="3000" b="1" dirty="0">
                <a:solidFill>
                  <a:srgbClr val="4A4A4A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retendard" pitchFamily="34" charset="-120"/>
              </a:rPr>
              <a:t>단톡방에서 멈추는 </a:t>
            </a:r>
            <a:r>
              <a:rPr lang="en-US" sz="3000" dirty="0">
                <a:solidFill>
                  <a:srgbClr val="4A4A4A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retendard" pitchFamily="34" charset="-120"/>
              </a:rPr>
              <a:t>친구·가족·동아리 모임</a:t>
            </a:r>
            <a:endParaRPr lang="en-US" sz="3000" dirty="0">
              <a:latin typeface="맑은 고딕" panose="020B0503020000020004" pitchFamily="50" charset="-127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1352550" y="4695826"/>
            <a:ext cx="1445419" cy="523875"/>
          </a:xfrm>
          <a:prstGeom prst="roundRect">
            <a:avLst>
              <a:gd name="adj" fmla="val 50000"/>
            </a:avLst>
          </a:prstGeom>
          <a:solidFill>
            <a:srgbClr val="8AA6C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3"/>
          <p:cNvSpPr/>
          <p:nvPr/>
        </p:nvSpPr>
        <p:spPr>
          <a:xfrm>
            <a:off x="1600200" y="4800601"/>
            <a:ext cx="1026319" cy="3524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85000" lnSpcReduction="10000"/>
          </a:bodyPr>
          <a:lstStyle/>
          <a:p>
            <a:pPr marL="0" indent="0" algn="l">
              <a:buNone/>
            </a:pPr>
            <a:r>
              <a:rPr lang="en-US" sz="2025" b="1" dirty="0">
                <a:solidFill>
                  <a:srgbClr val="FBF8EF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retendard" pitchFamily="34" charset="-120"/>
              </a:rPr>
              <a:t>친구 여행</a:t>
            </a:r>
            <a:endParaRPr lang="en-US" sz="2025" dirty="0">
              <a:latin typeface="맑은 고딕" panose="020B0503020000020004" pitchFamily="50" charset="-127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2950369" y="4695826"/>
            <a:ext cx="1445419" cy="523875"/>
          </a:xfrm>
          <a:prstGeom prst="roundRect">
            <a:avLst>
              <a:gd name="adj" fmla="val 50000"/>
            </a:avLst>
          </a:prstGeom>
          <a:solidFill>
            <a:srgbClr val="8AA6C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5"/>
          <p:cNvSpPr/>
          <p:nvPr/>
        </p:nvSpPr>
        <p:spPr>
          <a:xfrm>
            <a:off x="3198019" y="4800601"/>
            <a:ext cx="1026319" cy="3524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85000" lnSpcReduction="10000"/>
          </a:bodyPr>
          <a:lstStyle/>
          <a:p>
            <a:pPr marL="0" indent="0" algn="l">
              <a:buNone/>
            </a:pPr>
            <a:r>
              <a:rPr lang="en-US" sz="2025" b="1" dirty="0">
                <a:solidFill>
                  <a:srgbClr val="FBF8EF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retendard" pitchFamily="34" charset="-120"/>
              </a:rPr>
              <a:t>가족 여행</a:t>
            </a:r>
            <a:endParaRPr lang="en-US" sz="2025" dirty="0">
              <a:latin typeface="맑은 고딕" panose="020B0503020000020004" pitchFamily="50" charset="-127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4548188" y="4695826"/>
            <a:ext cx="1610023" cy="523875"/>
          </a:xfrm>
          <a:prstGeom prst="roundRect">
            <a:avLst>
              <a:gd name="adj" fmla="val 50000"/>
            </a:avLst>
          </a:prstGeom>
          <a:solidFill>
            <a:srgbClr val="8AA6C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7"/>
          <p:cNvSpPr/>
          <p:nvPr/>
        </p:nvSpPr>
        <p:spPr>
          <a:xfrm>
            <a:off x="4795837" y="4800601"/>
            <a:ext cx="1190923" cy="3524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85000" lnSpcReduction="10000"/>
          </a:bodyPr>
          <a:lstStyle/>
          <a:p>
            <a:pPr marL="0" indent="0" algn="l">
              <a:buNone/>
            </a:pPr>
            <a:r>
              <a:rPr lang="en-US" sz="2025" b="1" dirty="0">
                <a:solidFill>
                  <a:srgbClr val="FBF8EF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retendard" pitchFamily="34" charset="-120"/>
              </a:rPr>
              <a:t>동아리 MT</a:t>
            </a:r>
            <a:endParaRPr lang="en-US" sz="2025" dirty="0">
              <a:latin typeface="맑은 고딕" panose="020B0503020000020004" pitchFamily="50" charset="-127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6310610" y="4695826"/>
            <a:ext cx="1667768" cy="523875"/>
          </a:xfrm>
          <a:prstGeom prst="roundRect">
            <a:avLst>
              <a:gd name="adj" fmla="val 50000"/>
            </a:avLst>
          </a:prstGeom>
          <a:solidFill>
            <a:srgbClr val="8AA6C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1" name="Text 19"/>
          <p:cNvSpPr/>
          <p:nvPr/>
        </p:nvSpPr>
        <p:spPr>
          <a:xfrm>
            <a:off x="6558260" y="4800601"/>
            <a:ext cx="1248668" cy="3524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85000" lnSpcReduction="10000"/>
          </a:bodyPr>
          <a:lstStyle/>
          <a:p>
            <a:pPr marL="0" indent="0" algn="l">
              <a:buNone/>
            </a:pPr>
            <a:r>
              <a:rPr lang="en-US" sz="2025" b="1" dirty="0">
                <a:solidFill>
                  <a:srgbClr val="FBF8EF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retendard" pitchFamily="34" charset="-120"/>
              </a:rPr>
              <a:t>회사 워크숍</a:t>
            </a:r>
            <a:endParaRPr lang="en-US" sz="2025" dirty="0">
              <a:latin typeface="맑은 고딕" panose="020B0503020000020004" pitchFamily="50" charset="-127"/>
            </a:endParaRPr>
          </a:p>
        </p:txBody>
      </p:sp>
      <p:grpSp>
        <p:nvGrpSpPr>
          <p:cNvPr id="6" name="그룹 5">
            <a:extLst>
              <a:ext uri="{FF2B5EF4-FFF2-40B4-BE49-F238E27FC236}">
                <a16:creationId xmlns:a16="http://schemas.microsoft.com/office/drawing/2014/main" id="{45F5F5F2-89FD-4C77-AE77-E9219AD2E756}"/>
              </a:ext>
            </a:extLst>
          </p:cNvPr>
          <p:cNvGrpSpPr/>
          <p:nvPr/>
        </p:nvGrpSpPr>
        <p:grpSpPr>
          <a:xfrm>
            <a:off x="1503470" y="6519863"/>
            <a:ext cx="14668500" cy="1781175"/>
            <a:chOff x="1352550" y="7267575"/>
            <a:chExt cx="14668500" cy="1781175"/>
          </a:xfrm>
        </p:grpSpPr>
        <p:sp>
          <p:nvSpPr>
            <p:cNvPr id="22" name="Text 20"/>
            <p:cNvSpPr/>
            <p:nvPr/>
          </p:nvSpPr>
          <p:spPr>
            <a:xfrm>
              <a:off x="1352550" y="7267575"/>
              <a:ext cx="14668500" cy="381000"/>
            </a:xfrm>
            <a:prstGeom prst="rect">
              <a:avLst/>
            </a:prstGeom>
            <a:noFill/>
            <a:ln/>
          </p:spPr>
          <p:txBody>
            <a:bodyPr wrap="square" lIns="25400" tIns="25400" rIns="25400" bIns="25400" rtlCol="0" anchor="t">
              <a:normAutofit/>
            </a:bodyPr>
            <a:lstStyle/>
            <a:p>
              <a:pPr marL="0" indent="0" algn="l">
                <a:buNone/>
              </a:pPr>
              <a:r>
                <a:rPr lang="en-US" sz="1800" b="1" kern="0" spc="324" dirty="0" err="1">
                  <a:solidFill>
                    <a:srgbClr val="9A9486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  <a:cs typeface="Space Mono" pitchFamily="34" charset="-120"/>
                </a:rPr>
                <a:t>흩어진</a:t>
              </a:r>
              <a:r>
                <a:rPr lang="en-US" sz="1800" b="1" kern="0" spc="324" dirty="0">
                  <a:solidFill>
                    <a:srgbClr val="9A9486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  <a:cs typeface="Space Mono" pitchFamily="34" charset="-120"/>
                </a:rPr>
                <a:t> </a:t>
              </a:r>
              <a:r>
                <a:rPr lang="ko-KR" altLang="en-US" sz="1800" b="1" kern="0" spc="324" dirty="0">
                  <a:solidFill>
                    <a:srgbClr val="9A9486"/>
                  </a:solidFill>
                  <a:latin typeface="Microsoft YaHei" panose="020B0503020204020204" pitchFamily="34" charset="-122"/>
                  <a:ea typeface="Space Mono" pitchFamily="34" charset="-122"/>
                  <a:cs typeface="Space Mono" pitchFamily="34" charset="-120"/>
                </a:rPr>
                <a:t>정보</a:t>
              </a:r>
              <a:r>
                <a:rPr lang="en-US" sz="1800" b="1" kern="0" spc="324" dirty="0">
                  <a:solidFill>
                    <a:srgbClr val="9A9486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  <a:cs typeface="Space Mono" pitchFamily="34" charset="-120"/>
                </a:rPr>
                <a:t>들</a:t>
              </a:r>
              <a:endParaRPr lang="en-US" sz="1800" b="1" dirty="0">
                <a:latin typeface="맑은 고딕" panose="020B0503020000020004" pitchFamily="50" charset="-127"/>
              </a:endParaRPr>
            </a:p>
          </p:txBody>
        </p:sp>
        <p:sp>
          <p:nvSpPr>
            <p:cNvPr id="23" name="Shape 21"/>
            <p:cNvSpPr/>
            <p:nvPr/>
          </p:nvSpPr>
          <p:spPr>
            <a:xfrm>
              <a:off x="2209800" y="8239125"/>
              <a:ext cx="11430000" cy="19050"/>
            </a:xfrm>
            <a:prstGeom prst="rect">
              <a:avLst/>
            </a:prstGeom>
            <a:solidFill>
              <a:srgbClr val="C7BFA9"/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pic>
          <p:nvPicPr>
            <p:cNvPr id="24" name="Image 0" descr="preencoded.png"/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 rot="2700000">
              <a:off x="12036892" y="7969717"/>
              <a:ext cx="538816" cy="538816"/>
            </a:xfrm>
            <a:prstGeom prst="rect">
              <a:avLst/>
            </a:prstGeom>
          </p:spPr>
        </p:pic>
        <p:sp>
          <p:nvSpPr>
            <p:cNvPr id="25" name="Shape 22"/>
            <p:cNvSpPr/>
            <p:nvPr/>
          </p:nvSpPr>
          <p:spPr>
            <a:xfrm rot="-300000">
              <a:off x="1724025" y="7896225"/>
              <a:ext cx="685800" cy="685800"/>
            </a:xfrm>
            <a:prstGeom prst="roundRect">
              <a:avLst>
                <a:gd name="adj" fmla="val 25000"/>
              </a:avLst>
            </a:prstGeom>
            <a:solidFill>
              <a:srgbClr val="ECE9DD"/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6" name="Text 23"/>
            <p:cNvSpPr/>
            <p:nvPr/>
          </p:nvSpPr>
          <p:spPr>
            <a:xfrm rot="-300000">
              <a:off x="1685925" y="7896225"/>
              <a:ext cx="762000" cy="723900"/>
            </a:xfrm>
            <a:prstGeom prst="rect">
              <a:avLst/>
            </a:prstGeom>
            <a:noFill/>
            <a:ln/>
          </p:spPr>
          <p:txBody>
            <a:bodyPr wrap="square" lIns="25400" tIns="25400" rIns="25400" bIns="25400" rtlCol="0" anchor="ctr">
              <a:normAutofit/>
            </a:bodyPr>
            <a:lstStyle/>
            <a:p>
              <a:pPr marL="0" indent="0" algn="ctr">
                <a:buNone/>
              </a:pPr>
              <a:r>
                <a:rPr lang="en-US" sz="1950" b="1" dirty="0">
                  <a:solidFill>
                    <a:srgbClr val="8C887C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  <a:cs typeface="Pretendard" pitchFamily="34" charset="-120"/>
                </a:rPr>
                <a:t>단톡</a:t>
              </a:r>
              <a:endParaRPr lang="en-US" sz="1950" dirty="0">
                <a:latin typeface="맑은 고딕" panose="020B0503020000020004" pitchFamily="50" charset="-127"/>
              </a:endParaRPr>
            </a:p>
          </p:txBody>
        </p:sp>
        <p:sp>
          <p:nvSpPr>
            <p:cNvPr id="27" name="Text 24"/>
            <p:cNvSpPr/>
            <p:nvPr/>
          </p:nvSpPr>
          <p:spPr>
            <a:xfrm>
              <a:off x="1852761" y="8715375"/>
              <a:ext cx="504379" cy="333375"/>
            </a:xfrm>
            <a:prstGeom prst="rect">
              <a:avLst/>
            </a:prstGeom>
            <a:noFill/>
            <a:ln/>
          </p:spPr>
          <p:txBody>
            <a:bodyPr wrap="square" lIns="25400" tIns="25400" rIns="25400" bIns="25400" rtlCol="0" anchor="t">
              <a:normAutofit fontScale="85000" lnSpcReduction="10000"/>
            </a:bodyPr>
            <a:lstStyle/>
            <a:p>
              <a:pPr marL="0" indent="0" algn="l">
                <a:buNone/>
              </a:pPr>
              <a:r>
                <a:rPr lang="en-US" sz="1950" dirty="0">
                  <a:solidFill>
                    <a:srgbClr val="8C887C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  <a:cs typeface="Pretendard" pitchFamily="34" charset="-120"/>
                </a:rPr>
                <a:t>의견</a:t>
              </a:r>
              <a:endParaRPr lang="en-US" sz="1950" dirty="0">
                <a:latin typeface="맑은 고딕" panose="020B0503020000020004" pitchFamily="50" charset="-127"/>
              </a:endParaRPr>
            </a:p>
          </p:txBody>
        </p:sp>
        <p:sp>
          <p:nvSpPr>
            <p:cNvPr id="28" name="Shape 25"/>
            <p:cNvSpPr/>
            <p:nvPr/>
          </p:nvSpPr>
          <p:spPr>
            <a:xfrm rot="240000">
              <a:off x="4652963" y="7896225"/>
              <a:ext cx="685800" cy="685800"/>
            </a:xfrm>
            <a:prstGeom prst="roundRect">
              <a:avLst>
                <a:gd name="adj" fmla="val 25000"/>
              </a:avLst>
            </a:prstGeom>
            <a:solidFill>
              <a:srgbClr val="ECE9DD"/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9" name="Text 26"/>
            <p:cNvSpPr/>
            <p:nvPr/>
          </p:nvSpPr>
          <p:spPr>
            <a:xfrm rot="240000">
              <a:off x="4614863" y="7896225"/>
              <a:ext cx="762000" cy="723900"/>
            </a:xfrm>
            <a:prstGeom prst="rect">
              <a:avLst/>
            </a:prstGeom>
            <a:noFill/>
            <a:ln/>
          </p:spPr>
          <p:txBody>
            <a:bodyPr wrap="square" lIns="25400" tIns="25400" rIns="25400" bIns="25400" rtlCol="0" anchor="ctr">
              <a:normAutofit/>
            </a:bodyPr>
            <a:lstStyle/>
            <a:p>
              <a:pPr marL="0" indent="0" algn="ctr">
                <a:buNone/>
              </a:pPr>
              <a:r>
                <a:rPr lang="en-US" sz="1950" b="1" dirty="0">
                  <a:solidFill>
                    <a:srgbClr val="8C887C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  <a:cs typeface="Pretendard" pitchFamily="34" charset="-120"/>
                </a:rPr>
                <a:t>메모</a:t>
              </a:r>
              <a:endParaRPr lang="en-US" sz="1950" dirty="0">
                <a:latin typeface="맑은 고딕" panose="020B0503020000020004" pitchFamily="50" charset="-127"/>
              </a:endParaRPr>
            </a:p>
          </p:txBody>
        </p:sp>
        <p:sp>
          <p:nvSpPr>
            <p:cNvPr id="30" name="Text 27"/>
            <p:cNvSpPr/>
            <p:nvPr/>
          </p:nvSpPr>
          <p:spPr>
            <a:xfrm>
              <a:off x="4781699" y="8715375"/>
              <a:ext cx="504379" cy="333375"/>
            </a:xfrm>
            <a:prstGeom prst="rect">
              <a:avLst/>
            </a:prstGeom>
            <a:noFill/>
            <a:ln/>
          </p:spPr>
          <p:txBody>
            <a:bodyPr wrap="square" lIns="25400" tIns="25400" rIns="25400" bIns="25400" rtlCol="0" anchor="t">
              <a:normAutofit fontScale="85000" lnSpcReduction="10000"/>
            </a:bodyPr>
            <a:lstStyle/>
            <a:p>
              <a:pPr marL="0" indent="0" algn="l">
                <a:buNone/>
              </a:pPr>
              <a:r>
                <a:rPr lang="en-US" sz="1950" dirty="0">
                  <a:solidFill>
                    <a:srgbClr val="8C887C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  <a:cs typeface="Pretendard" pitchFamily="34" charset="-120"/>
                </a:rPr>
                <a:t>일정</a:t>
              </a:r>
              <a:endParaRPr lang="en-US" sz="1950" dirty="0">
                <a:latin typeface="맑은 고딕" panose="020B0503020000020004" pitchFamily="50" charset="-127"/>
              </a:endParaRPr>
            </a:p>
          </p:txBody>
        </p:sp>
        <p:sp>
          <p:nvSpPr>
            <p:cNvPr id="31" name="Shape 28"/>
            <p:cNvSpPr/>
            <p:nvPr/>
          </p:nvSpPr>
          <p:spPr>
            <a:xfrm rot="-180000">
              <a:off x="7581900" y="7896225"/>
              <a:ext cx="685800" cy="685800"/>
            </a:xfrm>
            <a:prstGeom prst="roundRect">
              <a:avLst>
                <a:gd name="adj" fmla="val 25000"/>
              </a:avLst>
            </a:prstGeom>
            <a:solidFill>
              <a:srgbClr val="ECE9DD"/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2" name="Text 29"/>
            <p:cNvSpPr/>
            <p:nvPr/>
          </p:nvSpPr>
          <p:spPr>
            <a:xfrm rot="-180000">
              <a:off x="7543800" y="7896225"/>
              <a:ext cx="762000" cy="723900"/>
            </a:xfrm>
            <a:prstGeom prst="rect">
              <a:avLst/>
            </a:prstGeom>
            <a:noFill/>
            <a:ln/>
          </p:spPr>
          <p:txBody>
            <a:bodyPr wrap="square" lIns="25400" tIns="25400" rIns="25400" bIns="25400" rtlCol="0" anchor="ctr">
              <a:normAutofit/>
            </a:bodyPr>
            <a:lstStyle/>
            <a:p>
              <a:pPr marL="0" indent="0" algn="ctr">
                <a:buNone/>
              </a:pPr>
              <a:r>
                <a:rPr lang="en-US" sz="1950" b="1" dirty="0">
                  <a:solidFill>
                    <a:srgbClr val="8C887C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  <a:cs typeface="Pretendard" pitchFamily="34" charset="-120"/>
                </a:rPr>
                <a:t>지도</a:t>
              </a:r>
              <a:endParaRPr lang="en-US" sz="1950" dirty="0">
                <a:latin typeface="맑은 고딕" panose="020B0503020000020004" pitchFamily="50" charset="-127"/>
              </a:endParaRPr>
            </a:p>
          </p:txBody>
        </p:sp>
        <p:sp>
          <p:nvSpPr>
            <p:cNvPr id="33" name="Text 30"/>
            <p:cNvSpPr/>
            <p:nvPr/>
          </p:nvSpPr>
          <p:spPr>
            <a:xfrm>
              <a:off x="7710636" y="8715375"/>
              <a:ext cx="504379" cy="333375"/>
            </a:xfrm>
            <a:prstGeom prst="rect">
              <a:avLst/>
            </a:prstGeom>
            <a:noFill/>
            <a:ln/>
          </p:spPr>
          <p:txBody>
            <a:bodyPr wrap="square" lIns="25400" tIns="25400" rIns="25400" bIns="25400" rtlCol="0" anchor="t">
              <a:normAutofit fontScale="85000" lnSpcReduction="10000"/>
            </a:bodyPr>
            <a:lstStyle/>
            <a:p>
              <a:pPr marL="0" indent="0" algn="l">
                <a:buNone/>
              </a:pPr>
              <a:r>
                <a:rPr lang="en-US" sz="1950" dirty="0">
                  <a:solidFill>
                    <a:srgbClr val="8C887C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  <a:cs typeface="Pretendard" pitchFamily="34" charset="-120"/>
                </a:rPr>
                <a:t>장소</a:t>
              </a:r>
              <a:endParaRPr lang="en-US" sz="1950" dirty="0">
                <a:latin typeface="맑은 고딕" panose="020B0503020000020004" pitchFamily="50" charset="-127"/>
              </a:endParaRPr>
            </a:p>
          </p:txBody>
        </p:sp>
        <p:sp>
          <p:nvSpPr>
            <p:cNvPr id="34" name="Shape 31"/>
            <p:cNvSpPr/>
            <p:nvPr/>
          </p:nvSpPr>
          <p:spPr>
            <a:xfrm rot="359998">
              <a:off x="10510837" y="7896225"/>
              <a:ext cx="685800" cy="685800"/>
            </a:xfrm>
            <a:prstGeom prst="roundRect">
              <a:avLst>
                <a:gd name="adj" fmla="val 25000"/>
              </a:avLst>
            </a:prstGeom>
            <a:solidFill>
              <a:srgbClr val="ECE9DD"/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5" name="Text 32"/>
            <p:cNvSpPr/>
            <p:nvPr/>
          </p:nvSpPr>
          <p:spPr>
            <a:xfrm rot="359998">
              <a:off x="10472737" y="7896225"/>
              <a:ext cx="762000" cy="723900"/>
            </a:xfrm>
            <a:prstGeom prst="rect">
              <a:avLst/>
            </a:prstGeom>
            <a:noFill/>
            <a:ln/>
          </p:spPr>
          <p:txBody>
            <a:bodyPr wrap="square" lIns="25400" tIns="25400" rIns="25400" bIns="25400" rtlCol="0" anchor="ctr">
              <a:normAutofit/>
            </a:bodyPr>
            <a:lstStyle/>
            <a:p>
              <a:pPr marL="0" indent="0" algn="ctr">
                <a:buNone/>
              </a:pPr>
              <a:r>
                <a:rPr lang="en-US" sz="1950" b="1" dirty="0">
                  <a:solidFill>
                    <a:srgbClr val="8C887C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  <a:cs typeface="Pretendard" pitchFamily="34" charset="-120"/>
                </a:rPr>
                <a:t>엑셀</a:t>
              </a:r>
              <a:endParaRPr lang="en-US" sz="1950" dirty="0">
                <a:latin typeface="맑은 고딕" panose="020B0503020000020004" pitchFamily="50" charset="-127"/>
              </a:endParaRPr>
            </a:p>
          </p:txBody>
        </p:sp>
        <p:sp>
          <p:nvSpPr>
            <p:cNvPr id="36" name="Text 33"/>
            <p:cNvSpPr/>
            <p:nvPr/>
          </p:nvSpPr>
          <p:spPr>
            <a:xfrm>
              <a:off x="10639574" y="8715375"/>
              <a:ext cx="504379" cy="333375"/>
            </a:xfrm>
            <a:prstGeom prst="rect">
              <a:avLst/>
            </a:prstGeom>
            <a:noFill/>
            <a:ln/>
          </p:spPr>
          <p:txBody>
            <a:bodyPr wrap="square" lIns="25400" tIns="25400" rIns="25400" bIns="25400" rtlCol="0" anchor="t">
              <a:normAutofit fontScale="85000" lnSpcReduction="10000"/>
            </a:bodyPr>
            <a:lstStyle/>
            <a:p>
              <a:pPr marL="0" indent="0" algn="l">
                <a:buNone/>
              </a:pPr>
              <a:r>
                <a:rPr lang="en-US" sz="1950" dirty="0">
                  <a:solidFill>
                    <a:srgbClr val="8C887C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  <a:cs typeface="Pretendard" pitchFamily="34" charset="-120"/>
                </a:rPr>
                <a:t>정산</a:t>
              </a:r>
              <a:endParaRPr lang="en-US" sz="1950" dirty="0">
                <a:latin typeface="맑은 고딕" panose="020B0503020000020004" pitchFamily="50" charset="-127"/>
              </a:endParaRPr>
            </a:p>
          </p:txBody>
        </p:sp>
        <p:sp>
          <p:nvSpPr>
            <p:cNvPr id="37" name="Shape 34"/>
            <p:cNvSpPr/>
            <p:nvPr/>
          </p:nvSpPr>
          <p:spPr>
            <a:xfrm>
              <a:off x="13535025" y="7896225"/>
              <a:ext cx="685800" cy="685800"/>
            </a:xfrm>
            <a:prstGeom prst="roundRect">
              <a:avLst>
                <a:gd name="adj" fmla="val 25000"/>
              </a:avLst>
            </a:prstGeom>
            <a:solidFill>
              <a:srgbClr val="8AA6C0"/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pic>
          <p:nvPicPr>
            <p:cNvPr id="38" name="Image 1" descr="preencoded.png"/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 rot="2700000">
              <a:off x="13621987" y="7983188"/>
              <a:ext cx="511876" cy="511875"/>
            </a:xfrm>
            <a:prstGeom prst="rect">
              <a:avLst/>
            </a:prstGeom>
          </p:spPr>
        </p:pic>
        <p:sp>
          <p:nvSpPr>
            <p:cNvPr id="39" name="Text 35"/>
            <p:cNvSpPr/>
            <p:nvPr/>
          </p:nvSpPr>
          <p:spPr>
            <a:xfrm>
              <a:off x="13392894" y="8715375"/>
              <a:ext cx="1046262" cy="333375"/>
            </a:xfrm>
            <a:prstGeom prst="rect">
              <a:avLst/>
            </a:prstGeom>
            <a:noFill/>
            <a:ln/>
          </p:spPr>
          <p:txBody>
            <a:bodyPr wrap="square" lIns="25400" tIns="25400" rIns="25400" bIns="25400" rtlCol="0" anchor="t">
              <a:normAutofit fontScale="92500"/>
            </a:bodyPr>
            <a:lstStyle/>
            <a:p>
              <a:pPr marL="0" indent="0" algn="l">
                <a:buNone/>
              </a:pPr>
              <a:r>
                <a:rPr lang="en-US" sz="1950" b="1" dirty="0">
                  <a:solidFill>
                    <a:srgbClr val="7E97B3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  <a:cs typeface="Pretendard" pitchFamily="34" charset="-120"/>
                </a:rPr>
                <a:t>Groutrip</a:t>
              </a:r>
              <a:endParaRPr lang="en-US" sz="1950" dirty="0">
                <a:latin typeface="맑은 고딕" panose="020B0503020000020004" pitchFamily="50" charset="-127"/>
              </a:endParaRPr>
            </a:p>
          </p:txBody>
        </p:sp>
      </p:grpSp>
      <p:sp>
        <p:nvSpPr>
          <p:cNvPr id="40" name="Text 4">
            <a:extLst>
              <a:ext uri="{FF2B5EF4-FFF2-40B4-BE49-F238E27FC236}">
                <a16:creationId xmlns:a16="http://schemas.microsoft.com/office/drawing/2014/main" id="{646D159C-CFFB-44D7-B8C2-F10225F9D19E}"/>
              </a:ext>
            </a:extLst>
          </p:cNvPr>
          <p:cNvSpPr/>
          <p:nvPr/>
        </p:nvSpPr>
        <p:spPr>
          <a:xfrm>
            <a:off x="15830996" y="1238250"/>
            <a:ext cx="1561207" cy="723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800" kern="0" spc="360" dirty="0">
                <a:solidFill>
                  <a:srgbClr val="B0AA9B"/>
                </a:solidFill>
                <a:latin typeface="맑은 고딕" panose="020B0503020000020004" pitchFamily="50" charset="-127"/>
                <a:ea typeface="Microsoft YaHei" panose="020B0503020204020204" pitchFamily="34" charset="-122"/>
                <a:cs typeface="Arial" panose="020B0604020202020204" pitchFamily="34" charset="0"/>
              </a:rPr>
              <a:t>BOARDING</a:t>
            </a:r>
          </a:p>
          <a:p>
            <a:pPr marL="0" indent="0" algn="ctr">
              <a:lnSpc>
                <a:spcPct val="150000"/>
              </a:lnSpc>
              <a:buNone/>
            </a:pPr>
            <a:r>
              <a:rPr lang="en-US" sz="1800" kern="0" spc="360" dirty="0">
                <a:solidFill>
                  <a:srgbClr val="B0AA9B"/>
                </a:solidFill>
                <a:latin typeface="맑은 고딕" panose="020B0503020000020004" pitchFamily="50" charset="-127"/>
                <a:ea typeface="Microsoft YaHei" panose="020B0503020204020204" pitchFamily="34" charset="-122"/>
                <a:cs typeface="Arial" panose="020B0604020202020204" pitchFamily="34" charset="0"/>
              </a:rPr>
              <a:t>PASS</a:t>
            </a:r>
            <a:endParaRPr lang="en-US" sz="1800" dirty="0">
              <a:latin typeface="맑은 고딕" panose="020B0503020000020004" pitchFamily="50" charset="-127"/>
              <a:cs typeface="Arial" panose="020B0604020202020204" pitchFamily="34" charset="0"/>
            </a:endParaRPr>
          </a:p>
        </p:txBody>
      </p:sp>
      <p:sp>
        <p:nvSpPr>
          <p:cNvPr id="41" name="Text 5">
            <a:extLst>
              <a:ext uri="{FF2B5EF4-FFF2-40B4-BE49-F238E27FC236}">
                <a16:creationId xmlns:a16="http://schemas.microsoft.com/office/drawing/2014/main" id="{CE20C7F3-F33D-4A58-8A0A-859BE483192D}"/>
              </a:ext>
            </a:extLst>
          </p:cNvPr>
          <p:cNvSpPr/>
          <p:nvPr/>
        </p:nvSpPr>
        <p:spPr>
          <a:xfrm rot="10800000">
            <a:off x="16373475" y="3166533"/>
            <a:ext cx="552450" cy="3055822"/>
          </a:xfrm>
          <a:prstGeom prst="rect">
            <a:avLst/>
          </a:prstGeom>
          <a:noFill/>
          <a:ln/>
        </p:spPr>
        <p:txBody>
          <a:bodyPr vert="eaVert"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3150" b="1" i="1" kern="0" spc="504" dirty="0">
                <a:solidFill>
                  <a:srgbClr val="4A4A4A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Georgia" pitchFamily="34" charset="-120"/>
              </a:rPr>
              <a:t>GROUTRIP</a:t>
            </a:r>
            <a:endParaRPr lang="en-US" sz="3150" dirty="0">
              <a:latin typeface="맑은 고딕" panose="020B0503020000020004" pitchFamily="50" charset="-127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87A0B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52450" y="552450"/>
            <a:ext cx="17183100" cy="9182100"/>
          </a:xfrm>
          <a:prstGeom prst="roundRect">
            <a:avLst>
              <a:gd name="adj" fmla="val 3734"/>
            </a:avLst>
          </a:prstGeom>
          <a:solidFill>
            <a:srgbClr val="FBF8EF"/>
          </a:solidFill>
          <a:ln/>
          <a:effectLst>
            <a:outerShdw blurRad="857250" dist="381000" dir="5400000" algn="bl" rotWithShape="0">
              <a:srgbClr val="233241">
                <a:alpha val="22000"/>
              </a:srgbClr>
            </a:outerShdw>
          </a:effectLst>
        </p:spPr>
        <p:txBody>
          <a:bodyPr/>
          <a:lstStyle/>
          <a:p>
            <a:endParaRPr lang="ko-KR" altLang="en-US" dirty="0"/>
          </a:p>
        </p:txBody>
      </p:sp>
      <p:sp>
        <p:nvSpPr>
          <p:cNvPr id="3" name="Shape 1"/>
          <p:cNvSpPr/>
          <p:nvPr/>
        </p:nvSpPr>
        <p:spPr>
          <a:xfrm>
            <a:off x="15468600" y="552450"/>
            <a:ext cx="19050" cy="9182100"/>
          </a:xfrm>
          <a:prstGeom prst="rect">
            <a:avLst/>
          </a:prstGeom>
          <a:solidFill>
            <a:srgbClr val="C7BFA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15278100" y="342900"/>
            <a:ext cx="419100" cy="419100"/>
          </a:xfrm>
          <a:prstGeom prst="ellipse">
            <a:avLst/>
          </a:prstGeom>
          <a:solidFill>
            <a:srgbClr val="87A0B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15278100" y="9525000"/>
            <a:ext cx="419100" cy="419100"/>
          </a:xfrm>
          <a:prstGeom prst="ellipse">
            <a:avLst/>
          </a:prstGeom>
          <a:solidFill>
            <a:srgbClr val="87A0B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Shape 6"/>
          <p:cNvSpPr/>
          <p:nvPr/>
        </p:nvSpPr>
        <p:spPr>
          <a:xfrm>
            <a:off x="15887551" y="7943850"/>
            <a:ext cx="1447800" cy="590550"/>
          </a:xfrm>
          <a:prstGeom prst="rect">
            <a:avLst/>
          </a:prstGeom>
          <a:blipFill>
            <a:blip r:embed="rId3"/>
            <a:tile tx="0" ty="0" sx="100000" sy="100000" flip="none" algn="tl"/>
          </a:blip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9" name="Text 7"/>
          <p:cNvSpPr/>
          <p:nvPr/>
        </p:nvSpPr>
        <p:spPr>
          <a:xfrm>
            <a:off x="15796766" y="8705850"/>
            <a:ext cx="1792471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kern="0" spc="324" dirty="0">
                <a:solidFill>
                  <a:srgbClr val="B0AA9B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Space Mono" pitchFamily="34" charset="-120"/>
              </a:rPr>
              <a:t>ADMIT ONE</a:t>
            </a:r>
            <a:endParaRPr lang="en-US" sz="1800" dirty="0">
              <a:latin typeface="맑은 고딕" panose="020B0503020000020004" pitchFamily="50" charset="-127"/>
            </a:endParaRPr>
          </a:p>
        </p:txBody>
      </p:sp>
      <p:sp>
        <p:nvSpPr>
          <p:cNvPr id="10" name="Text 8"/>
          <p:cNvSpPr/>
          <p:nvPr/>
        </p:nvSpPr>
        <p:spPr>
          <a:xfrm>
            <a:off x="1352550" y="1276350"/>
            <a:ext cx="4828163" cy="4286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2550" i="1" kern="0" spc="408" dirty="0">
                <a:solidFill>
                  <a:srgbClr val="8AA6C0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Cormorant Garamond" pitchFamily="34" charset="-120"/>
              </a:rPr>
              <a:t>Why Groutrip</a:t>
            </a:r>
            <a:endParaRPr lang="en-US" sz="2550" dirty="0">
              <a:latin typeface="맑은 고딕" panose="020B0503020000020004" pitchFamily="50" charset="-127"/>
            </a:endParaRPr>
          </a:p>
        </p:txBody>
      </p:sp>
      <p:sp>
        <p:nvSpPr>
          <p:cNvPr id="11" name="Text 9"/>
          <p:cNvSpPr/>
          <p:nvPr/>
        </p:nvSpPr>
        <p:spPr>
          <a:xfrm>
            <a:off x="1352550" y="1762125"/>
            <a:ext cx="4828163" cy="8953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85000" lnSpcReduction="10000"/>
          </a:bodyPr>
          <a:lstStyle/>
          <a:p>
            <a:pPr marL="0" indent="0" algn="l">
              <a:buNone/>
            </a:pPr>
            <a:r>
              <a:rPr lang="en-US" sz="5400" b="1" dirty="0">
                <a:solidFill>
                  <a:srgbClr val="4A4A4A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Black Han Sans" pitchFamily="34" charset="-120"/>
              </a:rPr>
              <a:t>다섯 가지 차별점</a:t>
            </a:r>
            <a:endParaRPr lang="en-US" sz="5400" b="1" dirty="0">
              <a:latin typeface="맑은 고딕" panose="020B0503020000020004" pitchFamily="50" charset="-127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13629531" y="1276350"/>
            <a:ext cx="1134219" cy="4000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950" b="1" kern="0" spc="195" dirty="0">
                <a:solidFill>
                  <a:srgbClr val="A9A395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Space Mono" pitchFamily="34" charset="-120"/>
              </a:rPr>
              <a:t>No. 06</a:t>
            </a:r>
            <a:endParaRPr lang="en-US" sz="1950" b="1" dirty="0">
              <a:latin typeface="맑은 고딕" panose="020B0503020000020004" pitchFamily="50" charset="-127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1352550" y="4402931"/>
            <a:ext cx="5582379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950" b="1" dirty="0">
                <a:solidFill>
                  <a:srgbClr val="7E97B3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retendard" pitchFamily="34" charset="-120"/>
              </a:rPr>
              <a:t>· </a:t>
            </a:r>
            <a:r>
              <a:rPr lang="ko-KR" altLang="en-US" sz="1950" b="1" dirty="0">
                <a:solidFill>
                  <a:srgbClr val="7E97B3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retendard" pitchFamily="34" charset="-120"/>
              </a:rPr>
              <a:t>다</a:t>
            </a:r>
            <a:r>
              <a:rPr lang="en-US" sz="1950" b="1" dirty="0" err="1">
                <a:solidFill>
                  <a:srgbClr val="7E97B3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retendard" pitchFamily="34" charset="-120"/>
              </a:rPr>
              <a:t>함께</a:t>
            </a:r>
            <a:r>
              <a:rPr lang="en-US" sz="1950" b="1" dirty="0">
                <a:solidFill>
                  <a:srgbClr val="7E97B3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retendard" pitchFamily="34" charset="-120"/>
              </a:rPr>
              <a:t> </a:t>
            </a:r>
            <a:r>
              <a:rPr lang="ko-KR" altLang="en-US" sz="1950" b="1" dirty="0">
                <a:solidFill>
                  <a:srgbClr val="7E97B3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retendard" pitchFamily="34" charset="-120"/>
              </a:rPr>
              <a:t>의사</a:t>
            </a:r>
            <a:r>
              <a:rPr lang="en-US" sz="1950" b="1" dirty="0" err="1">
                <a:solidFill>
                  <a:srgbClr val="7E97B3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retendard" pitchFamily="34" charset="-120"/>
              </a:rPr>
              <a:t>결정</a:t>
            </a:r>
            <a:endParaRPr lang="en-US" sz="1950" dirty="0">
              <a:latin typeface="맑은 고딕" panose="020B0503020000020004" pitchFamily="50" charset="-127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1352550" y="4869656"/>
            <a:ext cx="2442121" cy="2357438"/>
          </a:xfrm>
          <a:prstGeom prst="roundRect">
            <a:avLst>
              <a:gd name="adj" fmla="val 8081"/>
            </a:avLst>
          </a:prstGeom>
          <a:solidFill>
            <a:srgbClr val="ECE9D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5" name="Shape 13"/>
          <p:cNvSpPr/>
          <p:nvPr/>
        </p:nvSpPr>
        <p:spPr>
          <a:xfrm>
            <a:off x="1600200" y="5117306"/>
            <a:ext cx="864543" cy="419100"/>
          </a:xfrm>
          <a:prstGeom prst="roundRect">
            <a:avLst>
              <a:gd name="adj" fmla="val 50000"/>
            </a:avLst>
          </a:prstGeom>
          <a:solidFill>
            <a:srgbClr val="8AA6C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6" name="Text 14"/>
          <p:cNvSpPr/>
          <p:nvPr/>
        </p:nvSpPr>
        <p:spPr>
          <a:xfrm>
            <a:off x="1723993" y="5172583"/>
            <a:ext cx="676476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FBF8EF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Space Mono" pitchFamily="34" charset="-120"/>
              </a:rPr>
              <a:t>VOTE</a:t>
            </a:r>
            <a:endParaRPr lang="en-US" sz="1700" dirty="0">
              <a:latin typeface="맑은 고딕" panose="020B0503020000020004" pitchFamily="50" charset="-127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1683069" y="5745956"/>
            <a:ext cx="1859190" cy="4476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4A4A4A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Black Han Sans" pitchFamily="34" charset="-120"/>
              </a:rPr>
              <a:t>그룹 의사결정</a:t>
            </a:r>
            <a:endParaRPr lang="en-US" sz="2200" b="1" dirty="0">
              <a:latin typeface="맑은 고딕" panose="020B0503020000020004" pitchFamily="50" charset="-127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1600200" y="6250781"/>
            <a:ext cx="2023021" cy="728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ctr">
              <a:lnSpc>
                <a:spcPct val="145000"/>
              </a:lnSpc>
              <a:buNone/>
            </a:pPr>
            <a:r>
              <a:rPr lang="en-US" sz="1875" dirty="0">
                <a:solidFill>
                  <a:srgbClr val="8C887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retendard" pitchFamily="34" charset="-120"/>
              </a:rPr>
              <a:t>후보를 올리고 점수로 함께 결정</a:t>
            </a:r>
            <a:endParaRPr lang="en-US" sz="1875" dirty="0">
              <a:latin typeface="맑은 고딕" panose="020B0503020000020004" pitchFamily="50" charset="-127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3985171" y="4869656"/>
            <a:ext cx="2442270" cy="2357438"/>
          </a:xfrm>
          <a:prstGeom prst="roundRect">
            <a:avLst>
              <a:gd name="adj" fmla="val 8081"/>
            </a:avLst>
          </a:prstGeom>
          <a:solidFill>
            <a:srgbClr val="ECE9D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0" name="Shape 18"/>
          <p:cNvSpPr/>
          <p:nvPr/>
        </p:nvSpPr>
        <p:spPr>
          <a:xfrm>
            <a:off x="4232821" y="5117306"/>
            <a:ext cx="788343" cy="419100"/>
          </a:xfrm>
          <a:prstGeom prst="roundRect">
            <a:avLst>
              <a:gd name="adj" fmla="val 50000"/>
            </a:avLst>
          </a:prstGeom>
          <a:solidFill>
            <a:srgbClr val="8AA6C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1" name="Text 19"/>
          <p:cNvSpPr/>
          <p:nvPr/>
        </p:nvSpPr>
        <p:spPr>
          <a:xfrm>
            <a:off x="4373160" y="5172583"/>
            <a:ext cx="676476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FBF8EF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Space Mono" pitchFamily="34" charset="-120"/>
              </a:rPr>
              <a:t>LIVE</a:t>
            </a:r>
            <a:endParaRPr lang="en-US" sz="1700" dirty="0">
              <a:latin typeface="맑은 고딕" panose="020B0503020000020004" pitchFamily="50" charset="-127"/>
            </a:endParaRPr>
          </a:p>
        </p:txBody>
      </p:sp>
      <p:sp>
        <p:nvSpPr>
          <p:cNvPr id="22" name="Text 20"/>
          <p:cNvSpPr/>
          <p:nvPr/>
        </p:nvSpPr>
        <p:spPr>
          <a:xfrm>
            <a:off x="4420065" y="5736431"/>
            <a:ext cx="1708844" cy="4476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4A4A4A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Black Han Sans" pitchFamily="34" charset="-120"/>
              </a:rPr>
              <a:t>실시간 반영</a:t>
            </a:r>
            <a:endParaRPr lang="en-US" sz="2200" b="1" dirty="0">
              <a:latin typeface="맑은 고딕" panose="020B0503020000020004" pitchFamily="50" charset="-127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4135473" y="6250781"/>
            <a:ext cx="2141666" cy="728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ctr">
              <a:lnSpc>
                <a:spcPct val="145000"/>
              </a:lnSpc>
              <a:buNone/>
            </a:pPr>
            <a:r>
              <a:rPr lang="en-US" sz="1875" dirty="0">
                <a:solidFill>
                  <a:srgbClr val="8C887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retendard" pitchFamily="34" charset="-120"/>
              </a:rPr>
              <a:t>SSE로 변경 </a:t>
            </a:r>
            <a:r>
              <a:rPr lang="en-US" sz="1875" dirty="0" err="1">
                <a:solidFill>
                  <a:srgbClr val="8C887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retendard" pitchFamily="34" charset="-120"/>
              </a:rPr>
              <a:t>즉시</a:t>
            </a:r>
            <a:r>
              <a:rPr lang="en-US" sz="1875" dirty="0">
                <a:solidFill>
                  <a:srgbClr val="8C887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retendard" pitchFamily="34" charset="-120"/>
              </a:rPr>
              <a:t> </a:t>
            </a:r>
          </a:p>
          <a:p>
            <a:pPr marL="0" indent="0" algn="ctr">
              <a:lnSpc>
                <a:spcPct val="145000"/>
              </a:lnSpc>
              <a:buNone/>
            </a:pPr>
            <a:r>
              <a:rPr lang="en-US" sz="1875" dirty="0" err="1">
                <a:solidFill>
                  <a:srgbClr val="8C887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retendard" pitchFamily="34" charset="-120"/>
              </a:rPr>
              <a:t>동기화</a:t>
            </a:r>
            <a:endParaRPr lang="en-US" sz="1875" dirty="0">
              <a:latin typeface="맑은 고딕" panose="020B0503020000020004" pitchFamily="50" charset="-127"/>
            </a:endParaRPr>
          </a:p>
        </p:txBody>
      </p:sp>
      <p:sp>
        <p:nvSpPr>
          <p:cNvPr id="24" name="Text 22"/>
          <p:cNvSpPr/>
          <p:nvPr/>
        </p:nvSpPr>
        <p:spPr>
          <a:xfrm>
            <a:off x="6751290" y="4402931"/>
            <a:ext cx="2791271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950" b="1" dirty="0">
                <a:solidFill>
                  <a:srgbClr val="7E97B3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retendard" pitchFamily="34" charset="-120"/>
              </a:rPr>
              <a:t>· </a:t>
            </a:r>
            <a:r>
              <a:rPr lang="en-US" sz="1950" b="1" dirty="0" err="1">
                <a:solidFill>
                  <a:srgbClr val="7E97B3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retendard" pitchFamily="34" charset="-120"/>
              </a:rPr>
              <a:t>취향</a:t>
            </a:r>
            <a:r>
              <a:rPr lang="ko-KR" altLang="en-US" sz="1950" b="1" dirty="0">
                <a:solidFill>
                  <a:srgbClr val="7E97B3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retendard" pitchFamily="34" charset="-120"/>
              </a:rPr>
              <a:t>도 고려해요</a:t>
            </a:r>
            <a:endParaRPr lang="en-US" sz="1950" dirty="0">
              <a:latin typeface="맑은 고딕" panose="020B0503020000020004" pitchFamily="50" charset="-127"/>
            </a:endParaRPr>
          </a:p>
        </p:txBody>
      </p:sp>
      <p:sp>
        <p:nvSpPr>
          <p:cNvPr id="25" name="Shape 23"/>
          <p:cNvSpPr/>
          <p:nvPr/>
        </p:nvSpPr>
        <p:spPr>
          <a:xfrm>
            <a:off x="6751290" y="4869656"/>
            <a:ext cx="2537520" cy="2405063"/>
          </a:xfrm>
          <a:prstGeom prst="roundRect">
            <a:avLst>
              <a:gd name="adj" fmla="val 7921"/>
            </a:avLst>
          </a:prstGeom>
          <a:solidFill>
            <a:srgbClr val="ECE9D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6" name="Shape 24"/>
          <p:cNvSpPr/>
          <p:nvPr/>
        </p:nvSpPr>
        <p:spPr>
          <a:xfrm>
            <a:off x="6998940" y="5117306"/>
            <a:ext cx="1284238" cy="435769"/>
          </a:xfrm>
          <a:prstGeom prst="roundRect">
            <a:avLst>
              <a:gd name="adj" fmla="val 50000"/>
            </a:avLst>
          </a:prstGeom>
          <a:solidFill>
            <a:srgbClr val="8AA6C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7" name="Text 25"/>
          <p:cNvSpPr/>
          <p:nvPr/>
        </p:nvSpPr>
        <p:spPr>
          <a:xfrm>
            <a:off x="7083731" y="5182108"/>
            <a:ext cx="1237384" cy="3619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FBF8EF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Space Mono" pitchFamily="34" charset="-120"/>
              </a:rPr>
              <a:t>PERSONA</a:t>
            </a:r>
            <a:endParaRPr lang="en-US" sz="1700" dirty="0">
              <a:latin typeface="맑은 고딕" panose="020B0503020000020004" pitchFamily="50" charset="-127"/>
            </a:endParaRPr>
          </a:p>
        </p:txBody>
      </p:sp>
      <p:sp>
        <p:nvSpPr>
          <p:cNvPr id="28" name="Text 26"/>
          <p:cNvSpPr/>
          <p:nvPr/>
        </p:nvSpPr>
        <p:spPr>
          <a:xfrm>
            <a:off x="7357740" y="5755296"/>
            <a:ext cx="2246441" cy="4476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4A4A4A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Black Han Sans" pitchFamily="34" charset="-120"/>
              </a:rPr>
              <a:t>성향 매칭</a:t>
            </a:r>
            <a:endParaRPr lang="en-US" sz="2200" b="1" dirty="0">
              <a:latin typeface="맑은 고딕" panose="020B0503020000020004" pitchFamily="50" charset="-127"/>
            </a:endParaRPr>
          </a:p>
        </p:txBody>
      </p:sp>
      <p:sp>
        <p:nvSpPr>
          <p:cNvPr id="29" name="Text 27"/>
          <p:cNvSpPr/>
          <p:nvPr/>
        </p:nvSpPr>
        <p:spPr>
          <a:xfrm>
            <a:off x="6922901" y="6269646"/>
            <a:ext cx="2246441" cy="728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ctr">
              <a:lnSpc>
                <a:spcPct val="145000"/>
              </a:lnSpc>
              <a:buNone/>
            </a:pPr>
            <a:r>
              <a:rPr lang="en-US" sz="1875" dirty="0">
                <a:solidFill>
                  <a:srgbClr val="8C887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retendard" pitchFamily="34" charset="-120"/>
              </a:rPr>
              <a:t>5차원 </a:t>
            </a:r>
            <a:r>
              <a:rPr lang="en-US" sz="1875" dirty="0" err="1">
                <a:solidFill>
                  <a:srgbClr val="8C887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retendard" pitchFamily="34" charset="-120"/>
              </a:rPr>
              <a:t>설문으로</a:t>
            </a:r>
            <a:r>
              <a:rPr lang="en-US" sz="1875" dirty="0">
                <a:solidFill>
                  <a:srgbClr val="8C887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retendard" pitchFamily="34" charset="-120"/>
              </a:rPr>
              <a:t> </a:t>
            </a:r>
            <a:r>
              <a:rPr lang="en-US" sz="1875" dirty="0" err="1">
                <a:solidFill>
                  <a:srgbClr val="8C887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retendard" pitchFamily="34" charset="-120"/>
              </a:rPr>
              <a:t>그룹</a:t>
            </a:r>
            <a:r>
              <a:rPr lang="en-US" sz="1875" dirty="0">
                <a:solidFill>
                  <a:srgbClr val="8C887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retendard" pitchFamily="34" charset="-120"/>
              </a:rPr>
              <a:t> 평균 성향</a:t>
            </a:r>
            <a:endParaRPr lang="en-US" sz="1875" dirty="0">
              <a:latin typeface="맑은 고딕" panose="020B0503020000020004" pitchFamily="50" charset="-127"/>
            </a:endParaRPr>
          </a:p>
        </p:txBody>
      </p:sp>
      <p:sp>
        <p:nvSpPr>
          <p:cNvPr id="30" name="Text 28"/>
          <p:cNvSpPr/>
          <p:nvPr/>
        </p:nvSpPr>
        <p:spPr>
          <a:xfrm>
            <a:off x="9612660" y="4402931"/>
            <a:ext cx="5582379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950" b="1" dirty="0">
                <a:solidFill>
                  <a:srgbClr val="7E97B3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retendard" pitchFamily="34" charset="-120"/>
              </a:rPr>
              <a:t>· </a:t>
            </a:r>
            <a:r>
              <a:rPr lang="en-US" sz="1950" b="1" dirty="0" err="1">
                <a:solidFill>
                  <a:srgbClr val="7E97B3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retendard" pitchFamily="34" charset="-120"/>
              </a:rPr>
              <a:t>한국에</a:t>
            </a:r>
            <a:r>
              <a:rPr lang="en-US" sz="1950" b="1" dirty="0">
                <a:solidFill>
                  <a:srgbClr val="7E97B3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retendard" pitchFamily="34" charset="-120"/>
              </a:rPr>
              <a:t> 맞</a:t>
            </a:r>
            <a:r>
              <a:rPr lang="ko-KR" altLang="en-US" sz="1950" b="1" dirty="0">
                <a:solidFill>
                  <a:srgbClr val="7E97B3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retendard" pitchFamily="34" charset="-120"/>
              </a:rPr>
              <a:t>춘 기능</a:t>
            </a:r>
            <a:endParaRPr lang="en-US" sz="1950" dirty="0">
              <a:latin typeface="맑은 고딕" panose="020B0503020000020004" pitchFamily="50" charset="-127"/>
            </a:endParaRPr>
          </a:p>
        </p:txBody>
      </p:sp>
      <p:sp>
        <p:nvSpPr>
          <p:cNvPr id="31" name="Shape 29"/>
          <p:cNvSpPr/>
          <p:nvPr/>
        </p:nvSpPr>
        <p:spPr>
          <a:xfrm>
            <a:off x="9612660" y="4869656"/>
            <a:ext cx="2442121" cy="2357438"/>
          </a:xfrm>
          <a:prstGeom prst="roundRect">
            <a:avLst>
              <a:gd name="adj" fmla="val 8081"/>
            </a:avLst>
          </a:prstGeom>
          <a:solidFill>
            <a:srgbClr val="ECE9D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2" name="Shape 30"/>
          <p:cNvSpPr/>
          <p:nvPr/>
        </p:nvSpPr>
        <p:spPr>
          <a:xfrm>
            <a:off x="9860310" y="5117306"/>
            <a:ext cx="1424136" cy="419100"/>
          </a:xfrm>
          <a:prstGeom prst="roundRect">
            <a:avLst>
              <a:gd name="adj" fmla="val 50000"/>
            </a:avLst>
          </a:prstGeom>
          <a:solidFill>
            <a:srgbClr val="8AA6C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3" name="Text 31"/>
          <p:cNvSpPr/>
          <p:nvPr/>
        </p:nvSpPr>
        <p:spPr>
          <a:xfrm>
            <a:off x="9936510" y="5172583"/>
            <a:ext cx="1271736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FBF8EF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Space Mono" pitchFamily="34" charset="-120"/>
              </a:rPr>
              <a:t>DOMESTIC</a:t>
            </a:r>
            <a:endParaRPr lang="en-US" sz="1700" dirty="0">
              <a:latin typeface="맑은 고딕" panose="020B0503020000020004" pitchFamily="50" charset="-127"/>
            </a:endParaRPr>
          </a:p>
        </p:txBody>
      </p:sp>
      <p:sp>
        <p:nvSpPr>
          <p:cNvPr id="34" name="Text 32"/>
          <p:cNvSpPr/>
          <p:nvPr/>
        </p:nvSpPr>
        <p:spPr>
          <a:xfrm>
            <a:off x="10069860" y="5729656"/>
            <a:ext cx="1753795" cy="4476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4A4A4A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Black Han Sans" pitchFamily="34" charset="-120"/>
              </a:rPr>
              <a:t>국내 최적화</a:t>
            </a:r>
            <a:endParaRPr lang="en-US" sz="2200" b="1" dirty="0">
              <a:latin typeface="맑은 고딕" panose="020B0503020000020004" pitchFamily="50" charset="-127"/>
            </a:endParaRPr>
          </a:p>
        </p:txBody>
      </p:sp>
      <p:sp>
        <p:nvSpPr>
          <p:cNvPr id="35" name="Text 33"/>
          <p:cNvSpPr/>
          <p:nvPr/>
        </p:nvSpPr>
        <p:spPr>
          <a:xfrm>
            <a:off x="9860310" y="6250781"/>
            <a:ext cx="2023021" cy="728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ctr">
              <a:lnSpc>
                <a:spcPct val="145000"/>
              </a:lnSpc>
              <a:buNone/>
            </a:pPr>
            <a:r>
              <a:rPr lang="en-US" sz="1875" dirty="0">
                <a:solidFill>
                  <a:srgbClr val="8C887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retendard" pitchFamily="34" charset="-120"/>
              </a:rPr>
              <a:t>TourAPI·Kakao 기반 추천</a:t>
            </a:r>
            <a:endParaRPr lang="en-US" sz="1875" dirty="0">
              <a:latin typeface="맑은 고딕" panose="020B0503020000020004" pitchFamily="50" charset="-127"/>
            </a:endParaRPr>
          </a:p>
        </p:txBody>
      </p:sp>
      <p:sp>
        <p:nvSpPr>
          <p:cNvPr id="36" name="Shape 34"/>
          <p:cNvSpPr/>
          <p:nvPr/>
        </p:nvSpPr>
        <p:spPr>
          <a:xfrm>
            <a:off x="12245280" y="4869656"/>
            <a:ext cx="2442270" cy="2357438"/>
          </a:xfrm>
          <a:prstGeom prst="roundRect">
            <a:avLst>
              <a:gd name="adj" fmla="val 8081"/>
            </a:avLst>
          </a:prstGeom>
          <a:solidFill>
            <a:srgbClr val="ECE9D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7" name="Shape 35"/>
          <p:cNvSpPr/>
          <p:nvPr/>
        </p:nvSpPr>
        <p:spPr>
          <a:xfrm>
            <a:off x="12492930" y="5117306"/>
            <a:ext cx="1144339" cy="435769"/>
          </a:xfrm>
          <a:prstGeom prst="roundRect">
            <a:avLst>
              <a:gd name="adj" fmla="val 50000"/>
            </a:avLst>
          </a:prstGeom>
          <a:solidFill>
            <a:srgbClr val="8AA6C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8" name="Text 36"/>
          <p:cNvSpPr/>
          <p:nvPr/>
        </p:nvSpPr>
        <p:spPr>
          <a:xfrm>
            <a:off x="12681039" y="5182108"/>
            <a:ext cx="974106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FBF8EF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Space Mono" pitchFamily="34" charset="-120"/>
              </a:rPr>
              <a:t>SETTLE</a:t>
            </a:r>
            <a:endParaRPr lang="en-US" sz="1700" dirty="0">
              <a:latin typeface="맑은 고딕" panose="020B0503020000020004" pitchFamily="50" charset="-127"/>
            </a:endParaRPr>
          </a:p>
        </p:txBody>
      </p:sp>
      <p:sp>
        <p:nvSpPr>
          <p:cNvPr id="39" name="Text 37"/>
          <p:cNvSpPr/>
          <p:nvPr/>
        </p:nvSpPr>
        <p:spPr>
          <a:xfrm>
            <a:off x="12656716" y="5729655"/>
            <a:ext cx="1695598" cy="4476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4A4A4A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Black Han Sans" pitchFamily="34" charset="-120"/>
              </a:rPr>
              <a:t>한국형 정산</a:t>
            </a:r>
            <a:endParaRPr lang="en-US" sz="2200" b="1" dirty="0">
              <a:latin typeface="맑은 고딕" panose="020B0503020000020004" pitchFamily="50" charset="-127"/>
            </a:endParaRPr>
          </a:p>
        </p:txBody>
      </p:sp>
      <p:sp>
        <p:nvSpPr>
          <p:cNvPr id="40" name="Text 38"/>
          <p:cNvSpPr/>
          <p:nvPr/>
        </p:nvSpPr>
        <p:spPr>
          <a:xfrm>
            <a:off x="12492930" y="6250781"/>
            <a:ext cx="2023170" cy="728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ctr">
              <a:lnSpc>
                <a:spcPct val="145000"/>
              </a:lnSpc>
              <a:buNone/>
            </a:pPr>
            <a:r>
              <a:rPr lang="en-US" sz="1875" dirty="0" err="1">
                <a:solidFill>
                  <a:srgbClr val="8C887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retendard" pitchFamily="34" charset="-120"/>
              </a:rPr>
              <a:t>토스·카카오페이</a:t>
            </a:r>
            <a:r>
              <a:rPr lang="en-US" sz="1875" dirty="0">
                <a:solidFill>
                  <a:srgbClr val="8C887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retendard" pitchFamily="34" charset="-120"/>
              </a:rPr>
              <a:t> </a:t>
            </a:r>
          </a:p>
          <a:p>
            <a:pPr marL="0" indent="0" algn="ctr">
              <a:lnSpc>
                <a:spcPct val="145000"/>
              </a:lnSpc>
              <a:buNone/>
            </a:pPr>
            <a:r>
              <a:rPr lang="en-US" sz="1875" dirty="0" err="1">
                <a:solidFill>
                  <a:srgbClr val="8C887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retendard" pitchFamily="34" charset="-120"/>
              </a:rPr>
              <a:t>송금</a:t>
            </a:r>
            <a:r>
              <a:rPr lang="en-US" sz="1875" dirty="0">
                <a:solidFill>
                  <a:srgbClr val="8C887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retendard" pitchFamily="34" charset="-120"/>
              </a:rPr>
              <a:t> 연결</a:t>
            </a:r>
            <a:endParaRPr lang="en-US" sz="1875" dirty="0">
              <a:latin typeface="맑은 고딕" panose="020B0503020000020004" pitchFamily="50" charset="-127"/>
            </a:endParaRPr>
          </a:p>
        </p:txBody>
      </p:sp>
      <p:sp>
        <p:nvSpPr>
          <p:cNvPr id="41" name="Text 4">
            <a:extLst>
              <a:ext uri="{FF2B5EF4-FFF2-40B4-BE49-F238E27FC236}">
                <a16:creationId xmlns:a16="http://schemas.microsoft.com/office/drawing/2014/main" id="{225D760B-EBFD-4E43-B224-09B10F61AFD8}"/>
              </a:ext>
            </a:extLst>
          </p:cNvPr>
          <p:cNvSpPr/>
          <p:nvPr/>
        </p:nvSpPr>
        <p:spPr>
          <a:xfrm>
            <a:off x="15830996" y="1238250"/>
            <a:ext cx="1561207" cy="723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800" kern="0" spc="360" dirty="0">
                <a:solidFill>
                  <a:srgbClr val="B0AA9B"/>
                </a:solidFill>
                <a:latin typeface="맑은 고딕" panose="020B0503020000020004" pitchFamily="50" charset="-127"/>
                <a:ea typeface="Microsoft YaHei" panose="020B0503020204020204" pitchFamily="34" charset="-122"/>
                <a:cs typeface="Arial" panose="020B0604020202020204" pitchFamily="34" charset="0"/>
              </a:rPr>
              <a:t>BOARDING</a:t>
            </a:r>
          </a:p>
          <a:p>
            <a:pPr marL="0" indent="0" algn="ctr">
              <a:lnSpc>
                <a:spcPct val="150000"/>
              </a:lnSpc>
              <a:buNone/>
            </a:pPr>
            <a:r>
              <a:rPr lang="en-US" sz="1800" kern="0" spc="360" dirty="0">
                <a:solidFill>
                  <a:srgbClr val="B0AA9B"/>
                </a:solidFill>
                <a:latin typeface="맑은 고딕" panose="020B0503020000020004" pitchFamily="50" charset="-127"/>
                <a:ea typeface="Microsoft YaHei" panose="020B0503020204020204" pitchFamily="34" charset="-122"/>
                <a:cs typeface="Arial" panose="020B0604020202020204" pitchFamily="34" charset="0"/>
              </a:rPr>
              <a:t>PASS</a:t>
            </a:r>
            <a:endParaRPr lang="en-US" sz="1800" dirty="0">
              <a:latin typeface="맑은 고딕" panose="020B0503020000020004" pitchFamily="50" charset="-127"/>
              <a:cs typeface="Arial" panose="020B0604020202020204" pitchFamily="34" charset="0"/>
            </a:endParaRPr>
          </a:p>
        </p:txBody>
      </p:sp>
      <p:sp>
        <p:nvSpPr>
          <p:cNvPr id="42" name="Text 5">
            <a:extLst>
              <a:ext uri="{FF2B5EF4-FFF2-40B4-BE49-F238E27FC236}">
                <a16:creationId xmlns:a16="http://schemas.microsoft.com/office/drawing/2014/main" id="{3E5C16A4-A46A-4AE8-B720-82CF6207A6DD}"/>
              </a:ext>
            </a:extLst>
          </p:cNvPr>
          <p:cNvSpPr/>
          <p:nvPr/>
        </p:nvSpPr>
        <p:spPr>
          <a:xfrm rot="10800000">
            <a:off x="16373475" y="3166533"/>
            <a:ext cx="552450" cy="3055822"/>
          </a:xfrm>
          <a:prstGeom prst="rect">
            <a:avLst/>
          </a:prstGeom>
          <a:noFill/>
          <a:ln/>
        </p:spPr>
        <p:txBody>
          <a:bodyPr vert="eaVert"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3150" b="1" i="1" kern="0" spc="504" dirty="0">
                <a:solidFill>
                  <a:srgbClr val="4A4A4A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Georgia" pitchFamily="34" charset="-120"/>
              </a:rPr>
              <a:t>GROUTRIP</a:t>
            </a:r>
            <a:endParaRPr lang="en-US" sz="3150" dirty="0">
              <a:latin typeface="맑은 고딕" panose="020B0503020000020004" pitchFamily="50" charset="-127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87A0B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52450" y="552450"/>
            <a:ext cx="17183100" cy="9182100"/>
          </a:xfrm>
          <a:prstGeom prst="roundRect">
            <a:avLst>
              <a:gd name="adj" fmla="val 3734"/>
            </a:avLst>
          </a:prstGeom>
          <a:solidFill>
            <a:srgbClr val="FBF8EF"/>
          </a:solidFill>
          <a:ln/>
          <a:effectLst>
            <a:outerShdw blurRad="857250" dist="381000" dir="5400000" algn="bl" rotWithShape="0">
              <a:srgbClr val="233241">
                <a:alpha val="2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15468600" y="552450"/>
            <a:ext cx="19050" cy="9182100"/>
          </a:xfrm>
          <a:prstGeom prst="rect">
            <a:avLst/>
          </a:prstGeom>
          <a:solidFill>
            <a:srgbClr val="C7BFA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15278100" y="342900"/>
            <a:ext cx="419100" cy="419100"/>
          </a:xfrm>
          <a:prstGeom prst="ellipse">
            <a:avLst/>
          </a:prstGeom>
          <a:solidFill>
            <a:srgbClr val="87A0B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15278100" y="9525000"/>
            <a:ext cx="419100" cy="419100"/>
          </a:xfrm>
          <a:prstGeom prst="ellipse">
            <a:avLst/>
          </a:prstGeom>
          <a:solidFill>
            <a:srgbClr val="87A0B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Shape 6"/>
          <p:cNvSpPr/>
          <p:nvPr/>
        </p:nvSpPr>
        <p:spPr>
          <a:xfrm>
            <a:off x="15887551" y="7943850"/>
            <a:ext cx="1447800" cy="590550"/>
          </a:xfrm>
          <a:prstGeom prst="rect">
            <a:avLst/>
          </a:prstGeom>
          <a:blipFill>
            <a:blip r:embed="rId3"/>
            <a:tile tx="0" ty="0" sx="100000" sy="100000" flip="none" algn="tl"/>
          </a:blip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9" name="Text 7"/>
          <p:cNvSpPr/>
          <p:nvPr/>
        </p:nvSpPr>
        <p:spPr>
          <a:xfrm>
            <a:off x="15796766" y="8705850"/>
            <a:ext cx="1792471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kern="0" spc="324" dirty="0">
                <a:solidFill>
                  <a:srgbClr val="B0AA9B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Space Mono" pitchFamily="34" charset="-120"/>
              </a:rPr>
              <a:t>ADMIT ONE</a:t>
            </a:r>
            <a:endParaRPr lang="en-US" sz="1800" dirty="0">
              <a:latin typeface="맑은 고딕" panose="020B0503020000020004" pitchFamily="50" charset="-127"/>
            </a:endParaRPr>
          </a:p>
        </p:txBody>
      </p:sp>
      <p:sp>
        <p:nvSpPr>
          <p:cNvPr id="10" name="Text 8"/>
          <p:cNvSpPr/>
          <p:nvPr/>
        </p:nvSpPr>
        <p:spPr>
          <a:xfrm>
            <a:off x="1352550" y="1276350"/>
            <a:ext cx="5476949" cy="4286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2550" i="1" kern="0" spc="408" dirty="0">
                <a:solidFill>
                  <a:srgbClr val="8AA6C0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Cormorant Garamond" pitchFamily="34" charset="-120"/>
              </a:rPr>
              <a:t>Flight Path</a:t>
            </a:r>
            <a:endParaRPr lang="en-US" sz="2550" dirty="0">
              <a:latin typeface="맑은 고딕" panose="020B0503020000020004" pitchFamily="50" charset="-127"/>
            </a:endParaRPr>
          </a:p>
        </p:txBody>
      </p:sp>
      <p:sp>
        <p:nvSpPr>
          <p:cNvPr id="11" name="Text 9"/>
          <p:cNvSpPr/>
          <p:nvPr/>
        </p:nvSpPr>
        <p:spPr>
          <a:xfrm>
            <a:off x="1352550" y="1762125"/>
            <a:ext cx="5476949" cy="8953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85000" lnSpcReduction="10000"/>
          </a:bodyPr>
          <a:lstStyle/>
          <a:p>
            <a:pPr marL="0" indent="0" algn="l">
              <a:buNone/>
            </a:pPr>
            <a:r>
              <a:rPr lang="en-US" sz="5400" b="1" dirty="0">
                <a:solidFill>
                  <a:srgbClr val="4A4A4A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Black Han Sans" pitchFamily="34" charset="-120"/>
              </a:rPr>
              <a:t>사용자 여정 한눈에</a:t>
            </a:r>
            <a:endParaRPr lang="en-US" sz="5400" b="1" dirty="0">
              <a:latin typeface="맑은 고딕" panose="020B0503020000020004" pitchFamily="50" charset="-127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13629531" y="1276350"/>
            <a:ext cx="1134219" cy="4000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950" b="1" kern="0" spc="195" dirty="0">
                <a:solidFill>
                  <a:srgbClr val="A9A395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Space Mono" pitchFamily="34" charset="-120"/>
              </a:rPr>
              <a:t>No. 07</a:t>
            </a:r>
            <a:endParaRPr lang="en-US" sz="1950" b="1" dirty="0">
              <a:latin typeface="맑은 고딕" panose="020B0503020000020004" pitchFamily="50" charset="-127"/>
            </a:endParaRPr>
          </a:p>
        </p:txBody>
      </p:sp>
      <p:sp>
        <p:nvSpPr>
          <p:cNvPr id="13" name="Shape 11"/>
          <p:cNvSpPr/>
          <p:nvPr/>
        </p:nvSpPr>
        <p:spPr>
          <a:xfrm>
            <a:off x="2019300" y="5815013"/>
            <a:ext cx="12287250" cy="19050"/>
          </a:xfrm>
          <a:prstGeom prst="rect">
            <a:avLst/>
          </a:prstGeom>
          <a:solidFill>
            <a:srgbClr val="C7BFA9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14" name="Image 0" descr="preencoded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 rot="2700000">
            <a:off x="1403047" y="5532134"/>
            <a:ext cx="565756" cy="565756"/>
          </a:xfrm>
          <a:prstGeom prst="rect">
            <a:avLst/>
          </a:prstGeom>
        </p:spPr>
      </p:pic>
      <p:sp>
        <p:nvSpPr>
          <p:cNvPr id="15" name="Text 12"/>
          <p:cNvSpPr/>
          <p:nvPr/>
        </p:nvSpPr>
        <p:spPr>
          <a:xfrm>
            <a:off x="1843088" y="4386263"/>
            <a:ext cx="1781175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ctr">
              <a:buNone/>
            </a:pPr>
            <a:r>
              <a:rPr lang="en-US" sz="2250" b="1" dirty="0">
                <a:solidFill>
                  <a:srgbClr val="4A4A4A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retendard" pitchFamily="34" charset="-120"/>
              </a:rPr>
              <a:t>그룹 생성</a:t>
            </a:r>
            <a:endParaRPr lang="en-US" sz="2250" dirty="0">
              <a:latin typeface="맑은 고딕" panose="020B0503020000020004" pitchFamily="50" charset="-127"/>
            </a:endParaRPr>
          </a:p>
        </p:txBody>
      </p:sp>
      <p:sp>
        <p:nvSpPr>
          <p:cNvPr id="16" name="Shape 13"/>
          <p:cNvSpPr/>
          <p:nvPr/>
        </p:nvSpPr>
        <p:spPr>
          <a:xfrm>
            <a:off x="2466975" y="5548313"/>
            <a:ext cx="533400" cy="533400"/>
          </a:xfrm>
          <a:prstGeom prst="ellipse">
            <a:avLst/>
          </a:prstGeom>
          <a:solidFill>
            <a:srgbClr val="8AA6C0"/>
          </a:solidFill>
          <a:ln/>
          <a:effectLst>
            <a:outerShdw blurRad="101600" dist="50800" dir="16200000" algn="bl" rotWithShape="0">
              <a:srgbClr val="FBF8EF">
                <a:alpha val="10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4"/>
          <p:cNvSpPr/>
          <p:nvPr/>
        </p:nvSpPr>
        <p:spPr>
          <a:xfrm>
            <a:off x="2428875" y="5548313"/>
            <a:ext cx="609600" cy="571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950" b="1" dirty="0">
                <a:solidFill>
                  <a:srgbClr val="FBF8EF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Space Mono" pitchFamily="34" charset="-120"/>
              </a:rPr>
              <a:t>1</a:t>
            </a:r>
            <a:endParaRPr lang="en-US" sz="1950" dirty="0">
              <a:latin typeface="맑은 고딕" panose="020B0503020000020004" pitchFamily="50" charset="-127"/>
            </a:endParaRPr>
          </a:p>
        </p:txBody>
      </p:sp>
      <p:sp>
        <p:nvSpPr>
          <p:cNvPr id="18" name="Text 15"/>
          <p:cNvSpPr/>
          <p:nvPr/>
        </p:nvSpPr>
        <p:spPr>
          <a:xfrm>
            <a:off x="3716387" y="6605588"/>
            <a:ext cx="1781175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ctr">
              <a:buNone/>
            </a:pPr>
            <a:r>
              <a:rPr lang="en-US" sz="2250" b="1" dirty="0">
                <a:solidFill>
                  <a:srgbClr val="4A4A4A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retendard" pitchFamily="34" charset="-120"/>
              </a:rPr>
              <a:t>여행 계획</a:t>
            </a:r>
            <a:endParaRPr lang="en-US" sz="2250" dirty="0">
              <a:latin typeface="맑은 고딕" panose="020B0503020000020004" pitchFamily="50" charset="-127"/>
            </a:endParaRPr>
          </a:p>
        </p:txBody>
      </p:sp>
      <p:sp>
        <p:nvSpPr>
          <p:cNvPr id="19" name="Text 16"/>
          <p:cNvSpPr/>
          <p:nvPr/>
        </p:nvSpPr>
        <p:spPr>
          <a:xfrm>
            <a:off x="3716387" y="6967538"/>
            <a:ext cx="1781175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ctr">
              <a:buNone/>
            </a:pPr>
            <a:r>
              <a:rPr lang="en-US" sz="1800" dirty="0">
                <a:solidFill>
                  <a:srgbClr val="9A9486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retendard" pitchFamily="34" charset="-120"/>
              </a:rPr>
              <a:t>숙소·일정</a:t>
            </a:r>
            <a:endParaRPr lang="en-US" sz="1800" dirty="0">
              <a:latin typeface="맑은 고딕" panose="020B0503020000020004" pitchFamily="50" charset="-127"/>
            </a:endParaRPr>
          </a:p>
        </p:txBody>
      </p:sp>
      <p:sp>
        <p:nvSpPr>
          <p:cNvPr id="20" name="Shape 17"/>
          <p:cNvSpPr/>
          <p:nvPr/>
        </p:nvSpPr>
        <p:spPr>
          <a:xfrm>
            <a:off x="4340275" y="5548313"/>
            <a:ext cx="533400" cy="533400"/>
          </a:xfrm>
          <a:prstGeom prst="ellipse">
            <a:avLst/>
          </a:prstGeom>
          <a:solidFill>
            <a:srgbClr val="8AA6C0"/>
          </a:solidFill>
          <a:ln/>
          <a:effectLst>
            <a:outerShdw blurRad="101600" dist="50800" dir="16200000" algn="bl" rotWithShape="0">
              <a:srgbClr val="FBF8EF">
                <a:alpha val="10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1" name="Text 18"/>
          <p:cNvSpPr/>
          <p:nvPr/>
        </p:nvSpPr>
        <p:spPr>
          <a:xfrm>
            <a:off x="4302175" y="5548313"/>
            <a:ext cx="609600" cy="571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950" b="1" dirty="0">
                <a:solidFill>
                  <a:srgbClr val="FBF8EF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Space Mono" pitchFamily="34" charset="-120"/>
              </a:rPr>
              <a:t>2</a:t>
            </a:r>
            <a:endParaRPr lang="en-US" sz="1950" dirty="0">
              <a:latin typeface="맑은 고딕" panose="020B0503020000020004" pitchFamily="50" charset="-127"/>
            </a:endParaRPr>
          </a:p>
        </p:txBody>
      </p:sp>
      <p:sp>
        <p:nvSpPr>
          <p:cNvPr id="22" name="Text 19"/>
          <p:cNvSpPr/>
          <p:nvPr/>
        </p:nvSpPr>
        <p:spPr>
          <a:xfrm>
            <a:off x="5589538" y="4386263"/>
            <a:ext cx="1781175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ctr">
              <a:buNone/>
            </a:pPr>
            <a:r>
              <a:rPr lang="en-US" sz="2250" b="1" dirty="0">
                <a:solidFill>
                  <a:srgbClr val="4A4A4A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retendard" pitchFamily="34" charset="-120"/>
              </a:rPr>
              <a:t>장소 모으기</a:t>
            </a:r>
            <a:endParaRPr lang="en-US" sz="2250" dirty="0">
              <a:latin typeface="맑은 고딕" panose="020B0503020000020004" pitchFamily="50" charset="-127"/>
            </a:endParaRPr>
          </a:p>
        </p:txBody>
      </p:sp>
      <p:sp>
        <p:nvSpPr>
          <p:cNvPr id="23" name="Shape 20"/>
          <p:cNvSpPr/>
          <p:nvPr/>
        </p:nvSpPr>
        <p:spPr>
          <a:xfrm>
            <a:off x="6213425" y="5548313"/>
            <a:ext cx="533400" cy="533400"/>
          </a:xfrm>
          <a:prstGeom prst="ellipse">
            <a:avLst/>
          </a:prstGeom>
          <a:solidFill>
            <a:srgbClr val="8AA6C0"/>
          </a:solidFill>
          <a:ln/>
          <a:effectLst>
            <a:outerShdw blurRad="101600" dist="50800" dir="16200000" algn="bl" rotWithShape="0">
              <a:srgbClr val="FBF8EF">
                <a:alpha val="10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4" name="Text 21"/>
          <p:cNvSpPr/>
          <p:nvPr/>
        </p:nvSpPr>
        <p:spPr>
          <a:xfrm>
            <a:off x="6175325" y="5548313"/>
            <a:ext cx="609600" cy="571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950" b="1" dirty="0">
                <a:solidFill>
                  <a:srgbClr val="FBF8EF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Space Mono" pitchFamily="34" charset="-120"/>
              </a:rPr>
              <a:t>3</a:t>
            </a:r>
            <a:endParaRPr lang="en-US" sz="1950" dirty="0">
              <a:latin typeface="맑은 고딕" panose="020B0503020000020004" pitchFamily="50" charset="-127"/>
            </a:endParaRPr>
          </a:p>
        </p:txBody>
      </p:sp>
      <p:sp>
        <p:nvSpPr>
          <p:cNvPr id="25" name="Text 22"/>
          <p:cNvSpPr/>
          <p:nvPr/>
        </p:nvSpPr>
        <p:spPr>
          <a:xfrm>
            <a:off x="7462838" y="6900863"/>
            <a:ext cx="1781175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ctr">
              <a:buNone/>
            </a:pPr>
            <a:r>
              <a:rPr lang="en-US" sz="2250" b="1" dirty="0">
                <a:solidFill>
                  <a:srgbClr val="4A4A4A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retendard" pitchFamily="34" charset="-120"/>
              </a:rPr>
              <a:t>일정 짜기</a:t>
            </a:r>
            <a:endParaRPr lang="en-US" sz="2250" dirty="0">
              <a:latin typeface="맑은 고딕" panose="020B0503020000020004" pitchFamily="50" charset="-127"/>
            </a:endParaRPr>
          </a:p>
        </p:txBody>
      </p:sp>
      <p:sp>
        <p:nvSpPr>
          <p:cNvPr id="26" name="Shape 23"/>
          <p:cNvSpPr/>
          <p:nvPr/>
        </p:nvSpPr>
        <p:spPr>
          <a:xfrm>
            <a:off x="8086725" y="5548313"/>
            <a:ext cx="533400" cy="533400"/>
          </a:xfrm>
          <a:prstGeom prst="ellipse">
            <a:avLst/>
          </a:prstGeom>
          <a:solidFill>
            <a:srgbClr val="8AA6C0"/>
          </a:solidFill>
          <a:ln/>
          <a:effectLst>
            <a:outerShdw blurRad="101600" dist="50800" dir="16200000" algn="bl" rotWithShape="0">
              <a:srgbClr val="FBF8EF">
                <a:alpha val="10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7" name="Text 24"/>
          <p:cNvSpPr/>
          <p:nvPr/>
        </p:nvSpPr>
        <p:spPr>
          <a:xfrm>
            <a:off x="8048625" y="5548313"/>
            <a:ext cx="609600" cy="571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950" b="1" dirty="0">
                <a:solidFill>
                  <a:srgbClr val="FBF8EF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Space Mono" pitchFamily="34" charset="-120"/>
              </a:rPr>
              <a:t>4</a:t>
            </a:r>
            <a:endParaRPr lang="en-US" sz="1950" dirty="0">
              <a:latin typeface="맑은 고딕" panose="020B0503020000020004" pitchFamily="50" charset="-127"/>
            </a:endParaRPr>
          </a:p>
        </p:txBody>
      </p:sp>
      <p:sp>
        <p:nvSpPr>
          <p:cNvPr id="28" name="Text 25"/>
          <p:cNvSpPr/>
          <p:nvPr/>
        </p:nvSpPr>
        <p:spPr>
          <a:xfrm>
            <a:off x="9336137" y="4386263"/>
            <a:ext cx="1781175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ctr">
              <a:buNone/>
            </a:pPr>
            <a:r>
              <a:rPr lang="en-US" sz="2250" b="1" dirty="0">
                <a:solidFill>
                  <a:srgbClr val="4A4A4A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retendard" pitchFamily="34" charset="-120"/>
              </a:rPr>
              <a:t>투표</a:t>
            </a:r>
            <a:endParaRPr lang="en-US" sz="2250" dirty="0">
              <a:latin typeface="맑은 고딕" panose="020B0503020000020004" pitchFamily="50" charset="-127"/>
            </a:endParaRPr>
          </a:p>
        </p:txBody>
      </p:sp>
      <p:sp>
        <p:nvSpPr>
          <p:cNvPr id="29" name="Shape 26"/>
          <p:cNvSpPr/>
          <p:nvPr/>
        </p:nvSpPr>
        <p:spPr>
          <a:xfrm>
            <a:off x="9960025" y="5548313"/>
            <a:ext cx="533400" cy="533400"/>
          </a:xfrm>
          <a:prstGeom prst="ellipse">
            <a:avLst/>
          </a:prstGeom>
          <a:solidFill>
            <a:srgbClr val="8AA6C0"/>
          </a:solidFill>
          <a:ln/>
          <a:effectLst>
            <a:outerShdw blurRad="101600" dist="50800" dir="16200000" algn="bl" rotWithShape="0">
              <a:srgbClr val="FBF8EF">
                <a:alpha val="10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0" name="Text 27"/>
          <p:cNvSpPr/>
          <p:nvPr/>
        </p:nvSpPr>
        <p:spPr>
          <a:xfrm>
            <a:off x="9921925" y="5548313"/>
            <a:ext cx="609600" cy="571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950" b="1" dirty="0">
                <a:solidFill>
                  <a:srgbClr val="FBF8EF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Space Mono" pitchFamily="34" charset="-120"/>
              </a:rPr>
              <a:t>5</a:t>
            </a:r>
            <a:endParaRPr lang="en-US" sz="1950" dirty="0">
              <a:latin typeface="맑은 고딕" panose="020B0503020000020004" pitchFamily="50" charset="-127"/>
            </a:endParaRPr>
          </a:p>
        </p:txBody>
      </p:sp>
      <p:sp>
        <p:nvSpPr>
          <p:cNvPr id="31" name="Text 28"/>
          <p:cNvSpPr/>
          <p:nvPr/>
        </p:nvSpPr>
        <p:spPr>
          <a:xfrm>
            <a:off x="11209288" y="6900863"/>
            <a:ext cx="1781175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ctr">
              <a:buNone/>
            </a:pPr>
            <a:r>
              <a:rPr lang="en-US" sz="2250" b="1" dirty="0">
                <a:solidFill>
                  <a:srgbClr val="4A4A4A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retendard" pitchFamily="34" charset="-120"/>
              </a:rPr>
              <a:t>정산</a:t>
            </a:r>
            <a:endParaRPr lang="en-US" sz="2250" dirty="0">
              <a:latin typeface="맑은 고딕" panose="020B0503020000020004" pitchFamily="50" charset="-127"/>
            </a:endParaRPr>
          </a:p>
        </p:txBody>
      </p:sp>
      <p:sp>
        <p:nvSpPr>
          <p:cNvPr id="32" name="Shape 29"/>
          <p:cNvSpPr/>
          <p:nvPr/>
        </p:nvSpPr>
        <p:spPr>
          <a:xfrm>
            <a:off x="11833175" y="5548313"/>
            <a:ext cx="533400" cy="533400"/>
          </a:xfrm>
          <a:prstGeom prst="ellipse">
            <a:avLst/>
          </a:prstGeom>
          <a:solidFill>
            <a:srgbClr val="8AA6C0"/>
          </a:solidFill>
          <a:ln/>
          <a:effectLst>
            <a:outerShdw blurRad="101600" dist="50800" dir="16200000" algn="bl" rotWithShape="0">
              <a:srgbClr val="FBF8EF">
                <a:alpha val="10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3" name="Text 30"/>
          <p:cNvSpPr/>
          <p:nvPr/>
        </p:nvSpPr>
        <p:spPr>
          <a:xfrm>
            <a:off x="11795075" y="5548313"/>
            <a:ext cx="609600" cy="571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950" b="1" dirty="0">
                <a:solidFill>
                  <a:srgbClr val="FBF8EF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Space Mono" pitchFamily="34" charset="-120"/>
              </a:rPr>
              <a:t>6</a:t>
            </a:r>
            <a:endParaRPr lang="en-US" sz="1950" dirty="0">
              <a:latin typeface="맑은 고딕" panose="020B0503020000020004" pitchFamily="50" charset="-127"/>
            </a:endParaRPr>
          </a:p>
        </p:txBody>
      </p:sp>
      <p:sp>
        <p:nvSpPr>
          <p:cNvPr id="34" name="Text 31"/>
          <p:cNvSpPr/>
          <p:nvPr/>
        </p:nvSpPr>
        <p:spPr>
          <a:xfrm>
            <a:off x="13082588" y="4386263"/>
            <a:ext cx="1781175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ctr">
              <a:buNone/>
            </a:pPr>
            <a:r>
              <a:rPr lang="en-US" sz="2250" b="1" dirty="0">
                <a:solidFill>
                  <a:srgbClr val="7E97B3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retendard" pitchFamily="34" charset="-120"/>
              </a:rPr>
              <a:t>회고</a:t>
            </a:r>
            <a:endParaRPr lang="en-US" sz="2250" dirty="0">
              <a:latin typeface="맑은 고딕" panose="020B0503020000020004" pitchFamily="50" charset="-127"/>
            </a:endParaRPr>
          </a:p>
        </p:txBody>
      </p:sp>
      <p:sp>
        <p:nvSpPr>
          <p:cNvPr id="35" name="Shape 32"/>
          <p:cNvSpPr/>
          <p:nvPr/>
        </p:nvSpPr>
        <p:spPr>
          <a:xfrm>
            <a:off x="13668375" y="5510213"/>
            <a:ext cx="609600" cy="609600"/>
          </a:xfrm>
          <a:prstGeom prst="ellipse">
            <a:avLst/>
          </a:prstGeom>
          <a:solidFill>
            <a:srgbClr val="FBF8EF"/>
          </a:solidFill>
          <a:ln w="28575">
            <a:solidFill>
              <a:srgbClr val="8AA6C0"/>
            </a:solidFill>
            <a:prstDash val="solid"/>
          </a:ln>
          <a:effectLst>
            <a:outerShdw blurRad="101600" dist="50800" dir="16200000" algn="bl" rotWithShape="0">
              <a:srgbClr val="FBF8EF">
                <a:alpha val="10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36" name="Image 1" descr="preencoded.png"/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3830300" y="5672138"/>
            <a:ext cx="285750" cy="285750"/>
          </a:xfrm>
          <a:prstGeom prst="rect">
            <a:avLst/>
          </a:prstGeom>
        </p:spPr>
      </p:pic>
      <p:sp>
        <p:nvSpPr>
          <p:cNvPr id="37" name="Text 4">
            <a:extLst>
              <a:ext uri="{FF2B5EF4-FFF2-40B4-BE49-F238E27FC236}">
                <a16:creationId xmlns:a16="http://schemas.microsoft.com/office/drawing/2014/main" id="{5ED20C86-91FA-435D-AF47-0D6916330B77}"/>
              </a:ext>
            </a:extLst>
          </p:cNvPr>
          <p:cNvSpPr/>
          <p:nvPr/>
        </p:nvSpPr>
        <p:spPr>
          <a:xfrm>
            <a:off x="15830996" y="1238250"/>
            <a:ext cx="1561207" cy="723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800" kern="0" spc="360" dirty="0">
                <a:solidFill>
                  <a:srgbClr val="B0AA9B"/>
                </a:solidFill>
                <a:latin typeface="맑은 고딕" panose="020B0503020000020004" pitchFamily="50" charset="-127"/>
                <a:ea typeface="Microsoft YaHei" panose="020B0503020204020204" pitchFamily="34" charset="-122"/>
                <a:cs typeface="Arial" panose="020B0604020202020204" pitchFamily="34" charset="0"/>
              </a:rPr>
              <a:t>BOARDING</a:t>
            </a:r>
          </a:p>
          <a:p>
            <a:pPr marL="0" indent="0" algn="ctr">
              <a:lnSpc>
                <a:spcPct val="150000"/>
              </a:lnSpc>
              <a:buNone/>
            </a:pPr>
            <a:r>
              <a:rPr lang="en-US" sz="1800" kern="0" spc="360" dirty="0">
                <a:solidFill>
                  <a:srgbClr val="B0AA9B"/>
                </a:solidFill>
                <a:latin typeface="맑은 고딕" panose="020B0503020000020004" pitchFamily="50" charset="-127"/>
                <a:ea typeface="Microsoft YaHei" panose="020B0503020204020204" pitchFamily="34" charset="-122"/>
                <a:cs typeface="Arial" panose="020B0604020202020204" pitchFamily="34" charset="0"/>
              </a:rPr>
              <a:t>PASS</a:t>
            </a:r>
            <a:endParaRPr lang="en-US" sz="1800" dirty="0">
              <a:latin typeface="맑은 고딕" panose="020B0503020000020004" pitchFamily="50" charset="-127"/>
              <a:cs typeface="Arial" panose="020B0604020202020204" pitchFamily="34" charset="0"/>
            </a:endParaRPr>
          </a:p>
        </p:txBody>
      </p:sp>
      <p:sp>
        <p:nvSpPr>
          <p:cNvPr id="38" name="Text 5">
            <a:extLst>
              <a:ext uri="{FF2B5EF4-FFF2-40B4-BE49-F238E27FC236}">
                <a16:creationId xmlns:a16="http://schemas.microsoft.com/office/drawing/2014/main" id="{90FC1031-DB50-473C-A006-FC24625824DD}"/>
              </a:ext>
            </a:extLst>
          </p:cNvPr>
          <p:cNvSpPr/>
          <p:nvPr/>
        </p:nvSpPr>
        <p:spPr>
          <a:xfrm rot="10800000">
            <a:off x="16373475" y="3166533"/>
            <a:ext cx="552450" cy="3055822"/>
          </a:xfrm>
          <a:prstGeom prst="rect">
            <a:avLst/>
          </a:prstGeom>
          <a:noFill/>
          <a:ln/>
        </p:spPr>
        <p:txBody>
          <a:bodyPr vert="eaVert"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3150" b="1" i="1" kern="0" spc="504" dirty="0">
                <a:solidFill>
                  <a:srgbClr val="4A4A4A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Georgia" pitchFamily="34" charset="-120"/>
              </a:rPr>
              <a:t>GROUTRIP</a:t>
            </a:r>
            <a:endParaRPr lang="en-US" sz="3150" dirty="0">
              <a:latin typeface="맑은 고딕" panose="020B0503020000020004" pitchFamily="50" charset="-127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87A0B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52450" y="552450"/>
            <a:ext cx="17183100" cy="9182100"/>
          </a:xfrm>
          <a:prstGeom prst="roundRect">
            <a:avLst>
              <a:gd name="adj" fmla="val 3734"/>
            </a:avLst>
          </a:prstGeom>
          <a:solidFill>
            <a:srgbClr val="FBF8EF"/>
          </a:solidFill>
          <a:ln/>
          <a:effectLst>
            <a:outerShdw blurRad="857250" dist="381000" dir="5400000" algn="bl" rotWithShape="0">
              <a:srgbClr val="233241">
                <a:alpha val="2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15468600" y="552450"/>
            <a:ext cx="19050" cy="9182100"/>
          </a:xfrm>
          <a:prstGeom prst="rect">
            <a:avLst/>
          </a:prstGeom>
          <a:solidFill>
            <a:srgbClr val="C7BFA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15278100" y="342900"/>
            <a:ext cx="419100" cy="419100"/>
          </a:xfrm>
          <a:prstGeom prst="ellipse">
            <a:avLst/>
          </a:prstGeom>
          <a:solidFill>
            <a:srgbClr val="87A0B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15278100" y="9525000"/>
            <a:ext cx="419100" cy="419100"/>
          </a:xfrm>
          <a:prstGeom prst="ellipse">
            <a:avLst/>
          </a:prstGeom>
          <a:solidFill>
            <a:srgbClr val="87A0B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Shape 6"/>
          <p:cNvSpPr/>
          <p:nvPr/>
        </p:nvSpPr>
        <p:spPr>
          <a:xfrm>
            <a:off x="15887551" y="7943850"/>
            <a:ext cx="1447800" cy="590550"/>
          </a:xfrm>
          <a:prstGeom prst="rect">
            <a:avLst/>
          </a:prstGeom>
          <a:blipFill>
            <a:blip r:embed="rId3"/>
            <a:tile tx="0" ty="0" sx="100000" sy="100000" flip="none" algn="tl"/>
          </a:blip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9" name="Text 7"/>
          <p:cNvSpPr/>
          <p:nvPr/>
        </p:nvSpPr>
        <p:spPr>
          <a:xfrm>
            <a:off x="15796766" y="8705850"/>
            <a:ext cx="1792471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kern="0" spc="324" dirty="0">
                <a:solidFill>
                  <a:srgbClr val="B0AA9B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Space Mono" pitchFamily="34" charset="-120"/>
              </a:rPr>
              <a:t>ADMIT ONE</a:t>
            </a:r>
            <a:endParaRPr lang="en-US" sz="1800" dirty="0">
              <a:latin typeface="맑은 고딕" panose="020B0503020000020004" pitchFamily="50" charset="-127"/>
            </a:endParaRPr>
          </a:p>
        </p:txBody>
      </p:sp>
      <p:sp>
        <p:nvSpPr>
          <p:cNvPr id="10" name="Text 8"/>
          <p:cNvSpPr/>
          <p:nvPr/>
        </p:nvSpPr>
        <p:spPr>
          <a:xfrm>
            <a:off x="1352550" y="1276350"/>
            <a:ext cx="6341343" cy="4286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2550" i="1" kern="0" spc="408" dirty="0">
                <a:solidFill>
                  <a:srgbClr val="8AA6C0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Cormorant Garamond" pitchFamily="34" charset="-120"/>
              </a:rPr>
              <a:t>Feature 01 · Group</a:t>
            </a:r>
            <a:endParaRPr lang="en-US" sz="2550" dirty="0">
              <a:latin typeface="맑은 고딕" panose="020B0503020000020004" pitchFamily="50" charset="-127"/>
            </a:endParaRPr>
          </a:p>
        </p:txBody>
      </p:sp>
      <p:sp>
        <p:nvSpPr>
          <p:cNvPr id="11" name="Text 9"/>
          <p:cNvSpPr/>
          <p:nvPr/>
        </p:nvSpPr>
        <p:spPr>
          <a:xfrm>
            <a:off x="1352550" y="1762125"/>
            <a:ext cx="6341343" cy="8953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85000" lnSpcReduction="10000"/>
          </a:bodyPr>
          <a:lstStyle/>
          <a:p>
            <a:pPr marL="0" indent="0" algn="l">
              <a:buNone/>
            </a:pPr>
            <a:r>
              <a:rPr lang="en-US" sz="5400" b="1" dirty="0">
                <a:solidFill>
                  <a:srgbClr val="4A4A4A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Black Han Sans" pitchFamily="34" charset="-120"/>
              </a:rPr>
              <a:t>그룹 &amp; 성향 페르소나</a:t>
            </a:r>
            <a:endParaRPr lang="en-US" sz="5400" b="1" dirty="0">
              <a:latin typeface="맑은 고딕" panose="020B0503020000020004" pitchFamily="50" charset="-127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13629531" y="1276350"/>
            <a:ext cx="1134219" cy="4000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950" b="1" kern="0" spc="195" dirty="0">
                <a:solidFill>
                  <a:srgbClr val="A9A395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Space Mono" pitchFamily="34" charset="-120"/>
              </a:rPr>
              <a:t>No. 08</a:t>
            </a:r>
            <a:endParaRPr lang="en-US" sz="1950" b="1" dirty="0">
              <a:latin typeface="맑은 고딕" panose="020B0503020000020004" pitchFamily="50" charset="-127"/>
            </a:endParaRPr>
          </a:p>
        </p:txBody>
      </p:sp>
      <p:sp>
        <p:nvSpPr>
          <p:cNvPr id="13" name="Shape 11"/>
          <p:cNvSpPr/>
          <p:nvPr/>
        </p:nvSpPr>
        <p:spPr>
          <a:xfrm>
            <a:off x="1352550" y="3467405"/>
            <a:ext cx="5767983" cy="4333875"/>
          </a:xfrm>
          <a:prstGeom prst="roundRect">
            <a:avLst>
              <a:gd name="adj" fmla="val 5275"/>
            </a:avLst>
          </a:prstGeom>
          <a:solidFill>
            <a:srgbClr val="ECE9DD"/>
          </a:solidFill>
          <a:ln/>
        </p:spPr>
        <p:txBody>
          <a:bodyPr/>
          <a:lstStyle/>
          <a:p>
            <a:endParaRPr lang="ko-KR" altLang="en-US"/>
          </a:p>
        </p:txBody>
      </p:sp>
      <p:grpSp>
        <p:nvGrpSpPr>
          <p:cNvPr id="6" name="그룹 5">
            <a:extLst>
              <a:ext uri="{FF2B5EF4-FFF2-40B4-BE49-F238E27FC236}">
                <a16:creationId xmlns:a16="http://schemas.microsoft.com/office/drawing/2014/main" id="{D091EEFC-1CC6-446C-A8D0-ED317E19B3D7}"/>
              </a:ext>
            </a:extLst>
          </p:cNvPr>
          <p:cNvGrpSpPr/>
          <p:nvPr/>
        </p:nvGrpSpPr>
        <p:grpSpPr>
          <a:xfrm>
            <a:off x="1758891" y="3830002"/>
            <a:ext cx="952500" cy="475695"/>
            <a:chOff x="1758891" y="5039372"/>
            <a:chExt cx="952500" cy="475695"/>
          </a:xfrm>
        </p:grpSpPr>
        <p:sp>
          <p:nvSpPr>
            <p:cNvPr id="14" name="Shape 12"/>
            <p:cNvSpPr/>
            <p:nvPr/>
          </p:nvSpPr>
          <p:spPr>
            <a:xfrm>
              <a:off x="1758891" y="5039372"/>
              <a:ext cx="952500" cy="419100"/>
            </a:xfrm>
            <a:prstGeom prst="roundRect">
              <a:avLst>
                <a:gd name="adj" fmla="val 50000"/>
              </a:avLst>
            </a:prstGeom>
            <a:solidFill>
              <a:srgbClr val="8AA6C0"/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5" name="Text 13"/>
            <p:cNvSpPr/>
            <p:nvPr/>
          </p:nvSpPr>
          <p:spPr>
            <a:xfrm>
              <a:off x="1872756" y="5134067"/>
              <a:ext cx="775841" cy="381000"/>
            </a:xfrm>
            <a:prstGeom prst="rect">
              <a:avLst/>
            </a:prstGeom>
            <a:noFill/>
            <a:ln/>
          </p:spPr>
          <p:txBody>
            <a:bodyPr wrap="square" lIns="25400" tIns="25400" rIns="25400" bIns="25400" rtlCol="0" anchor="t">
              <a:normAutofit fontScale="85000" lnSpcReduction="10000"/>
            </a:bodyPr>
            <a:lstStyle/>
            <a:p>
              <a:pPr marL="0" indent="0" algn="l">
                <a:buNone/>
              </a:pPr>
              <a:r>
                <a:rPr lang="en-US" sz="1800" b="1" dirty="0">
                  <a:solidFill>
                    <a:srgbClr val="FBF8EF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  <a:cs typeface="Space Mono" pitchFamily="34" charset="-120"/>
                </a:rPr>
                <a:t>GROUP</a:t>
              </a:r>
              <a:endParaRPr lang="en-US" sz="1800" dirty="0">
                <a:latin typeface="맑은 고딕" panose="020B0503020000020004" pitchFamily="50" charset="-127"/>
              </a:endParaRPr>
            </a:p>
          </p:txBody>
        </p:sp>
      </p:grpSp>
      <p:sp>
        <p:nvSpPr>
          <p:cNvPr id="16" name="Text 14"/>
          <p:cNvSpPr/>
          <p:nvPr/>
        </p:nvSpPr>
        <p:spPr>
          <a:xfrm>
            <a:off x="1714500" y="4486672"/>
            <a:ext cx="4698645" cy="5143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3000" dirty="0" err="1">
                <a:solidFill>
                  <a:srgbClr val="4A4A4A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Black Han Sans" pitchFamily="34" charset="-120"/>
              </a:rPr>
              <a:t>초대코드로</a:t>
            </a:r>
            <a:r>
              <a:rPr lang="en-US" sz="3000" dirty="0">
                <a:solidFill>
                  <a:srgbClr val="4A4A4A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Black Han Sans" pitchFamily="34" charset="-120"/>
              </a:rPr>
              <a:t> </a:t>
            </a:r>
            <a:r>
              <a:rPr lang="ko-KR" altLang="en-US" sz="3000" dirty="0">
                <a:solidFill>
                  <a:srgbClr val="4A4A4A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Black Han Sans" pitchFamily="34" charset="-120"/>
              </a:rPr>
              <a:t>사람을 </a:t>
            </a:r>
            <a:r>
              <a:rPr lang="ko-KR" altLang="en-US" sz="3000" dirty="0" err="1">
                <a:solidFill>
                  <a:srgbClr val="4A4A4A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Black Han Sans" pitchFamily="34" charset="-120"/>
              </a:rPr>
              <a:t>모아요</a:t>
            </a:r>
            <a:endParaRPr lang="en-US" sz="3000" dirty="0">
              <a:latin typeface="맑은 고딕" panose="020B0503020000020004" pitchFamily="50" charset="-127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1714500" y="5258105"/>
            <a:ext cx="5548491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kern="0" spc="324" dirty="0">
                <a:solidFill>
                  <a:srgbClr val="9A9486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Space Mono" pitchFamily="34" charset="-120"/>
              </a:rPr>
              <a:t>INVITE CODE</a:t>
            </a:r>
            <a:endParaRPr lang="en-US" sz="1800" dirty="0">
              <a:latin typeface="맑은 고딕" panose="020B0503020000020004" pitchFamily="50" charset="-127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1714500" y="6505880"/>
            <a:ext cx="5044083" cy="19050"/>
          </a:xfrm>
          <a:prstGeom prst="rect">
            <a:avLst/>
          </a:prstGeom>
          <a:solidFill>
            <a:srgbClr val="B7AF9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7"/>
          <p:cNvSpPr/>
          <p:nvPr/>
        </p:nvSpPr>
        <p:spPr>
          <a:xfrm>
            <a:off x="1714500" y="5715305"/>
            <a:ext cx="5195405" cy="695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3450" b="1" kern="0" spc="483" dirty="0">
                <a:solidFill>
                  <a:srgbClr val="4A4A4A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Space Mono" pitchFamily="34" charset="-120"/>
              </a:rPr>
              <a:t>TRIP-8KQ2</a:t>
            </a:r>
            <a:endParaRPr lang="en-US" sz="3450" dirty="0">
              <a:latin typeface="맑은 고딕" panose="020B0503020000020004" pitchFamily="50" charset="-127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1714500" y="6848780"/>
            <a:ext cx="609600" cy="609600"/>
          </a:xfrm>
          <a:prstGeom prst="ellipse">
            <a:avLst/>
          </a:prstGeom>
          <a:solidFill>
            <a:srgbClr val="8AA6C0"/>
          </a:solidFill>
          <a:ln w="28575">
            <a:solidFill>
              <a:srgbClr val="FBF8E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1" name="Text 19"/>
          <p:cNvSpPr/>
          <p:nvPr/>
        </p:nvSpPr>
        <p:spPr>
          <a:xfrm>
            <a:off x="1704975" y="6877355"/>
            <a:ext cx="628650" cy="590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950" b="1" dirty="0">
                <a:solidFill>
                  <a:srgbClr val="FBF8EF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retendard" pitchFamily="34" charset="-120"/>
              </a:rPr>
              <a:t>민</a:t>
            </a:r>
            <a:endParaRPr lang="en-US" sz="1950" dirty="0">
              <a:latin typeface="맑은 고딕" panose="020B0503020000020004" pitchFamily="50" charset="-127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2190750" y="6848780"/>
            <a:ext cx="609600" cy="609600"/>
          </a:xfrm>
          <a:prstGeom prst="ellipse">
            <a:avLst/>
          </a:prstGeom>
          <a:solidFill>
            <a:srgbClr val="9CB0C4"/>
          </a:solidFill>
          <a:ln w="28575">
            <a:solidFill>
              <a:srgbClr val="FBF8E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Text 21"/>
          <p:cNvSpPr/>
          <p:nvPr/>
        </p:nvSpPr>
        <p:spPr>
          <a:xfrm>
            <a:off x="2181225" y="6877355"/>
            <a:ext cx="628650" cy="590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950" b="1" dirty="0">
                <a:solidFill>
                  <a:srgbClr val="FBF8EF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retendard" pitchFamily="34" charset="-120"/>
              </a:rPr>
              <a:t>희</a:t>
            </a:r>
            <a:endParaRPr lang="en-US" sz="1950" dirty="0">
              <a:latin typeface="맑은 고딕" panose="020B0503020000020004" pitchFamily="50" charset="-127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2667000" y="6848780"/>
            <a:ext cx="609600" cy="609600"/>
          </a:xfrm>
          <a:prstGeom prst="ellipse">
            <a:avLst/>
          </a:prstGeom>
          <a:solidFill>
            <a:srgbClr val="B6A98F"/>
          </a:solidFill>
          <a:ln w="28575">
            <a:solidFill>
              <a:srgbClr val="FBF8E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5" name="Text 23"/>
          <p:cNvSpPr/>
          <p:nvPr/>
        </p:nvSpPr>
        <p:spPr>
          <a:xfrm>
            <a:off x="2657475" y="6877355"/>
            <a:ext cx="628650" cy="590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950" b="1" dirty="0">
                <a:solidFill>
                  <a:srgbClr val="FBF8EF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retendard" pitchFamily="34" charset="-120"/>
              </a:rPr>
              <a:t>준</a:t>
            </a:r>
            <a:endParaRPr lang="en-US" sz="1950" dirty="0">
              <a:latin typeface="맑은 고딕" panose="020B0503020000020004" pitchFamily="50" charset="-127"/>
            </a:endParaRPr>
          </a:p>
        </p:txBody>
      </p:sp>
      <p:sp>
        <p:nvSpPr>
          <p:cNvPr id="26" name="Shape 24"/>
          <p:cNvSpPr/>
          <p:nvPr/>
        </p:nvSpPr>
        <p:spPr>
          <a:xfrm>
            <a:off x="3143250" y="6848780"/>
            <a:ext cx="609600" cy="609600"/>
          </a:xfrm>
          <a:prstGeom prst="ellipse">
            <a:avLst/>
          </a:prstGeom>
          <a:solidFill>
            <a:srgbClr val="D8D3C4"/>
          </a:solidFill>
          <a:ln w="28575">
            <a:solidFill>
              <a:srgbClr val="FBF8E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7" name="Text 25"/>
          <p:cNvSpPr/>
          <p:nvPr/>
        </p:nvSpPr>
        <p:spPr>
          <a:xfrm>
            <a:off x="3133725" y="6877355"/>
            <a:ext cx="628650" cy="590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950" b="1" dirty="0">
                <a:solidFill>
                  <a:srgbClr val="7C7768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retendard" pitchFamily="34" charset="-120"/>
              </a:rPr>
              <a:t>+2</a:t>
            </a:r>
            <a:endParaRPr lang="en-US" sz="1950" dirty="0">
              <a:latin typeface="맑은 고딕" panose="020B0503020000020004" pitchFamily="50" charset="-127"/>
            </a:endParaRPr>
          </a:p>
        </p:txBody>
      </p:sp>
      <p:sp>
        <p:nvSpPr>
          <p:cNvPr id="28" name="Text 26"/>
          <p:cNvSpPr/>
          <p:nvPr/>
        </p:nvSpPr>
        <p:spPr>
          <a:xfrm>
            <a:off x="3924300" y="6996418"/>
            <a:ext cx="1246882" cy="3524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85000" lnSpcReduction="10000"/>
          </a:bodyPr>
          <a:lstStyle/>
          <a:p>
            <a:pPr marL="0" indent="0" algn="l">
              <a:buNone/>
            </a:pPr>
            <a:r>
              <a:rPr lang="en-US" sz="2025" dirty="0">
                <a:solidFill>
                  <a:srgbClr val="8C887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retendard" pitchFamily="34" charset="-120"/>
              </a:rPr>
              <a:t>5명 참여 중</a:t>
            </a:r>
            <a:endParaRPr lang="en-US" sz="2025" dirty="0">
              <a:latin typeface="맑은 고딕" panose="020B0503020000020004" pitchFamily="50" charset="-127"/>
            </a:endParaRPr>
          </a:p>
        </p:txBody>
      </p:sp>
      <p:sp>
        <p:nvSpPr>
          <p:cNvPr id="29" name="Shape 27"/>
          <p:cNvSpPr/>
          <p:nvPr/>
        </p:nvSpPr>
        <p:spPr>
          <a:xfrm>
            <a:off x="7406283" y="3467408"/>
            <a:ext cx="7281267" cy="4333875"/>
          </a:xfrm>
          <a:prstGeom prst="roundRect">
            <a:avLst>
              <a:gd name="adj" fmla="val 5275"/>
            </a:avLst>
          </a:prstGeom>
          <a:solidFill>
            <a:srgbClr val="ECE9D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0" name="Shape 28"/>
          <p:cNvSpPr/>
          <p:nvPr/>
        </p:nvSpPr>
        <p:spPr>
          <a:xfrm>
            <a:off x="7768233" y="3810308"/>
            <a:ext cx="1314450" cy="381000"/>
          </a:xfrm>
          <a:prstGeom prst="roundRect">
            <a:avLst>
              <a:gd name="adj" fmla="val 50000"/>
            </a:avLst>
          </a:prstGeom>
          <a:solidFill>
            <a:srgbClr val="8AA6C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1" name="Text 29"/>
          <p:cNvSpPr/>
          <p:nvPr/>
        </p:nvSpPr>
        <p:spPr>
          <a:xfrm>
            <a:off x="7939683" y="3878277"/>
            <a:ext cx="1055638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85000" lnSpcReduction="10000"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BF8EF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Space Mono" pitchFamily="34" charset="-120"/>
              </a:rPr>
              <a:t>PERSONA</a:t>
            </a:r>
            <a:endParaRPr lang="en-US" sz="1800" dirty="0">
              <a:latin typeface="맑은 고딕" panose="020B0503020000020004" pitchFamily="50" charset="-127"/>
            </a:endParaRPr>
          </a:p>
        </p:txBody>
      </p:sp>
      <p:sp>
        <p:nvSpPr>
          <p:cNvPr id="32" name="Text 30"/>
          <p:cNvSpPr/>
          <p:nvPr/>
        </p:nvSpPr>
        <p:spPr>
          <a:xfrm>
            <a:off x="12830026" y="3905558"/>
            <a:ext cx="1645131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buNone/>
            </a:pPr>
            <a:r>
              <a:rPr lang="en-US" sz="1875" b="1" dirty="0">
                <a:solidFill>
                  <a:srgbClr val="9A9486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retendard" pitchFamily="34" charset="-120"/>
              </a:rPr>
              <a:t>5차원 성향 설문</a:t>
            </a:r>
            <a:endParaRPr lang="en-US" sz="1875" b="1" dirty="0">
              <a:latin typeface="맑은 고딕" panose="020B0503020000020004" pitchFamily="50" charset="-127"/>
            </a:endParaRPr>
          </a:p>
        </p:txBody>
      </p:sp>
      <p:sp>
        <p:nvSpPr>
          <p:cNvPr id="33" name="Text 31"/>
          <p:cNvSpPr/>
          <p:nvPr/>
        </p:nvSpPr>
        <p:spPr>
          <a:xfrm>
            <a:off x="7692033" y="5143808"/>
            <a:ext cx="1219200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r">
              <a:buNone/>
            </a:pPr>
            <a:r>
              <a:rPr lang="en-US" sz="1800" dirty="0">
                <a:solidFill>
                  <a:srgbClr val="8C887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retendard" pitchFamily="34" charset="-120"/>
              </a:rPr>
              <a:t>계획형</a:t>
            </a:r>
            <a:endParaRPr lang="en-US" sz="1800" dirty="0">
              <a:latin typeface="맑은 고딕" panose="020B0503020000020004" pitchFamily="50" charset="-127"/>
            </a:endParaRPr>
          </a:p>
        </p:txBody>
      </p:sp>
      <p:sp>
        <p:nvSpPr>
          <p:cNvPr id="34" name="Shape 32"/>
          <p:cNvSpPr/>
          <p:nvPr/>
        </p:nvSpPr>
        <p:spPr>
          <a:xfrm>
            <a:off x="9082683" y="5243821"/>
            <a:ext cx="3928467" cy="76200"/>
          </a:xfrm>
          <a:prstGeom prst="roundRect">
            <a:avLst>
              <a:gd name="adj" fmla="val 50000"/>
            </a:avLst>
          </a:prstGeom>
          <a:solidFill>
            <a:srgbClr val="D8D3C4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5" name="Shape 33"/>
          <p:cNvSpPr/>
          <p:nvPr/>
        </p:nvSpPr>
        <p:spPr>
          <a:xfrm>
            <a:off x="10461129" y="5167621"/>
            <a:ext cx="228600" cy="228600"/>
          </a:xfrm>
          <a:prstGeom prst="ellipse">
            <a:avLst/>
          </a:prstGeom>
          <a:solidFill>
            <a:srgbClr val="8AA6C0"/>
          </a:solidFill>
          <a:ln w="28575">
            <a:solidFill>
              <a:srgbClr val="FBF8E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6" name="Text 34"/>
          <p:cNvSpPr/>
          <p:nvPr/>
        </p:nvSpPr>
        <p:spPr>
          <a:xfrm>
            <a:off x="13182600" y="5143808"/>
            <a:ext cx="1219200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8C887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retendard" pitchFamily="34" charset="-120"/>
              </a:rPr>
              <a:t>즉흥형</a:t>
            </a:r>
            <a:endParaRPr lang="en-US" sz="1800" dirty="0">
              <a:latin typeface="맑은 고딕" panose="020B0503020000020004" pitchFamily="50" charset="-127"/>
            </a:endParaRPr>
          </a:p>
        </p:txBody>
      </p:sp>
      <p:sp>
        <p:nvSpPr>
          <p:cNvPr id="37" name="Text 35"/>
          <p:cNvSpPr/>
          <p:nvPr/>
        </p:nvSpPr>
        <p:spPr>
          <a:xfrm>
            <a:off x="7692033" y="5610533"/>
            <a:ext cx="1219200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r">
              <a:buNone/>
            </a:pPr>
            <a:r>
              <a:rPr lang="en-US" sz="1800" dirty="0">
                <a:solidFill>
                  <a:srgbClr val="8C887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retendard" pitchFamily="34" charset="-120"/>
              </a:rPr>
              <a:t>액티비티</a:t>
            </a:r>
            <a:endParaRPr lang="en-US" sz="1800" dirty="0">
              <a:latin typeface="맑은 고딕" panose="020B0503020000020004" pitchFamily="50" charset="-127"/>
            </a:endParaRPr>
          </a:p>
        </p:txBody>
      </p:sp>
      <p:sp>
        <p:nvSpPr>
          <p:cNvPr id="38" name="Shape 36"/>
          <p:cNvSpPr/>
          <p:nvPr/>
        </p:nvSpPr>
        <p:spPr>
          <a:xfrm>
            <a:off x="9082683" y="5710546"/>
            <a:ext cx="3928467" cy="76200"/>
          </a:xfrm>
          <a:prstGeom prst="roundRect">
            <a:avLst>
              <a:gd name="adj" fmla="val 50000"/>
            </a:avLst>
          </a:prstGeom>
          <a:solidFill>
            <a:srgbClr val="D8D3C4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9" name="Shape 37"/>
          <p:cNvSpPr/>
          <p:nvPr/>
        </p:nvSpPr>
        <p:spPr>
          <a:xfrm>
            <a:off x="11561118" y="5634346"/>
            <a:ext cx="228600" cy="228600"/>
          </a:xfrm>
          <a:prstGeom prst="ellipse">
            <a:avLst/>
          </a:prstGeom>
          <a:solidFill>
            <a:srgbClr val="8AA6C0"/>
          </a:solidFill>
          <a:ln w="28575">
            <a:solidFill>
              <a:srgbClr val="FBF8E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0" name="Text 38"/>
          <p:cNvSpPr/>
          <p:nvPr/>
        </p:nvSpPr>
        <p:spPr>
          <a:xfrm>
            <a:off x="13182600" y="5610533"/>
            <a:ext cx="1219200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8C887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retendard" pitchFamily="34" charset="-120"/>
              </a:rPr>
              <a:t>휴식</a:t>
            </a:r>
            <a:endParaRPr lang="en-US" sz="1800" dirty="0">
              <a:latin typeface="맑은 고딕" panose="020B0503020000020004" pitchFamily="50" charset="-127"/>
            </a:endParaRPr>
          </a:p>
        </p:txBody>
      </p:sp>
      <p:sp>
        <p:nvSpPr>
          <p:cNvPr id="41" name="Text 39"/>
          <p:cNvSpPr/>
          <p:nvPr/>
        </p:nvSpPr>
        <p:spPr>
          <a:xfrm>
            <a:off x="7692033" y="6077258"/>
            <a:ext cx="1219200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r">
              <a:buNone/>
            </a:pPr>
            <a:r>
              <a:rPr lang="en-US" sz="1800" dirty="0">
                <a:solidFill>
                  <a:srgbClr val="8C887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retendard" pitchFamily="34" charset="-120"/>
              </a:rPr>
              <a:t>맛집</a:t>
            </a:r>
            <a:endParaRPr lang="en-US" sz="1800" dirty="0">
              <a:latin typeface="맑은 고딕" panose="020B0503020000020004" pitchFamily="50" charset="-127"/>
            </a:endParaRPr>
          </a:p>
        </p:txBody>
      </p:sp>
      <p:sp>
        <p:nvSpPr>
          <p:cNvPr id="42" name="Shape 40"/>
          <p:cNvSpPr/>
          <p:nvPr/>
        </p:nvSpPr>
        <p:spPr>
          <a:xfrm>
            <a:off x="9082683" y="6177271"/>
            <a:ext cx="3928467" cy="76200"/>
          </a:xfrm>
          <a:prstGeom prst="roundRect">
            <a:avLst>
              <a:gd name="adj" fmla="val 50000"/>
            </a:avLst>
          </a:prstGeom>
          <a:solidFill>
            <a:srgbClr val="D8D3C4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3" name="Shape 41"/>
          <p:cNvSpPr/>
          <p:nvPr/>
        </p:nvSpPr>
        <p:spPr>
          <a:xfrm>
            <a:off x="10068223" y="6101071"/>
            <a:ext cx="228600" cy="228600"/>
          </a:xfrm>
          <a:prstGeom prst="ellipse">
            <a:avLst/>
          </a:prstGeom>
          <a:solidFill>
            <a:srgbClr val="8AA6C0"/>
          </a:solidFill>
          <a:ln w="28575">
            <a:solidFill>
              <a:srgbClr val="FBF8E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4" name="Text 42"/>
          <p:cNvSpPr/>
          <p:nvPr/>
        </p:nvSpPr>
        <p:spPr>
          <a:xfrm>
            <a:off x="13182600" y="6077258"/>
            <a:ext cx="1219200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8C887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retendard" pitchFamily="34" charset="-120"/>
              </a:rPr>
              <a:t>가성비</a:t>
            </a:r>
            <a:endParaRPr lang="en-US" sz="1800" dirty="0">
              <a:latin typeface="맑은 고딕" panose="020B0503020000020004" pitchFamily="50" charset="-127"/>
            </a:endParaRPr>
          </a:p>
        </p:txBody>
      </p:sp>
      <p:sp>
        <p:nvSpPr>
          <p:cNvPr id="45" name="Text 43"/>
          <p:cNvSpPr/>
          <p:nvPr/>
        </p:nvSpPr>
        <p:spPr>
          <a:xfrm>
            <a:off x="7692033" y="6543983"/>
            <a:ext cx="1219200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r">
              <a:buNone/>
            </a:pPr>
            <a:r>
              <a:rPr lang="en-US" sz="1800" dirty="0">
                <a:solidFill>
                  <a:srgbClr val="8C887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retendard" pitchFamily="34" charset="-120"/>
              </a:rPr>
              <a:t>도심</a:t>
            </a:r>
            <a:endParaRPr lang="en-US" sz="1800" dirty="0">
              <a:latin typeface="맑은 고딕" panose="020B0503020000020004" pitchFamily="50" charset="-127"/>
            </a:endParaRPr>
          </a:p>
        </p:txBody>
      </p:sp>
      <p:sp>
        <p:nvSpPr>
          <p:cNvPr id="46" name="Shape 44"/>
          <p:cNvSpPr/>
          <p:nvPr/>
        </p:nvSpPr>
        <p:spPr>
          <a:xfrm>
            <a:off x="9082683" y="6643996"/>
            <a:ext cx="3928467" cy="76200"/>
          </a:xfrm>
          <a:prstGeom prst="roundRect">
            <a:avLst>
              <a:gd name="adj" fmla="val 50000"/>
            </a:avLst>
          </a:prstGeom>
          <a:solidFill>
            <a:srgbClr val="D8D3C4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7" name="Shape 45"/>
          <p:cNvSpPr/>
          <p:nvPr/>
        </p:nvSpPr>
        <p:spPr>
          <a:xfrm>
            <a:off x="11089630" y="6567796"/>
            <a:ext cx="228600" cy="228600"/>
          </a:xfrm>
          <a:prstGeom prst="ellipse">
            <a:avLst/>
          </a:prstGeom>
          <a:solidFill>
            <a:srgbClr val="8AA6C0"/>
          </a:solidFill>
          <a:ln w="28575">
            <a:solidFill>
              <a:srgbClr val="FBF8E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8" name="Text 46"/>
          <p:cNvSpPr/>
          <p:nvPr/>
        </p:nvSpPr>
        <p:spPr>
          <a:xfrm>
            <a:off x="13182600" y="6543983"/>
            <a:ext cx="1219200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8C887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retendard" pitchFamily="34" charset="-120"/>
              </a:rPr>
              <a:t>자연</a:t>
            </a:r>
            <a:endParaRPr lang="en-US" sz="1800" dirty="0">
              <a:latin typeface="맑은 고딕" panose="020B0503020000020004" pitchFamily="50" charset="-127"/>
            </a:endParaRPr>
          </a:p>
        </p:txBody>
      </p:sp>
      <p:sp>
        <p:nvSpPr>
          <p:cNvPr id="52" name="Text 4">
            <a:extLst>
              <a:ext uri="{FF2B5EF4-FFF2-40B4-BE49-F238E27FC236}">
                <a16:creationId xmlns:a16="http://schemas.microsoft.com/office/drawing/2014/main" id="{4DF0C527-185D-4D39-9113-1A6E90D03C46}"/>
              </a:ext>
            </a:extLst>
          </p:cNvPr>
          <p:cNvSpPr/>
          <p:nvPr/>
        </p:nvSpPr>
        <p:spPr>
          <a:xfrm>
            <a:off x="15830996" y="1238250"/>
            <a:ext cx="1561207" cy="723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800" kern="0" spc="360" dirty="0">
                <a:solidFill>
                  <a:srgbClr val="B0AA9B"/>
                </a:solidFill>
                <a:latin typeface="맑은 고딕" panose="020B0503020000020004" pitchFamily="50" charset="-127"/>
                <a:ea typeface="Microsoft YaHei" panose="020B0503020204020204" pitchFamily="34" charset="-122"/>
                <a:cs typeface="Arial" panose="020B0604020202020204" pitchFamily="34" charset="0"/>
              </a:rPr>
              <a:t>BOARDING</a:t>
            </a:r>
          </a:p>
          <a:p>
            <a:pPr marL="0" indent="0" algn="ctr">
              <a:lnSpc>
                <a:spcPct val="150000"/>
              </a:lnSpc>
              <a:buNone/>
            </a:pPr>
            <a:r>
              <a:rPr lang="en-US" sz="1800" kern="0" spc="360" dirty="0">
                <a:solidFill>
                  <a:srgbClr val="B0AA9B"/>
                </a:solidFill>
                <a:latin typeface="맑은 고딕" panose="020B0503020000020004" pitchFamily="50" charset="-127"/>
                <a:ea typeface="Microsoft YaHei" panose="020B0503020204020204" pitchFamily="34" charset="-122"/>
                <a:cs typeface="Arial" panose="020B0604020202020204" pitchFamily="34" charset="0"/>
              </a:rPr>
              <a:t>PASS</a:t>
            </a:r>
            <a:endParaRPr lang="en-US" sz="1800" dirty="0">
              <a:latin typeface="맑은 고딕" panose="020B0503020000020004" pitchFamily="50" charset="-127"/>
              <a:cs typeface="Arial" panose="020B0604020202020204" pitchFamily="34" charset="0"/>
            </a:endParaRPr>
          </a:p>
        </p:txBody>
      </p:sp>
      <p:sp>
        <p:nvSpPr>
          <p:cNvPr id="53" name="Text 5">
            <a:extLst>
              <a:ext uri="{FF2B5EF4-FFF2-40B4-BE49-F238E27FC236}">
                <a16:creationId xmlns:a16="http://schemas.microsoft.com/office/drawing/2014/main" id="{DB2D3805-1BD5-48E7-B31D-9BCCA917DC9F}"/>
              </a:ext>
            </a:extLst>
          </p:cNvPr>
          <p:cNvSpPr/>
          <p:nvPr/>
        </p:nvSpPr>
        <p:spPr>
          <a:xfrm rot="10800000">
            <a:off x="16373475" y="3166533"/>
            <a:ext cx="552450" cy="3055822"/>
          </a:xfrm>
          <a:prstGeom prst="rect">
            <a:avLst/>
          </a:prstGeom>
          <a:noFill/>
          <a:ln/>
        </p:spPr>
        <p:txBody>
          <a:bodyPr vert="eaVert"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3150" b="1" i="1" kern="0" spc="504" dirty="0">
                <a:solidFill>
                  <a:srgbClr val="4A4A4A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Georgia" pitchFamily="34" charset="-120"/>
              </a:rPr>
              <a:t>GROUTRIP</a:t>
            </a:r>
            <a:endParaRPr lang="en-US" sz="3150" dirty="0">
              <a:latin typeface="맑은 고딕" panose="020B0503020000020004" pitchFamily="50" charset="-127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87A0B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52450" y="552450"/>
            <a:ext cx="17183100" cy="9182100"/>
          </a:xfrm>
          <a:prstGeom prst="roundRect">
            <a:avLst>
              <a:gd name="adj" fmla="val 3734"/>
            </a:avLst>
          </a:prstGeom>
          <a:solidFill>
            <a:srgbClr val="FBF8EF"/>
          </a:solidFill>
          <a:ln/>
          <a:effectLst>
            <a:outerShdw blurRad="857250" dist="381000" dir="5400000" algn="bl" rotWithShape="0">
              <a:srgbClr val="233241">
                <a:alpha val="2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15468600" y="552450"/>
            <a:ext cx="19050" cy="9182100"/>
          </a:xfrm>
          <a:prstGeom prst="rect">
            <a:avLst/>
          </a:prstGeom>
          <a:solidFill>
            <a:srgbClr val="C7BFA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15278100" y="342900"/>
            <a:ext cx="419100" cy="419100"/>
          </a:xfrm>
          <a:prstGeom prst="ellipse">
            <a:avLst/>
          </a:prstGeom>
          <a:solidFill>
            <a:srgbClr val="87A0B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15278100" y="9525000"/>
            <a:ext cx="419100" cy="419100"/>
          </a:xfrm>
          <a:prstGeom prst="ellipse">
            <a:avLst/>
          </a:prstGeom>
          <a:solidFill>
            <a:srgbClr val="87A0B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Shape 6"/>
          <p:cNvSpPr/>
          <p:nvPr/>
        </p:nvSpPr>
        <p:spPr>
          <a:xfrm>
            <a:off x="15887551" y="7943850"/>
            <a:ext cx="1447800" cy="590550"/>
          </a:xfrm>
          <a:prstGeom prst="rect">
            <a:avLst/>
          </a:prstGeom>
          <a:blipFill>
            <a:blip r:embed="rId3"/>
            <a:tile tx="0" ty="0" sx="100000" sy="100000" flip="none" algn="tl"/>
          </a:blip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9" name="Text 7"/>
          <p:cNvSpPr/>
          <p:nvPr/>
        </p:nvSpPr>
        <p:spPr>
          <a:xfrm>
            <a:off x="15796766" y="8705850"/>
            <a:ext cx="1792471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kern="0" spc="324" dirty="0">
                <a:solidFill>
                  <a:srgbClr val="B0AA9B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Space Mono" pitchFamily="34" charset="-120"/>
              </a:rPr>
              <a:t>ADMIT ONE</a:t>
            </a:r>
            <a:endParaRPr lang="en-US" sz="1800" dirty="0">
              <a:latin typeface="맑은 고딕" panose="020B0503020000020004" pitchFamily="50" charset="-127"/>
            </a:endParaRPr>
          </a:p>
        </p:txBody>
      </p:sp>
      <p:sp>
        <p:nvSpPr>
          <p:cNvPr id="10" name="Text 8"/>
          <p:cNvSpPr/>
          <p:nvPr/>
        </p:nvSpPr>
        <p:spPr>
          <a:xfrm>
            <a:off x="1352550" y="1276350"/>
            <a:ext cx="7405137" cy="4286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2550" i="1" kern="0" spc="408" dirty="0">
                <a:solidFill>
                  <a:srgbClr val="8AA6C0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Cormorant Garamond" pitchFamily="34" charset="-120"/>
              </a:rPr>
              <a:t>Feature 02 · Places</a:t>
            </a:r>
            <a:endParaRPr lang="en-US" sz="2550" dirty="0">
              <a:latin typeface="맑은 고딕" panose="020B0503020000020004" pitchFamily="50" charset="-127"/>
            </a:endParaRPr>
          </a:p>
        </p:txBody>
      </p:sp>
      <p:sp>
        <p:nvSpPr>
          <p:cNvPr id="11" name="Text 9"/>
          <p:cNvSpPr/>
          <p:nvPr/>
        </p:nvSpPr>
        <p:spPr>
          <a:xfrm>
            <a:off x="1352550" y="1762125"/>
            <a:ext cx="7405137" cy="8953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4600" b="1" dirty="0">
                <a:solidFill>
                  <a:srgbClr val="4A4A4A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Black Han Sans" pitchFamily="34" charset="-120"/>
              </a:rPr>
              <a:t>장소 검색과 AI 리뷰 요약</a:t>
            </a:r>
            <a:endParaRPr lang="en-US" sz="4600" b="1" dirty="0">
              <a:latin typeface="맑은 고딕" panose="020B0503020000020004" pitchFamily="50" charset="-127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13629531" y="1276350"/>
            <a:ext cx="1134219" cy="4000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950" b="1" kern="0" spc="195" dirty="0">
                <a:solidFill>
                  <a:srgbClr val="A9A395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Space Mono" pitchFamily="34" charset="-120"/>
              </a:rPr>
              <a:t>No. 09</a:t>
            </a:r>
            <a:endParaRPr lang="en-US" sz="1950" b="1" dirty="0">
              <a:latin typeface="맑은 고딕" panose="020B0503020000020004" pitchFamily="50" charset="-127"/>
            </a:endParaRPr>
          </a:p>
        </p:txBody>
      </p:sp>
      <p:sp>
        <p:nvSpPr>
          <p:cNvPr id="13" name="Shape 11"/>
          <p:cNvSpPr/>
          <p:nvPr/>
        </p:nvSpPr>
        <p:spPr>
          <a:xfrm>
            <a:off x="1352550" y="3019425"/>
            <a:ext cx="7503319" cy="685800"/>
          </a:xfrm>
          <a:prstGeom prst="roundRect">
            <a:avLst>
              <a:gd name="adj" fmla="val 22222"/>
            </a:avLst>
          </a:prstGeom>
          <a:solidFill>
            <a:srgbClr val="ECE9DD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14" name="Image 0" descr="preencoded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600200" y="3219450"/>
            <a:ext cx="285750" cy="285750"/>
          </a:xfrm>
          <a:prstGeom prst="rect">
            <a:avLst/>
          </a:prstGeom>
        </p:spPr>
      </p:pic>
      <p:sp>
        <p:nvSpPr>
          <p:cNvPr id="15" name="Text 12"/>
          <p:cNvSpPr/>
          <p:nvPr/>
        </p:nvSpPr>
        <p:spPr>
          <a:xfrm>
            <a:off x="2065322" y="3226917"/>
            <a:ext cx="1339483" cy="3619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85000" lnSpcReduction="10000"/>
          </a:bodyPr>
          <a:lstStyle/>
          <a:p>
            <a:pPr marL="0" indent="0" algn="l">
              <a:buNone/>
            </a:pPr>
            <a:r>
              <a:rPr lang="en-US" sz="2100" dirty="0">
                <a:solidFill>
                  <a:srgbClr val="6E6A60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retendard" pitchFamily="34" charset="-120"/>
              </a:rPr>
              <a:t>성심당 본점</a:t>
            </a:r>
            <a:endParaRPr lang="en-US" sz="2100" dirty="0">
              <a:latin typeface="맑은 고딕" panose="020B0503020000020004" pitchFamily="50" charset="-127"/>
            </a:endParaRPr>
          </a:p>
        </p:txBody>
      </p:sp>
      <p:sp>
        <p:nvSpPr>
          <p:cNvPr id="16" name="Text 13"/>
          <p:cNvSpPr/>
          <p:nvPr/>
        </p:nvSpPr>
        <p:spPr>
          <a:xfrm>
            <a:off x="6432798" y="3190875"/>
            <a:ext cx="2392963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kern="0" spc="216" dirty="0">
                <a:solidFill>
                  <a:srgbClr val="A9A395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Space Mono" pitchFamily="34" charset="-120"/>
              </a:rPr>
              <a:t>GOOGLE PLACES</a:t>
            </a:r>
            <a:endParaRPr lang="en-US" sz="1800" dirty="0">
              <a:latin typeface="맑은 고딕" panose="020B0503020000020004" pitchFamily="50" charset="-127"/>
            </a:endParaRPr>
          </a:p>
        </p:txBody>
      </p:sp>
      <p:sp>
        <p:nvSpPr>
          <p:cNvPr id="17" name="Shape 14"/>
          <p:cNvSpPr/>
          <p:nvPr/>
        </p:nvSpPr>
        <p:spPr>
          <a:xfrm>
            <a:off x="1352550" y="3914775"/>
            <a:ext cx="7503319" cy="1409700"/>
          </a:xfrm>
          <a:prstGeom prst="roundRect">
            <a:avLst>
              <a:gd name="adj" fmla="val 13514"/>
            </a:avLst>
          </a:prstGeom>
          <a:solidFill>
            <a:srgbClr val="ECE9D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8" name="Shape 15"/>
          <p:cNvSpPr/>
          <p:nvPr/>
        </p:nvSpPr>
        <p:spPr>
          <a:xfrm>
            <a:off x="1543050" y="4105275"/>
            <a:ext cx="1028700" cy="1028700"/>
          </a:xfrm>
          <a:prstGeom prst="roundRect">
            <a:avLst>
              <a:gd name="adj" fmla="val 12963"/>
            </a:avLst>
          </a:prstGeom>
          <a:blipFill>
            <a:blip r:embed="rId6"/>
            <a:stretch>
              <a:fillRect/>
            </a:stretch>
          </a:blip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6"/>
          <p:cNvSpPr/>
          <p:nvPr/>
        </p:nvSpPr>
        <p:spPr>
          <a:xfrm>
            <a:off x="1504950" y="4105275"/>
            <a:ext cx="1104900" cy="1066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800" dirty="0">
                <a:solidFill>
                  <a:srgbClr val="A29C8C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Space Mono" pitchFamily="34" charset="-120"/>
              </a:rPr>
              <a:t>사진</a:t>
            </a:r>
            <a:endParaRPr lang="en-US" sz="1800" dirty="0">
              <a:latin typeface="맑은 고딕" panose="020B0503020000020004" pitchFamily="50" charset="-127"/>
            </a:endParaRPr>
          </a:p>
        </p:txBody>
      </p:sp>
      <p:sp>
        <p:nvSpPr>
          <p:cNvPr id="20" name="Text 17"/>
          <p:cNvSpPr/>
          <p:nvPr/>
        </p:nvSpPr>
        <p:spPr>
          <a:xfrm>
            <a:off x="2781300" y="4195763"/>
            <a:ext cx="5927646" cy="4000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4A4A4A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retendard" pitchFamily="34" charset="-120"/>
              </a:rPr>
              <a:t>성심당 케이크부띠끄</a:t>
            </a:r>
            <a:endParaRPr lang="en-US" sz="2400" dirty="0">
              <a:latin typeface="맑은 고딕" panose="020B0503020000020004" pitchFamily="50" charset="-127"/>
            </a:endParaRPr>
          </a:p>
        </p:txBody>
      </p:sp>
      <p:sp>
        <p:nvSpPr>
          <p:cNvPr id="21" name="Shape 18"/>
          <p:cNvSpPr/>
          <p:nvPr/>
        </p:nvSpPr>
        <p:spPr>
          <a:xfrm>
            <a:off x="2781300" y="4672013"/>
            <a:ext cx="699939" cy="371475"/>
          </a:xfrm>
          <a:prstGeom prst="roundRect">
            <a:avLst>
              <a:gd name="adj" fmla="val 50000"/>
            </a:avLst>
          </a:prstGeom>
          <a:solidFill>
            <a:srgbClr val="C2876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2" name="Text 19"/>
          <p:cNvSpPr/>
          <p:nvPr/>
        </p:nvSpPr>
        <p:spPr>
          <a:xfrm>
            <a:off x="2916957" y="4741462"/>
            <a:ext cx="471339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85000" lnSpcReduction="10000"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BF8EF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retendard" pitchFamily="34" charset="-120"/>
              </a:rPr>
              <a:t>맛집</a:t>
            </a:r>
            <a:endParaRPr lang="en-US" sz="1800" dirty="0">
              <a:latin typeface="맑은 고딕" panose="020B0503020000020004" pitchFamily="50" charset="-127"/>
            </a:endParaRPr>
          </a:p>
        </p:txBody>
      </p:sp>
      <p:sp>
        <p:nvSpPr>
          <p:cNvPr id="23" name="Text 20"/>
          <p:cNvSpPr/>
          <p:nvPr/>
        </p:nvSpPr>
        <p:spPr>
          <a:xfrm>
            <a:off x="3595539" y="4714875"/>
            <a:ext cx="732979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75" b="1" dirty="0">
                <a:solidFill>
                  <a:srgbClr val="6E6A60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retendard" pitchFamily="34" charset="-120"/>
              </a:rPr>
              <a:t>★ 4.6</a:t>
            </a:r>
            <a:endParaRPr lang="en-US" sz="1875" dirty="0">
              <a:latin typeface="맑은 고딕" panose="020B0503020000020004" pitchFamily="50" charset="-127"/>
            </a:endParaRPr>
          </a:p>
        </p:txBody>
      </p:sp>
      <p:sp>
        <p:nvSpPr>
          <p:cNvPr id="24" name="Text 21"/>
          <p:cNvSpPr/>
          <p:nvPr/>
        </p:nvSpPr>
        <p:spPr>
          <a:xfrm>
            <a:off x="4366617" y="4719638"/>
            <a:ext cx="1148507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A29C8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retendard" pitchFamily="34" charset="-120"/>
              </a:rPr>
              <a:t>리뷰 1,240</a:t>
            </a:r>
            <a:endParaRPr lang="en-US" sz="1800" dirty="0">
              <a:latin typeface="맑은 고딕" panose="020B0503020000020004" pitchFamily="50" charset="-127"/>
            </a:endParaRPr>
          </a:p>
        </p:txBody>
      </p:sp>
      <p:pic>
        <p:nvPicPr>
          <p:cNvPr id="25" name="Image 1" descr="preencoded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379619" y="4476750"/>
            <a:ext cx="285750" cy="285750"/>
          </a:xfrm>
          <a:prstGeom prst="rect">
            <a:avLst/>
          </a:prstGeom>
        </p:spPr>
      </p:pic>
      <p:sp>
        <p:nvSpPr>
          <p:cNvPr id="26" name="Shape 22"/>
          <p:cNvSpPr/>
          <p:nvPr/>
        </p:nvSpPr>
        <p:spPr>
          <a:xfrm>
            <a:off x="1352550" y="5495925"/>
            <a:ext cx="7503319" cy="1409700"/>
          </a:xfrm>
          <a:prstGeom prst="roundRect">
            <a:avLst>
              <a:gd name="adj" fmla="val 13514"/>
            </a:avLst>
          </a:prstGeom>
          <a:solidFill>
            <a:srgbClr val="ECE9D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7" name="Shape 23"/>
          <p:cNvSpPr/>
          <p:nvPr/>
        </p:nvSpPr>
        <p:spPr>
          <a:xfrm>
            <a:off x="1543050" y="5686425"/>
            <a:ext cx="1028700" cy="1028700"/>
          </a:xfrm>
          <a:prstGeom prst="roundRect">
            <a:avLst>
              <a:gd name="adj" fmla="val 12963"/>
            </a:avLst>
          </a:prstGeom>
          <a:blipFill>
            <a:blip r:embed="rId9"/>
            <a:stretch>
              <a:fillRect/>
            </a:stretch>
          </a:blip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8" name="Text 24"/>
          <p:cNvSpPr/>
          <p:nvPr/>
        </p:nvSpPr>
        <p:spPr>
          <a:xfrm>
            <a:off x="1504950" y="5686425"/>
            <a:ext cx="1104900" cy="1066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800" dirty="0">
                <a:solidFill>
                  <a:srgbClr val="A29C8C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Space Mono" pitchFamily="34" charset="-120"/>
              </a:rPr>
              <a:t>사진</a:t>
            </a:r>
            <a:endParaRPr lang="en-US" sz="1800" dirty="0">
              <a:latin typeface="맑은 고딕" panose="020B0503020000020004" pitchFamily="50" charset="-127"/>
            </a:endParaRPr>
          </a:p>
        </p:txBody>
      </p:sp>
      <p:sp>
        <p:nvSpPr>
          <p:cNvPr id="29" name="Text 25"/>
          <p:cNvSpPr/>
          <p:nvPr/>
        </p:nvSpPr>
        <p:spPr>
          <a:xfrm>
            <a:off x="2781300" y="5776913"/>
            <a:ext cx="5927646" cy="4000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ko-KR" altLang="en-US" sz="2400" b="1" dirty="0" err="1">
                <a:solidFill>
                  <a:srgbClr val="4A4A4A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retendard" pitchFamily="34" charset="-120"/>
              </a:rPr>
              <a:t>루스티카</a:t>
            </a:r>
            <a:r>
              <a:rPr lang="ko-KR" altLang="en-US" sz="2400" b="1" dirty="0">
                <a:solidFill>
                  <a:srgbClr val="4A4A4A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retendard" pitchFamily="34" charset="-120"/>
              </a:rPr>
              <a:t> </a:t>
            </a:r>
            <a:r>
              <a:rPr lang="ko-KR" altLang="en-US" sz="2400" b="1" dirty="0" err="1">
                <a:solidFill>
                  <a:srgbClr val="4A4A4A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retendard" pitchFamily="34" charset="-120"/>
              </a:rPr>
              <a:t>대전은행동점</a:t>
            </a:r>
            <a:endParaRPr lang="en-US" sz="2400" dirty="0">
              <a:latin typeface="맑은 고딕" panose="020B0503020000020004" pitchFamily="50" charset="-127"/>
            </a:endParaRPr>
          </a:p>
        </p:txBody>
      </p:sp>
      <p:sp>
        <p:nvSpPr>
          <p:cNvPr id="30" name="Shape 26"/>
          <p:cNvSpPr/>
          <p:nvPr/>
        </p:nvSpPr>
        <p:spPr>
          <a:xfrm>
            <a:off x="2781300" y="6253163"/>
            <a:ext cx="699939" cy="371475"/>
          </a:xfrm>
          <a:prstGeom prst="roundRect">
            <a:avLst>
              <a:gd name="adj" fmla="val 50000"/>
            </a:avLst>
          </a:prstGeom>
          <a:solidFill>
            <a:srgbClr val="8E9B72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1" name="Text 27"/>
          <p:cNvSpPr/>
          <p:nvPr/>
        </p:nvSpPr>
        <p:spPr>
          <a:xfrm>
            <a:off x="2907066" y="6318544"/>
            <a:ext cx="471339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85000" lnSpcReduction="10000"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BF8EF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retendard" pitchFamily="34" charset="-120"/>
              </a:rPr>
              <a:t>카페</a:t>
            </a:r>
            <a:endParaRPr lang="en-US" sz="1800" dirty="0">
              <a:latin typeface="맑은 고딕" panose="020B0503020000020004" pitchFamily="50" charset="-127"/>
            </a:endParaRPr>
          </a:p>
        </p:txBody>
      </p:sp>
      <p:sp>
        <p:nvSpPr>
          <p:cNvPr id="32" name="Text 28"/>
          <p:cNvSpPr/>
          <p:nvPr/>
        </p:nvSpPr>
        <p:spPr>
          <a:xfrm>
            <a:off x="3595539" y="6296025"/>
            <a:ext cx="732979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75" b="1" dirty="0">
                <a:solidFill>
                  <a:srgbClr val="6E6A60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retendard" pitchFamily="34" charset="-120"/>
              </a:rPr>
              <a:t>★ 4.4</a:t>
            </a:r>
            <a:endParaRPr lang="en-US" sz="1875" dirty="0">
              <a:latin typeface="맑은 고딕" panose="020B0503020000020004" pitchFamily="50" charset="-127"/>
            </a:endParaRPr>
          </a:p>
        </p:txBody>
      </p:sp>
      <p:sp>
        <p:nvSpPr>
          <p:cNvPr id="33" name="Text 29"/>
          <p:cNvSpPr/>
          <p:nvPr/>
        </p:nvSpPr>
        <p:spPr>
          <a:xfrm>
            <a:off x="4366617" y="6300788"/>
            <a:ext cx="949970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A29C8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retendard" pitchFamily="34" charset="-120"/>
              </a:rPr>
              <a:t>리뷰 860</a:t>
            </a:r>
            <a:endParaRPr lang="en-US" sz="1800" dirty="0">
              <a:latin typeface="맑은 고딕" panose="020B0503020000020004" pitchFamily="50" charset="-127"/>
            </a:endParaRPr>
          </a:p>
        </p:txBody>
      </p:sp>
      <p:pic>
        <p:nvPicPr>
          <p:cNvPr id="34" name="Image 2" descr="preencoded.png"/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8379619" y="6057900"/>
            <a:ext cx="285750" cy="285750"/>
          </a:xfrm>
          <a:prstGeom prst="rect">
            <a:avLst/>
          </a:prstGeom>
        </p:spPr>
      </p:pic>
      <p:sp>
        <p:nvSpPr>
          <p:cNvPr id="35" name="Shape 30"/>
          <p:cNvSpPr/>
          <p:nvPr/>
        </p:nvSpPr>
        <p:spPr>
          <a:xfrm rot="2700000">
            <a:off x="9017794" y="3762375"/>
            <a:ext cx="228600" cy="228600"/>
          </a:xfrm>
          <a:prstGeom prst="rect">
            <a:avLst/>
          </a:prstGeom>
          <a:solidFill>
            <a:srgbClr val="3E3C3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6" name="Shape 31"/>
          <p:cNvSpPr/>
          <p:nvPr/>
        </p:nvSpPr>
        <p:spPr>
          <a:xfrm>
            <a:off x="9141619" y="3237607"/>
            <a:ext cx="5545931" cy="3449687"/>
          </a:xfrm>
          <a:prstGeom prst="roundRect">
            <a:avLst>
              <a:gd name="adj" fmla="val 6074"/>
            </a:avLst>
          </a:prstGeom>
          <a:solidFill>
            <a:srgbClr val="3E3C3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7" name="Shape 32"/>
          <p:cNvSpPr/>
          <p:nvPr/>
        </p:nvSpPr>
        <p:spPr>
          <a:xfrm>
            <a:off x="9465469" y="3542407"/>
            <a:ext cx="508546" cy="438150"/>
          </a:xfrm>
          <a:prstGeom prst="roundRect">
            <a:avLst>
              <a:gd name="adj" fmla="val 17391"/>
            </a:avLst>
          </a:prstGeom>
          <a:solidFill>
            <a:srgbClr val="8AA6C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8" name="Text 33"/>
          <p:cNvSpPr/>
          <p:nvPr/>
        </p:nvSpPr>
        <p:spPr>
          <a:xfrm>
            <a:off x="9579769" y="3590032"/>
            <a:ext cx="356146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BF8EF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Space Mono" pitchFamily="34" charset="-120"/>
              </a:rPr>
              <a:t>AI</a:t>
            </a:r>
            <a:endParaRPr lang="en-US" sz="1800" dirty="0">
              <a:latin typeface="맑은 고딕" panose="020B0503020000020004" pitchFamily="50" charset="-127"/>
            </a:endParaRPr>
          </a:p>
        </p:txBody>
      </p:sp>
      <p:sp>
        <p:nvSpPr>
          <p:cNvPr id="39" name="Text 34"/>
          <p:cNvSpPr/>
          <p:nvPr/>
        </p:nvSpPr>
        <p:spPr>
          <a:xfrm>
            <a:off x="10088314" y="3604320"/>
            <a:ext cx="2025595" cy="3524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buNone/>
            </a:pPr>
            <a:r>
              <a:rPr lang="en-US" sz="2025" b="1" dirty="0">
                <a:solidFill>
                  <a:srgbClr val="F3F0E6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retendard" pitchFamily="34" charset="-120"/>
              </a:rPr>
              <a:t>Gemini 리뷰 요약</a:t>
            </a:r>
            <a:endParaRPr lang="en-US" sz="2025" dirty="0">
              <a:latin typeface="맑은 고딕" panose="020B0503020000020004" pitchFamily="50" charset="-127"/>
            </a:endParaRPr>
          </a:p>
        </p:txBody>
      </p:sp>
      <p:sp>
        <p:nvSpPr>
          <p:cNvPr id="40" name="Text 35"/>
          <p:cNvSpPr/>
          <p:nvPr/>
        </p:nvSpPr>
        <p:spPr>
          <a:xfrm>
            <a:off x="9465469" y="4228207"/>
            <a:ext cx="202555" cy="38472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950" dirty="0">
                <a:solidFill>
                  <a:srgbClr val="8AA6C0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retendard" pitchFamily="34" charset="-120"/>
              </a:rPr>
              <a:t>•</a:t>
            </a:r>
            <a:endParaRPr lang="en-US" sz="1950" dirty="0">
              <a:latin typeface="맑은 고딕" panose="020B0503020000020004" pitchFamily="50" charset="-127"/>
            </a:endParaRPr>
          </a:p>
        </p:txBody>
      </p:sp>
      <p:sp>
        <p:nvSpPr>
          <p:cNvPr id="41" name="Text 36"/>
          <p:cNvSpPr/>
          <p:nvPr/>
        </p:nvSpPr>
        <p:spPr>
          <a:xfrm>
            <a:off x="9725174" y="4228207"/>
            <a:ext cx="4885789" cy="38472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950" dirty="0">
                <a:solidFill>
                  <a:srgbClr val="E3DFD3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retendard" pitchFamily="34" charset="-120"/>
              </a:rPr>
              <a:t>튀김소보로·부추빵이 시그니처, 오전 일찍 품절</a:t>
            </a:r>
            <a:endParaRPr lang="en-US" sz="1950" dirty="0">
              <a:latin typeface="맑은 고딕" panose="020B0503020000020004" pitchFamily="50" charset="-127"/>
            </a:endParaRPr>
          </a:p>
        </p:txBody>
      </p:sp>
      <p:sp>
        <p:nvSpPr>
          <p:cNvPr id="42" name="Text 37"/>
          <p:cNvSpPr/>
          <p:nvPr/>
        </p:nvSpPr>
        <p:spPr>
          <a:xfrm>
            <a:off x="9465469" y="4746278"/>
            <a:ext cx="202555" cy="38472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950" dirty="0">
                <a:solidFill>
                  <a:srgbClr val="8AA6C0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retendard" pitchFamily="34" charset="-120"/>
              </a:rPr>
              <a:t>•</a:t>
            </a:r>
            <a:endParaRPr lang="en-US" sz="1950" dirty="0">
              <a:latin typeface="맑은 고딕" panose="020B0503020000020004" pitchFamily="50" charset="-127"/>
            </a:endParaRPr>
          </a:p>
        </p:txBody>
      </p:sp>
      <p:sp>
        <p:nvSpPr>
          <p:cNvPr id="43" name="Text 38"/>
          <p:cNvSpPr/>
          <p:nvPr/>
        </p:nvSpPr>
        <p:spPr>
          <a:xfrm>
            <a:off x="9725174" y="4746278"/>
            <a:ext cx="3707234" cy="38472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950" dirty="0">
                <a:solidFill>
                  <a:srgbClr val="E3DFD3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retendard" pitchFamily="34" charset="-120"/>
              </a:rPr>
              <a:t>주말 대기 길어 평일·개점 직후 추천</a:t>
            </a:r>
            <a:endParaRPr lang="en-US" sz="1950" dirty="0">
              <a:latin typeface="맑은 고딕" panose="020B0503020000020004" pitchFamily="50" charset="-127"/>
            </a:endParaRPr>
          </a:p>
        </p:txBody>
      </p:sp>
      <p:sp>
        <p:nvSpPr>
          <p:cNvPr id="44" name="Text 39"/>
          <p:cNvSpPr/>
          <p:nvPr/>
        </p:nvSpPr>
        <p:spPr>
          <a:xfrm>
            <a:off x="9465469" y="5264348"/>
            <a:ext cx="202555" cy="38472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950" dirty="0">
                <a:solidFill>
                  <a:srgbClr val="8AA6C0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retendard" pitchFamily="34" charset="-120"/>
              </a:rPr>
              <a:t>•</a:t>
            </a:r>
            <a:endParaRPr lang="en-US" sz="1950" dirty="0">
              <a:latin typeface="맑은 고딕" panose="020B0503020000020004" pitchFamily="50" charset="-127"/>
            </a:endParaRPr>
          </a:p>
        </p:txBody>
      </p:sp>
      <p:sp>
        <p:nvSpPr>
          <p:cNvPr id="45" name="Text 40"/>
          <p:cNvSpPr/>
          <p:nvPr/>
        </p:nvSpPr>
        <p:spPr>
          <a:xfrm>
            <a:off x="9725174" y="5264348"/>
            <a:ext cx="3943305" cy="38472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950" dirty="0">
                <a:solidFill>
                  <a:srgbClr val="E3DFD3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retendard" pitchFamily="34" charset="-120"/>
              </a:rPr>
              <a:t>근처 주차 혼잡, 대중교통 이용이 편함</a:t>
            </a:r>
            <a:endParaRPr lang="en-US" sz="1950" dirty="0">
              <a:latin typeface="맑은 고딕" panose="020B0503020000020004" pitchFamily="50" charset="-127"/>
            </a:endParaRPr>
          </a:p>
        </p:txBody>
      </p:sp>
      <p:sp>
        <p:nvSpPr>
          <p:cNvPr id="46" name="Shape 41"/>
          <p:cNvSpPr/>
          <p:nvPr/>
        </p:nvSpPr>
        <p:spPr>
          <a:xfrm>
            <a:off x="9465469" y="5858619"/>
            <a:ext cx="4898231" cy="9525"/>
          </a:xfrm>
          <a:prstGeom prst="rect">
            <a:avLst/>
          </a:prstGeom>
          <a:solidFill>
            <a:srgbClr val="5E5B54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7" name="Text 42"/>
          <p:cNvSpPr/>
          <p:nvPr/>
        </p:nvSpPr>
        <p:spPr>
          <a:xfrm>
            <a:off x="9465469" y="6109990"/>
            <a:ext cx="5045178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b="1" kern="0" spc="144" dirty="0">
                <a:solidFill>
                  <a:srgbClr val="92D050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Space Mono" pitchFamily="34" charset="-120"/>
              </a:rPr>
              <a:t>리뷰 1,240개를 3줄로 </a:t>
            </a:r>
            <a:r>
              <a:rPr lang="ko-KR" altLang="en-US" sz="1800" b="1" kern="0" spc="144" dirty="0">
                <a:solidFill>
                  <a:srgbClr val="92D050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Space Mono" pitchFamily="34" charset="-120"/>
              </a:rPr>
              <a:t>요약</a:t>
            </a:r>
            <a:endParaRPr lang="en-US" sz="1800" b="1" dirty="0">
              <a:solidFill>
                <a:srgbClr val="92D050"/>
              </a:solidFill>
              <a:latin typeface="맑은 고딕" panose="020B0503020000020004" pitchFamily="50" charset="-127"/>
            </a:endParaRPr>
          </a:p>
        </p:txBody>
      </p:sp>
      <p:sp>
        <p:nvSpPr>
          <p:cNvPr id="48" name="Text 4">
            <a:extLst>
              <a:ext uri="{FF2B5EF4-FFF2-40B4-BE49-F238E27FC236}">
                <a16:creationId xmlns:a16="http://schemas.microsoft.com/office/drawing/2014/main" id="{0F823A37-3D51-45CC-998B-306B5C87311A}"/>
              </a:ext>
            </a:extLst>
          </p:cNvPr>
          <p:cNvSpPr/>
          <p:nvPr/>
        </p:nvSpPr>
        <p:spPr>
          <a:xfrm>
            <a:off x="15830996" y="1238250"/>
            <a:ext cx="1561207" cy="723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800" kern="0" spc="360" dirty="0">
                <a:solidFill>
                  <a:srgbClr val="B0AA9B"/>
                </a:solidFill>
                <a:latin typeface="맑은 고딕" panose="020B0503020000020004" pitchFamily="50" charset="-127"/>
                <a:ea typeface="Microsoft YaHei" panose="020B0503020204020204" pitchFamily="34" charset="-122"/>
                <a:cs typeface="Arial" panose="020B0604020202020204" pitchFamily="34" charset="0"/>
              </a:rPr>
              <a:t>BOARDING</a:t>
            </a:r>
          </a:p>
          <a:p>
            <a:pPr marL="0" indent="0" algn="ctr">
              <a:lnSpc>
                <a:spcPct val="150000"/>
              </a:lnSpc>
              <a:buNone/>
            </a:pPr>
            <a:r>
              <a:rPr lang="en-US" sz="1800" kern="0" spc="360" dirty="0">
                <a:solidFill>
                  <a:srgbClr val="B0AA9B"/>
                </a:solidFill>
                <a:latin typeface="맑은 고딕" panose="020B0503020000020004" pitchFamily="50" charset="-127"/>
                <a:ea typeface="Microsoft YaHei" panose="020B0503020204020204" pitchFamily="34" charset="-122"/>
                <a:cs typeface="Arial" panose="020B0604020202020204" pitchFamily="34" charset="0"/>
              </a:rPr>
              <a:t>PASS</a:t>
            </a:r>
            <a:endParaRPr lang="en-US" sz="1800" dirty="0">
              <a:latin typeface="맑은 고딕" panose="020B0503020000020004" pitchFamily="50" charset="-127"/>
              <a:cs typeface="Arial" panose="020B0604020202020204" pitchFamily="34" charset="0"/>
            </a:endParaRPr>
          </a:p>
        </p:txBody>
      </p:sp>
      <p:sp>
        <p:nvSpPr>
          <p:cNvPr id="49" name="Text 5">
            <a:extLst>
              <a:ext uri="{FF2B5EF4-FFF2-40B4-BE49-F238E27FC236}">
                <a16:creationId xmlns:a16="http://schemas.microsoft.com/office/drawing/2014/main" id="{96EBE1A2-278A-4A22-93A4-BE98B370674B}"/>
              </a:ext>
            </a:extLst>
          </p:cNvPr>
          <p:cNvSpPr/>
          <p:nvPr/>
        </p:nvSpPr>
        <p:spPr>
          <a:xfrm rot="10800000">
            <a:off x="16373475" y="3166533"/>
            <a:ext cx="552450" cy="3055822"/>
          </a:xfrm>
          <a:prstGeom prst="rect">
            <a:avLst/>
          </a:prstGeom>
          <a:noFill/>
          <a:ln/>
        </p:spPr>
        <p:txBody>
          <a:bodyPr vert="eaVert"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3150" b="1" i="1" kern="0" spc="504" dirty="0">
                <a:solidFill>
                  <a:srgbClr val="4A4A4A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Georgia" pitchFamily="34" charset="-120"/>
              </a:rPr>
              <a:t>GROUTRIP</a:t>
            </a:r>
            <a:endParaRPr lang="en-US" sz="3150" dirty="0">
              <a:latin typeface="맑은 고딕" panose="020B0503020000020004" pitchFamily="50" charset="-127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87A0B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52450" y="552450"/>
            <a:ext cx="17183100" cy="9182100"/>
          </a:xfrm>
          <a:prstGeom prst="roundRect">
            <a:avLst>
              <a:gd name="adj" fmla="val 3734"/>
            </a:avLst>
          </a:prstGeom>
          <a:solidFill>
            <a:srgbClr val="FBF8EF"/>
          </a:solidFill>
          <a:ln/>
          <a:effectLst>
            <a:outerShdw blurRad="857250" dist="381000" dir="5400000" algn="bl" rotWithShape="0">
              <a:srgbClr val="233241">
                <a:alpha val="2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15468600" y="552450"/>
            <a:ext cx="19050" cy="9182100"/>
          </a:xfrm>
          <a:prstGeom prst="rect">
            <a:avLst/>
          </a:prstGeom>
          <a:solidFill>
            <a:srgbClr val="C7BFA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15278100" y="342900"/>
            <a:ext cx="419100" cy="419100"/>
          </a:xfrm>
          <a:prstGeom prst="ellipse">
            <a:avLst/>
          </a:prstGeom>
          <a:solidFill>
            <a:srgbClr val="87A0B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15278100" y="9525000"/>
            <a:ext cx="419100" cy="419100"/>
          </a:xfrm>
          <a:prstGeom prst="ellipse">
            <a:avLst/>
          </a:prstGeom>
          <a:solidFill>
            <a:srgbClr val="87A0B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Shape 6"/>
          <p:cNvSpPr/>
          <p:nvPr/>
        </p:nvSpPr>
        <p:spPr>
          <a:xfrm>
            <a:off x="15887551" y="7943850"/>
            <a:ext cx="1447800" cy="590550"/>
          </a:xfrm>
          <a:prstGeom prst="rect">
            <a:avLst/>
          </a:prstGeom>
          <a:blipFill>
            <a:blip r:embed="rId3"/>
            <a:tile tx="0" ty="0" sx="100000" sy="100000" flip="none" algn="tl"/>
          </a:blip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9" name="Text 7"/>
          <p:cNvSpPr/>
          <p:nvPr/>
        </p:nvSpPr>
        <p:spPr>
          <a:xfrm>
            <a:off x="15796766" y="8705850"/>
            <a:ext cx="1792471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kern="0" spc="324" dirty="0">
                <a:solidFill>
                  <a:srgbClr val="B0AA9B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Space Mono" pitchFamily="34" charset="-120"/>
              </a:rPr>
              <a:t>ADMIT ONE</a:t>
            </a:r>
            <a:endParaRPr lang="en-US" sz="1800" dirty="0">
              <a:latin typeface="맑은 고딕" panose="020B0503020000020004" pitchFamily="50" charset="-127"/>
            </a:endParaRPr>
          </a:p>
        </p:txBody>
      </p:sp>
      <p:sp>
        <p:nvSpPr>
          <p:cNvPr id="22" name="Shape 19"/>
          <p:cNvSpPr/>
          <p:nvPr/>
        </p:nvSpPr>
        <p:spPr>
          <a:xfrm>
            <a:off x="2771488" y="7025144"/>
            <a:ext cx="3205163" cy="1247775"/>
          </a:xfrm>
          <a:prstGeom prst="roundRect">
            <a:avLst>
              <a:gd name="adj" fmla="val 12214"/>
            </a:avLst>
          </a:prstGeom>
          <a:solidFill>
            <a:srgbClr val="ECE9D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3" name="Text 20"/>
          <p:cNvSpPr/>
          <p:nvPr/>
        </p:nvSpPr>
        <p:spPr>
          <a:xfrm>
            <a:off x="3000088" y="7234694"/>
            <a:ext cx="3022759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kern="0" spc="216" dirty="0">
                <a:solidFill>
                  <a:srgbClr val="9A9486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Space Mono" pitchFamily="34" charset="-120"/>
              </a:rPr>
              <a:t>DATE</a:t>
            </a:r>
            <a:endParaRPr lang="en-US" sz="1800" dirty="0">
              <a:latin typeface="맑은 고딕" panose="020B0503020000020004" pitchFamily="50" charset="-127"/>
            </a:endParaRPr>
          </a:p>
        </p:txBody>
      </p:sp>
      <p:sp>
        <p:nvSpPr>
          <p:cNvPr id="24" name="Text 21"/>
          <p:cNvSpPr/>
          <p:nvPr/>
        </p:nvSpPr>
        <p:spPr>
          <a:xfrm>
            <a:off x="3000088" y="7653794"/>
            <a:ext cx="3022759" cy="4476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4A4A4A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retendard" pitchFamily="34" charset="-120"/>
              </a:rPr>
              <a:t>03.14</a:t>
            </a:r>
            <a:endParaRPr lang="en-US" sz="2700" dirty="0">
              <a:latin typeface="맑은 고딕" panose="020B0503020000020004" pitchFamily="50" charset="-127"/>
            </a:endParaRPr>
          </a:p>
        </p:txBody>
      </p:sp>
      <p:grpSp>
        <p:nvGrpSpPr>
          <p:cNvPr id="58" name="그룹 57">
            <a:extLst>
              <a:ext uri="{FF2B5EF4-FFF2-40B4-BE49-F238E27FC236}">
                <a16:creationId xmlns:a16="http://schemas.microsoft.com/office/drawing/2014/main" id="{DB2D007B-F0EC-4193-A1F6-6F8E52054585}"/>
              </a:ext>
            </a:extLst>
          </p:cNvPr>
          <p:cNvGrpSpPr/>
          <p:nvPr/>
        </p:nvGrpSpPr>
        <p:grpSpPr>
          <a:xfrm>
            <a:off x="6422748" y="7029906"/>
            <a:ext cx="3251359" cy="1247775"/>
            <a:chOff x="8497282" y="6810832"/>
            <a:chExt cx="3251359" cy="1247775"/>
          </a:xfrm>
        </p:grpSpPr>
        <p:sp>
          <p:nvSpPr>
            <p:cNvPr id="28" name="Shape 25"/>
            <p:cNvSpPr/>
            <p:nvPr/>
          </p:nvSpPr>
          <p:spPr>
            <a:xfrm>
              <a:off x="8497282" y="6810832"/>
              <a:ext cx="3205163" cy="1247775"/>
            </a:xfrm>
            <a:prstGeom prst="roundRect">
              <a:avLst>
                <a:gd name="adj" fmla="val 12214"/>
              </a:avLst>
            </a:prstGeom>
            <a:solidFill>
              <a:srgbClr val="ECE9DD"/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9" name="Text 26"/>
            <p:cNvSpPr/>
            <p:nvPr/>
          </p:nvSpPr>
          <p:spPr>
            <a:xfrm>
              <a:off x="8725882" y="7020382"/>
              <a:ext cx="3022759" cy="381000"/>
            </a:xfrm>
            <a:prstGeom prst="rect">
              <a:avLst/>
            </a:prstGeom>
            <a:noFill/>
            <a:ln/>
          </p:spPr>
          <p:txBody>
            <a:bodyPr wrap="square" lIns="25400" tIns="25400" rIns="25400" bIns="25400" rtlCol="0" anchor="t">
              <a:normAutofit/>
            </a:bodyPr>
            <a:lstStyle/>
            <a:p>
              <a:pPr marL="0" indent="0" algn="l">
                <a:buNone/>
              </a:pPr>
              <a:r>
                <a:rPr lang="en-US" sz="1800" kern="0" spc="216" dirty="0">
                  <a:solidFill>
                    <a:srgbClr val="9A9486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  <a:cs typeface="Space Mono" pitchFamily="34" charset="-120"/>
                </a:rPr>
                <a:t>COST</a:t>
              </a:r>
              <a:endParaRPr lang="en-US" sz="1800" dirty="0">
                <a:latin typeface="맑은 고딕" panose="020B0503020000020004" pitchFamily="50" charset="-127"/>
              </a:endParaRPr>
            </a:p>
          </p:txBody>
        </p:sp>
        <p:sp>
          <p:nvSpPr>
            <p:cNvPr id="30" name="Text 27"/>
            <p:cNvSpPr/>
            <p:nvPr/>
          </p:nvSpPr>
          <p:spPr>
            <a:xfrm>
              <a:off x="8725882" y="7439482"/>
              <a:ext cx="3022759" cy="447675"/>
            </a:xfrm>
            <a:prstGeom prst="rect">
              <a:avLst/>
            </a:prstGeom>
            <a:noFill/>
            <a:ln/>
          </p:spPr>
          <p:txBody>
            <a:bodyPr wrap="square" lIns="25400" tIns="25400" rIns="25400" bIns="25400" rtlCol="0" anchor="t">
              <a:normAutofit lnSpcReduction="10000"/>
            </a:bodyPr>
            <a:lstStyle/>
            <a:p>
              <a:pPr marL="0" indent="0" algn="l">
                <a:buNone/>
              </a:pPr>
              <a:r>
                <a:rPr lang="en-US" sz="2700" b="1" dirty="0">
                  <a:solidFill>
                    <a:srgbClr val="4A4A4A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  <a:cs typeface="Pretendard" pitchFamily="34" charset="-120"/>
                </a:rPr>
                <a:t>₩18,000</a:t>
              </a:r>
              <a:endParaRPr lang="en-US" sz="2700" dirty="0">
                <a:latin typeface="맑은 고딕" panose="020B0503020000020004" pitchFamily="50" charset="-127"/>
              </a:endParaRPr>
            </a:p>
          </p:txBody>
        </p:sp>
      </p:grpSp>
      <p:sp>
        <p:nvSpPr>
          <p:cNvPr id="31" name="Shape 28"/>
          <p:cNvSpPr/>
          <p:nvPr/>
        </p:nvSpPr>
        <p:spPr>
          <a:xfrm>
            <a:off x="10116826" y="7025144"/>
            <a:ext cx="3205163" cy="1247775"/>
          </a:xfrm>
          <a:prstGeom prst="roundRect">
            <a:avLst>
              <a:gd name="adj" fmla="val 12214"/>
            </a:avLst>
          </a:prstGeom>
          <a:solidFill>
            <a:srgbClr val="ECE9D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2" name="Text 29"/>
          <p:cNvSpPr/>
          <p:nvPr/>
        </p:nvSpPr>
        <p:spPr>
          <a:xfrm>
            <a:off x="10345426" y="7234694"/>
            <a:ext cx="3022759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kern="0" spc="216" dirty="0">
                <a:solidFill>
                  <a:srgbClr val="9A9486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Space Mono" pitchFamily="34" charset="-120"/>
              </a:rPr>
              <a:t>SPOTS</a:t>
            </a:r>
            <a:endParaRPr lang="en-US" sz="1800" dirty="0">
              <a:latin typeface="맑은 고딕" panose="020B0503020000020004" pitchFamily="50" charset="-127"/>
            </a:endParaRPr>
          </a:p>
        </p:txBody>
      </p:sp>
      <p:sp>
        <p:nvSpPr>
          <p:cNvPr id="33" name="Text 30"/>
          <p:cNvSpPr/>
          <p:nvPr/>
        </p:nvSpPr>
        <p:spPr>
          <a:xfrm>
            <a:off x="10345426" y="7653794"/>
            <a:ext cx="3022759" cy="4476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4A4A4A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retendard" pitchFamily="34" charset="-120"/>
              </a:rPr>
              <a:t>6곳</a:t>
            </a:r>
            <a:endParaRPr lang="en-US" sz="2700" dirty="0">
              <a:latin typeface="맑은 고딕" panose="020B0503020000020004" pitchFamily="50" charset="-127"/>
            </a:endParaRPr>
          </a:p>
        </p:txBody>
      </p:sp>
      <p:sp>
        <p:nvSpPr>
          <p:cNvPr id="54" name="Text 4">
            <a:extLst>
              <a:ext uri="{FF2B5EF4-FFF2-40B4-BE49-F238E27FC236}">
                <a16:creationId xmlns:a16="http://schemas.microsoft.com/office/drawing/2014/main" id="{36F09938-4FB2-4FCB-8EED-B53E3F276777}"/>
              </a:ext>
            </a:extLst>
          </p:cNvPr>
          <p:cNvSpPr/>
          <p:nvPr/>
        </p:nvSpPr>
        <p:spPr>
          <a:xfrm>
            <a:off x="15830996" y="1238250"/>
            <a:ext cx="1561207" cy="723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800" kern="0" spc="360" dirty="0">
                <a:solidFill>
                  <a:srgbClr val="B0AA9B"/>
                </a:solidFill>
                <a:latin typeface="맑은 고딕" panose="020B0503020000020004" pitchFamily="50" charset="-127"/>
                <a:ea typeface="Microsoft YaHei" panose="020B0503020204020204" pitchFamily="34" charset="-122"/>
                <a:cs typeface="Arial" panose="020B0604020202020204" pitchFamily="34" charset="0"/>
              </a:rPr>
              <a:t>BOARDING</a:t>
            </a:r>
          </a:p>
          <a:p>
            <a:pPr marL="0" indent="0" algn="ctr">
              <a:lnSpc>
                <a:spcPct val="150000"/>
              </a:lnSpc>
              <a:buNone/>
            </a:pPr>
            <a:r>
              <a:rPr lang="en-US" sz="1800" kern="0" spc="360" dirty="0">
                <a:solidFill>
                  <a:srgbClr val="B0AA9B"/>
                </a:solidFill>
                <a:latin typeface="맑은 고딕" panose="020B0503020000020004" pitchFamily="50" charset="-127"/>
                <a:ea typeface="Microsoft YaHei" panose="020B0503020204020204" pitchFamily="34" charset="-122"/>
                <a:cs typeface="Arial" panose="020B0604020202020204" pitchFamily="34" charset="0"/>
              </a:rPr>
              <a:t>PASS</a:t>
            </a:r>
            <a:endParaRPr lang="en-US" sz="1800" dirty="0">
              <a:latin typeface="맑은 고딕" panose="020B0503020000020004" pitchFamily="50" charset="-127"/>
              <a:cs typeface="Arial" panose="020B0604020202020204" pitchFamily="34" charset="0"/>
            </a:endParaRPr>
          </a:p>
        </p:txBody>
      </p:sp>
      <p:sp>
        <p:nvSpPr>
          <p:cNvPr id="55" name="Text 5">
            <a:extLst>
              <a:ext uri="{FF2B5EF4-FFF2-40B4-BE49-F238E27FC236}">
                <a16:creationId xmlns:a16="http://schemas.microsoft.com/office/drawing/2014/main" id="{134E7D3F-4506-422B-A139-68D950C27186}"/>
              </a:ext>
            </a:extLst>
          </p:cNvPr>
          <p:cNvSpPr/>
          <p:nvPr/>
        </p:nvSpPr>
        <p:spPr>
          <a:xfrm rot="10800000">
            <a:off x="16373475" y="3166533"/>
            <a:ext cx="552450" cy="3055822"/>
          </a:xfrm>
          <a:prstGeom prst="rect">
            <a:avLst/>
          </a:prstGeom>
          <a:noFill/>
          <a:ln/>
        </p:spPr>
        <p:txBody>
          <a:bodyPr vert="eaVert"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3150" b="1" i="1" kern="0" spc="504" dirty="0">
                <a:solidFill>
                  <a:srgbClr val="4A4A4A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Georgia" pitchFamily="34" charset="-120"/>
              </a:rPr>
              <a:t>GROUTRIP</a:t>
            </a:r>
            <a:endParaRPr lang="en-US" sz="3150" dirty="0">
              <a:latin typeface="맑은 고딕" panose="020B0503020000020004" pitchFamily="50" charset="-127"/>
            </a:endParaRPr>
          </a:p>
        </p:txBody>
      </p:sp>
      <p:sp>
        <p:nvSpPr>
          <p:cNvPr id="50" name="Text 8">
            <a:extLst>
              <a:ext uri="{FF2B5EF4-FFF2-40B4-BE49-F238E27FC236}">
                <a16:creationId xmlns:a16="http://schemas.microsoft.com/office/drawing/2014/main" id="{C9AC33C8-FCD4-4CF1-9A7B-2CAB3004A9FD}"/>
              </a:ext>
            </a:extLst>
          </p:cNvPr>
          <p:cNvSpPr/>
          <p:nvPr/>
        </p:nvSpPr>
        <p:spPr>
          <a:xfrm>
            <a:off x="1352550" y="1276350"/>
            <a:ext cx="5497250" cy="4286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2550" i="1" kern="0" spc="408" dirty="0">
                <a:solidFill>
                  <a:srgbClr val="8AA6C0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Cormorant Garamond" pitchFamily="34" charset="-120"/>
              </a:rPr>
              <a:t>Feature 03 · Schedule </a:t>
            </a:r>
            <a:endParaRPr lang="en-US" sz="2550" dirty="0">
              <a:latin typeface="맑은 고딕" panose="020B0503020000020004" pitchFamily="50" charset="-127"/>
            </a:endParaRPr>
          </a:p>
        </p:txBody>
      </p:sp>
      <p:sp>
        <p:nvSpPr>
          <p:cNvPr id="51" name="Text 9">
            <a:extLst>
              <a:ext uri="{FF2B5EF4-FFF2-40B4-BE49-F238E27FC236}">
                <a16:creationId xmlns:a16="http://schemas.microsoft.com/office/drawing/2014/main" id="{3722A371-B4C3-4232-8D92-ACECA55DDAB2}"/>
              </a:ext>
            </a:extLst>
          </p:cNvPr>
          <p:cNvSpPr/>
          <p:nvPr/>
        </p:nvSpPr>
        <p:spPr>
          <a:xfrm>
            <a:off x="1352550" y="1762125"/>
            <a:ext cx="6254318" cy="8953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buNone/>
            </a:pPr>
            <a:r>
              <a:rPr lang="ko-KR" altLang="en-US" sz="4600" b="1" dirty="0">
                <a:solidFill>
                  <a:srgbClr val="4A4A4A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Black Han Sans" pitchFamily="34" charset="-120"/>
              </a:rPr>
              <a:t>일정 </a:t>
            </a:r>
            <a:r>
              <a:rPr lang="ko-KR" altLang="en-US" sz="4600" b="1" dirty="0" err="1">
                <a:solidFill>
                  <a:srgbClr val="4A4A4A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Black Han Sans" pitchFamily="34" charset="-120"/>
              </a:rPr>
              <a:t>빌더</a:t>
            </a:r>
            <a:r>
              <a:rPr lang="ko-KR" altLang="en-US" sz="4600" b="1" dirty="0">
                <a:solidFill>
                  <a:srgbClr val="4A4A4A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Black Han Sans" pitchFamily="34" charset="-120"/>
              </a:rPr>
              <a:t> </a:t>
            </a:r>
            <a:r>
              <a:rPr lang="en-US" altLang="ko-KR" sz="4600" b="1" dirty="0">
                <a:solidFill>
                  <a:srgbClr val="4A4A4A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Black Han Sans" pitchFamily="34" charset="-120"/>
              </a:rPr>
              <a:t>&amp; </a:t>
            </a:r>
            <a:r>
              <a:rPr lang="ko-KR" altLang="en-US" sz="4600" b="1" dirty="0">
                <a:solidFill>
                  <a:srgbClr val="4A4A4A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Black Han Sans" pitchFamily="34" charset="-120"/>
              </a:rPr>
              <a:t>일정 지도</a:t>
            </a:r>
            <a:endParaRPr lang="en-US" sz="4600" b="1" dirty="0">
              <a:latin typeface="맑은 고딕" panose="020B0503020000020004" pitchFamily="50" charset="-127"/>
            </a:endParaRPr>
          </a:p>
        </p:txBody>
      </p:sp>
      <p:sp>
        <p:nvSpPr>
          <p:cNvPr id="52" name="Text 10">
            <a:extLst>
              <a:ext uri="{FF2B5EF4-FFF2-40B4-BE49-F238E27FC236}">
                <a16:creationId xmlns:a16="http://schemas.microsoft.com/office/drawing/2014/main" id="{FD5737AA-CA30-4D99-8651-4970164A7CC5}"/>
              </a:ext>
            </a:extLst>
          </p:cNvPr>
          <p:cNvSpPr/>
          <p:nvPr/>
        </p:nvSpPr>
        <p:spPr>
          <a:xfrm>
            <a:off x="13629531" y="1276350"/>
            <a:ext cx="1134219" cy="4000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950" b="1" kern="0" spc="195" dirty="0">
                <a:solidFill>
                  <a:srgbClr val="A9A395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Space Mono" pitchFamily="34" charset="-120"/>
              </a:rPr>
              <a:t>No. 10</a:t>
            </a:r>
            <a:endParaRPr lang="en-US" sz="1950" b="1" dirty="0">
              <a:latin typeface="맑은 고딕" panose="020B0503020000020004" pitchFamily="50" charset="-127"/>
            </a:endParaRPr>
          </a:p>
        </p:txBody>
      </p:sp>
      <p:sp>
        <p:nvSpPr>
          <p:cNvPr id="53" name="Shape 11">
            <a:extLst>
              <a:ext uri="{FF2B5EF4-FFF2-40B4-BE49-F238E27FC236}">
                <a16:creationId xmlns:a16="http://schemas.microsoft.com/office/drawing/2014/main" id="{51123F98-9DEB-4415-A024-E19137474B63}"/>
              </a:ext>
            </a:extLst>
          </p:cNvPr>
          <p:cNvSpPr/>
          <p:nvPr/>
        </p:nvSpPr>
        <p:spPr>
          <a:xfrm>
            <a:off x="1467526" y="3020410"/>
            <a:ext cx="13115250" cy="3486921"/>
          </a:xfrm>
          <a:prstGeom prst="roundRect">
            <a:avLst>
              <a:gd name="adj" fmla="val 8209"/>
            </a:avLst>
          </a:prstGeom>
          <a:solidFill>
            <a:srgbClr val="3E3C38"/>
          </a:solidFill>
          <a:ln/>
        </p:spPr>
        <p:txBody>
          <a:bodyPr/>
          <a:lstStyle/>
          <a:p>
            <a:endParaRPr lang="ko-KR" altLang="en-US" dirty="0"/>
          </a:p>
        </p:txBody>
      </p:sp>
      <p:pic>
        <p:nvPicPr>
          <p:cNvPr id="19" name="Image 0" descr="preencoded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 rot="4418998">
            <a:off x="1603298" y="3184757"/>
            <a:ext cx="1126437" cy="1126437"/>
          </a:xfrm>
          <a:prstGeom prst="rect">
            <a:avLst/>
          </a:prstGeom>
        </p:spPr>
      </p:pic>
      <p:grpSp>
        <p:nvGrpSpPr>
          <p:cNvPr id="7" name="그룹 6">
            <a:extLst>
              <a:ext uri="{FF2B5EF4-FFF2-40B4-BE49-F238E27FC236}">
                <a16:creationId xmlns:a16="http://schemas.microsoft.com/office/drawing/2014/main" id="{A59A10D3-057E-4627-96A5-789D5F7ED24F}"/>
              </a:ext>
            </a:extLst>
          </p:cNvPr>
          <p:cNvGrpSpPr/>
          <p:nvPr/>
        </p:nvGrpSpPr>
        <p:grpSpPr>
          <a:xfrm>
            <a:off x="2485281" y="4221397"/>
            <a:ext cx="11144250" cy="1238250"/>
            <a:chOff x="1352550" y="8039100"/>
            <a:chExt cx="11144250" cy="1238250"/>
          </a:xfrm>
        </p:grpSpPr>
        <p:sp>
          <p:nvSpPr>
            <p:cNvPr id="34" name="Shape 31"/>
            <p:cNvSpPr/>
            <p:nvPr/>
          </p:nvSpPr>
          <p:spPr>
            <a:xfrm>
              <a:off x="1352550" y="8039100"/>
              <a:ext cx="902643" cy="1238250"/>
            </a:xfrm>
            <a:prstGeom prst="roundRect">
              <a:avLst>
                <a:gd name="adj" fmla="val 12663"/>
              </a:avLst>
            </a:prstGeom>
            <a:solidFill>
              <a:srgbClr val="8AA6C0"/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5" name="Text 32"/>
            <p:cNvSpPr/>
            <p:nvPr/>
          </p:nvSpPr>
          <p:spPr>
            <a:xfrm>
              <a:off x="1487045" y="8153400"/>
              <a:ext cx="699180" cy="1047750"/>
            </a:xfrm>
            <a:prstGeom prst="rect">
              <a:avLst/>
            </a:prstGeom>
            <a:noFill/>
            <a:ln/>
          </p:spPr>
          <p:txBody>
            <a:bodyPr wrap="square" lIns="25400" tIns="25400" rIns="25400" bIns="25400" rtlCol="0" anchor="ctr">
              <a:normAutofit/>
            </a:bodyPr>
            <a:lstStyle/>
            <a:p>
              <a:pPr marL="0" indent="0" algn="l">
                <a:buNone/>
              </a:pPr>
              <a:r>
                <a:rPr lang="en-US" sz="1800" b="1" dirty="0">
                  <a:solidFill>
                    <a:srgbClr val="FBF8EF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  <a:cs typeface="Space Mono" pitchFamily="34" charset="-120"/>
                </a:rPr>
                <a:t>DAY1</a:t>
              </a:r>
              <a:endParaRPr lang="en-US" sz="1800" dirty="0">
                <a:latin typeface="맑은 고딕" panose="020B0503020000020004" pitchFamily="50" charset="-127"/>
              </a:endParaRPr>
            </a:p>
          </p:txBody>
        </p:sp>
        <p:sp>
          <p:nvSpPr>
            <p:cNvPr id="36" name="Text 33"/>
            <p:cNvSpPr/>
            <p:nvPr/>
          </p:nvSpPr>
          <p:spPr>
            <a:xfrm>
              <a:off x="2369493" y="8339137"/>
              <a:ext cx="775841" cy="333375"/>
            </a:xfrm>
            <a:prstGeom prst="rect">
              <a:avLst/>
            </a:prstGeom>
            <a:noFill/>
            <a:ln/>
          </p:spPr>
          <p:txBody>
            <a:bodyPr wrap="square" lIns="25400" tIns="25400" rIns="25400" bIns="25400" rtlCol="0" anchor="t">
              <a:normAutofit fontScale="92500"/>
            </a:bodyPr>
            <a:lstStyle/>
            <a:p>
              <a:pPr marL="0" indent="0" algn="ctr">
                <a:buNone/>
              </a:pPr>
              <a:r>
                <a:rPr lang="en-US" sz="1950" b="1" dirty="0">
                  <a:solidFill>
                    <a:schemeClr val="bg2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  <a:cs typeface="Pretendard" pitchFamily="34" charset="-120"/>
                </a:rPr>
                <a:t>성심당</a:t>
              </a:r>
              <a:endParaRPr lang="en-US" sz="1950" dirty="0">
                <a:solidFill>
                  <a:schemeClr val="bg2"/>
                </a:solidFill>
                <a:latin typeface="맑은 고딕" panose="020B0503020000020004" pitchFamily="50" charset="-127"/>
              </a:endParaRPr>
            </a:p>
          </p:txBody>
        </p:sp>
        <p:sp>
          <p:nvSpPr>
            <p:cNvPr id="37" name="Text 34"/>
            <p:cNvSpPr/>
            <p:nvPr/>
          </p:nvSpPr>
          <p:spPr>
            <a:xfrm>
              <a:off x="2369493" y="8634413"/>
              <a:ext cx="775841" cy="381000"/>
            </a:xfrm>
            <a:prstGeom prst="rect">
              <a:avLst/>
            </a:prstGeom>
            <a:noFill/>
            <a:ln/>
          </p:spPr>
          <p:txBody>
            <a:bodyPr wrap="square" lIns="25400" tIns="25400" rIns="25400" bIns="25400" rtlCol="0" anchor="t">
              <a:normAutofit/>
            </a:bodyPr>
            <a:lstStyle/>
            <a:p>
              <a:pPr marL="0" indent="0" algn="ctr">
                <a:buNone/>
              </a:pPr>
              <a:r>
                <a:rPr lang="en-US" sz="1800" dirty="0">
                  <a:solidFill>
                    <a:srgbClr val="9A9486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  <a:cs typeface="Space Mono" pitchFamily="34" charset="-120"/>
                </a:rPr>
                <a:t>09:00</a:t>
              </a:r>
              <a:endParaRPr lang="en-US" sz="1800" dirty="0">
                <a:latin typeface="맑은 고딕" panose="020B0503020000020004" pitchFamily="50" charset="-127"/>
              </a:endParaRPr>
            </a:p>
          </p:txBody>
        </p:sp>
        <p:sp>
          <p:nvSpPr>
            <p:cNvPr id="38" name="Shape 35"/>
            <p:cNvSpPr/>
            <p:nvPr/>
          </p:nvSpPr>
          <p:spPr>
            <a:xfrm>
              <a:off x="3221534" y="8448675"/>
              <a:ext cx="2136725" cy="19050"/>
            </a:xfrm>
            <a:prstGeom prst="rect">
              <a:avLst/>
            </a:prstGeom>
            <a:solidFill>
              <a:srgbClr val="C7BFA9"/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9" name="Text 36"/>
            <p:cNvSpPr/>
            <p:nvPr/>
          </p:nvSpPr>
          <p:spPr>
            <a:xfrm>
              <a:off x="3183434" y="8524875"/>
              <a:ext cx="2212925" cy="381000"/>
            </a:xfrm>
            <a:prstGeom prst="rect">
              <a:avLst/>
            </a:prstGeom>
            <a:noFill/>
            <a:ln/>
          </p:spPr>
          <p:txBody>
            <a:bodyPr wrap="square" lIns="25400" tIns="25400" rIns="25400" bIns="25400" rtlCol="0" anchor="t">
              <a:normAutofit/>
            </a:bodyPr>
            <a:lstStyle/>
            <a:p>
              <a:pPr marL="0" indent="0" algn="ctr">
                <a:buNone/>
              </a:pPr>
              <a:r>
                <a:rPr lang="en-US" sz="1800" dirty="0">
                  <a:solidFill>
                    <a:srgbClr val="A29C8C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  <a:cs typeface="Space Mono" pitchFamily="34" charset="-120"/>
                </a:rPr>
                <a:t>KTX 1h54</a:t>
              </a:r>
              <a:endParaRPr lang="en-US" sz="1800" dirty="0">
                <a:latin typeface="맑은 고딕" panose="020B0503020000020004" pitchFamily="50" charset="-127"/>
              </a:endParaRPr>
            </a:p>
          </p:txBody>
        </p:sp>
        <p:sp>
          <p:nvSpPr>
            <p:cNvPr id="40" name="Text 37"/>
            <p:cNvSpPr/>
            <p:nvPr/>
          </p:nvSpPr>
          <p:spPr>
            <a:xfrm>
              <a:off x="5434459" y="8339137"/>
              <a:ext cx="932408" cy="333375"/>
            </a:xfrm>
            <a:prstGeom prst="rect">
              <a:avLst/>
            </a:prstGeom>
            <a:noFill/>
            <a:ln/>
          </p:spPr>
          <p:txBody>
            <a:bodyPr wrap="square" lIns="25400" tIns="25400" rIns="25400" bIns="25400" rtlCol="0" anchor="t">
              <a:normAutofit fontScale="85000" lnSpcReduction="10000"/>
            </a:bodyPr>
            <a:lstStyle/>
            <a:p>
              <a:pPr marL="0" indent="0" algn="ctr">
                <a:buNone/>
              </a:pPr>
              <a:r>
                <a:rPr lang="en-US" sz="1950" b="1" dirty="0">
                  <a:solidFill>
                    <a:schemeClr val="bg2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  <a:cs typeface="Pretendard" pitchFamily="34" charset="-120"/>
                </a:rPr>
                <a:t>안목해변</a:t>
              </a:r>
              <a:endParaRPr lang="en-US" sz="1950" dirty="0">
                <a:solidFill>
                  <a:schemeClr val="bg2"/>
                </a:solidFill>
                <a:latin typeface="맑은 고딕" panose="020B0503020000020004" pitchFamily="50" charset="-127"/>
              </a:endParaRPr>
            </a:p>
          </p:txBody>
        </p:sp>
        <p:sp>
          <p:nvSpPr>
            <p:cNvPr id="41" name="Text 38"/>
            <p:cNvSpPr/>
            <p:nvPr/>
          </p:nvSpPr>
          <p:spPr>
            <a:xfrm>
              <a:off x="5434459" y="8634413"/>
              <a:ext cx="932408" cy="381000"/>
            </a:xfrm>
            <a:prstGeom prst="rect">
              <a:avLst/>
            </a:prstGeom>
            <a:noFill/>
            <a:ln/>
          </p:spPr>
          <p:txBody>
            <a:bodyPr wrap="square" lIns="25400" tIns="25400" rIns="25400" bIns="25400" rtlCol="0" anchor="t">
              <a:normAutofit/>
            </a:bodyPr>
            <a:lstStyle/>
            <a:p>
              <a:pPr marL="0" indent="0" algn="ctr">
                <a:buNone/>
              </a:pPr>
              <a:r>
                <a:rPr lang="en-US" sz="1800" dirty="0">
                  <a:solidFill>
                    <a:srgbClr val="9A9486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  <a:cs typeface="Space Mono" pitchFamily="34" charset="-120"/>
                </a:rPr>
                <a:t>12:00</a:t>
              </a:r>
              <a:endParaRPr lang="en-US" sz="1800" dirty="0">
                <a:latin typeface="맑은 고딕" panose="020B0503020000020004" pitchFamily="50" charset="-127"/>
              </a:endParaRPr>
            </a:p>
          </p:txBody>
        </p:sp>
        <p:sp>
          <p:nvSpPr>
            <p:cNvPr id="42" name="Shape 39"/>
            <p:cNvSpPr/>
            <p:nvPr/>
          </p:nvSpPr>
          <p:spPr>
            <a:xfrm>
              <a:off x="6443067" y="8448675"/>
              <a:ext cx="2136725" cy="19050"/>
            </a:xfrm>
            <a:prstGeom prst="rect">
              <a:avLst/>
            </a:prstGeom>
            <a:solidFill>
              <a:srgbClr val="C7BFA9"/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3" name="Text 40"/>
            <p:cNvSpPr/>
            <p:nvPr/>
          </p:nvSpPr>
          <p:spPr>
            <a:xfrm>
              <a:off x="6404967" y="8524875"/>
              <a:ext cx="2212925" cy="381000"/>
            </a:xfrm>
            <a:prstGeom prst="rect">
              <a:avLst/>
            </a:prstGeom>
            <a:noFill/>
            <a:ln/>
          </p:spPr>
          <p:txBody>
            <a:bodyPr wrap="square" lIns="25400" tIns="25400" rIns="25400" bIns="25400" rtlCol="0" anchor="t">
              <a:normAutofit/>
            </a:bodyPr>
            <a:lstStyle/>
            <a:p>
              <a:pPr marL="0" indent="0" algn="ctr">
                <a:buNone/>
              </a:pPr>
              <a:r>
                <a:rPr lang="en-US" sz="1800" dirty="0">
                  <a:solidFill>
                    <a:srgbClr val="A29C8C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  <a:cs typeface="Space Mono" pitchFamily="34" charset="-120"/>
                </a:rPr>
                <a:t>차 15분</a:t>
              </a:r>
              <a:endParaRPr lang="en-US" sz="1800" dirty="0">
                <a:latin typeface="맑은 고딕" panose="020B0503020000020004" pitchFamily="50" charset="-127"/>
              </a:endParaRPr>
            </a:p>
          </p:txBody>
        </p:sp>
        <p:sp>
          <p:nvSpPr>
            <p:cNvPr id="44" name="Text 41"/>
            <p:cNvSpPr/>
            <p:nvPr/>
          </p:nvSpPr>
          <p:spPr>
            <a:xfrm>
              <a:off x="8655993" y="8339137"/>
              <a:ext cx="775841" cy="333375"/>
            </a:xfrm>
            <a:prstGeom prst="rect">
              <a:avLst/>
            </a:prstGeom>
            <a:noFill/>
            <a:ln/>
          </p:spPr>
          <p:txBody>
            <a:bodyPr wrap="square" lIns="25400" tIns="25400" rIns="25400" bIns="25400" rtlCol="0" anchor="t">
              <a:normAutofit fontScale="92500"/>
            </a:bodyPr>
            <a:lstStyle/>
            <a:p>
              <a:pPr marL="0" indent="0" algn="ctr">
                <a:buNone/>
              </a:pPr>
              <a:r>
                <a:rPr lang="en-US" sz="1950" b="1" dirty="0">
                  <a:solidFill>
                    <a:schemeClr val="bg2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  <a:cs typeface="Pretendard" pitchFamily="34" charset="-120"/>
                </a:rPr>
                <a:t>오죽헌</a:t>
              </a:r>
              <a:endParaRPr lang="en-US" sz="1950" dirty="0">
                <a:solidFill>
                  <a:schemeClr val="bg2"/>
                </a:solidFill>
                <a:latin typeface="맑은 고딕" panose="020B0503020000020004" pitchFamily="50" charset="-127"/>
              </a:endParaRPr>
            </a:p>
          </p:txBody>
        </p:sp>
        <p:sp>
          <p:nvSpPr>
            <p:cNvPr id="45" name="Text 42"/>
            <p:cNvSpPr/>
            <p:nvPr/>
          </p:nvSpPr>
          <p:spPr>
            <a:xfrm>
              <a:off x="8655993" y="8634413"/>
              <a:ext cx="775841" cy="381000"/>
            </a:xfrm>
            <a:prstGeom prst="rect">
              <a:avLst/>
            </a:prstGeom>
            <a:noFill/>
            <a:ln/>
          </p:spPr>
          <p:txBody>
            <a:bodyPr wrap="square" lIns="25400" tIns="25400" rIns="25400" bIns="25400" rtlCol="0" anchor="t">
              <a:normAutofit/>
            </a:bodyPr>
            <a:lstStyle/>
            <a:p>
              <a:pPr marL="0" indent="0" algn="ctr">
                <a:buNone/>
              </a:pPr>
              <a:r>
                <a:rPr lang="en-US" sz="1800" dirty="0">
                  <a:solidFill>
                    <a:srgbClr val="9A9486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  <a:cs typeface="Space Mono" pitchFamily="34" charset="-120"/>
                </a:rPr>
                <a:t>14:30</a:t>
              </a:r>
              <a:endParaRPr lang="en-US" sz="1800" dirty="0">
                <a:latin typeface="맑은 고딕" panose="020B0503020000020004" pitchFamily="50" charset="-127"/>
              </a:endParaRPr>
            </a:p>
          </p:txBody>
        </p:sp>
        <p:sp>
          <p:nvSpPr>
            <p:cNvPr id="46" name="Shape 43"/>
            <p:cNvSpPr/>
            <p:nvPr/>
          </p:nvSpPr>
          <p:spPr>
            <a:xfrm>
              <a:off x="9508034" y="8448675"/>
              <a:ext cx="2136725" cy="19050"/>
            </a:xfrm>
            <a:prstGeom prst="rect">
              <a:avLst/>
            </a:prstGeom>
            <a:solidFill>
              <a:srgbClr val="C7BFA9"/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7" name="Text 44"/>
            <p:cNvSpPr/>
            <p:nvPr/>
          </p:nvSpPr>
          <p:spPr>
            <a:xfrm>
              <a:off x="9469934" y="8524875"/>
              <a:ext cx="2212925" cy="381000"/>
            </a:xfrm>
            <a:prstGeom prst="rect">
              <a:avLst/>
            </a:prstGeom>
            <a:noFill/>
            <a:ln/>
          </p:spPr>
          <p:txBody>
            <a:bodyPr wrap="square" lIns="25400" tIns="25400" rIns="25400" bIns="25400" rtlCol="0" anchor="t">
              <a:normAutofit/>
            </a:bodyPr>
            <a:lstStyle/>
            <a:p>
              <a:pPr marL="0" indent="0" algn="ctr">
                <a:buNone/>
              </a:pPr>
              <a:r>
                <a:rPr lang="en-US" sz="1800" dirty="0">
                  <a:solidFill>
                    <a:srgbClr val="A29C8C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  <a:cs typeface="Space Mono" pitchFamily="34" charset="-120"/>
                </a:rPr>
                <a:t>도보 6분</a:t>
              </a:r>
              <a:endParaRPr lang="en-US" sz="1800" dirty="0">
                <a:latin typeface="맑은 고딕" panose="020B0503020000020004" pitchFamily="50" charset="-127"/>
              </a:endParaRPr>
            </a:p>
          </p:txBody>
        </p:sp>
        <p:sp>
          <p:nvSpPr>
            <p:cNvPr id="48" name="Text 45"/>
            <p:cNvSpPr/>
            <p:nvPr/>
          </p:nvSpPr>
          <p:spPr>
            <a:xfrm>
              <a:off x="11720959" y="8339137"/>
              <a:ext cx="775841" cy="333375"/>
            </a:xfrm>
            <a:prstGeom prst="rect">
              <a:avLst/>
            </a:prstGeom>
            <a:noFill/>
            <a:ln/>
          </p:spPr>
          <p:txBody>
            <a:bodyPr wrap="square" lIns="25400" tIns="25400" rIns="25400" bIns="25400" rtlCol="0" anchor="t">
              <a:normAutofit fontScale="92500"/>
            </a:bodyPr>
            <a:lstStyle/>
            <a:p>
              <a:pPr marL="0" indent="0" algn="ctr">
                <a:buNone/>
              </a:pPr>
              <a:r>
                <a:rPr lang="en-US" sz="1950" b="1" dirty="0">
                  <a:solidFill>
                    <a:schemeClr val="bg2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  <a:cs typeface="Pretendard" pitchFamily="34" charset="-120"/>
                </a:rPr>
                <a:t>경포호</a:t>
              </a:r>
              <a:endParaRPr lang="en-US" sz="1950" dirty="0">
                <a:solidFill>
                  <a:schemeClr val="bg2"/>
                </a:solidFill>
                <a:latin typeface="맑은 고딕" panose="020B0503020000020004" pitchFamily="50" charset="-127"/>
              </a:endParaRPr>
            </a:p>
          </p:txBody>
        </p:sp>
        <p:sp>
          <p:nvSpPr>
            <p:cNvPr id="49" name="Text 46"/>
            <p:cNvSpPr/>
            <p:nvPr/>
          </p:nvSpPr>
          <p:spPr>
            <a:xfrm>
              <a:off x="11720959" y="8634413"/>
              <a:ext cx="775841" cy="381000"/>
            </a:xfrm>
            <a:prstGeom prst="rect">
              <a:avLst/>
            </a:prstGeom>
            <a:noFill/>
            <a:ln/>
          </p:spPr>
          <p:txBody>
            <a:bodyPr wrap="square" lIns="25400" tIns="25400" rIns="25400" bIns="25400" rtlCol="0" anchor="t">
              <a:normAutofit/>
            </a:bodyPr>
            <a:lstStyle/>
            <a:p>
              <a:pPr marL="0" indent="0" algn="ctr">
                <a:buNone/>
              </a:pPr>
              <a:r>
                <a:rPr lang="en-US" sz="1800" dirty="0">
                  <a:solidFill>
                    <a:srgbClr val="9A9486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  <a:cs typeface="Space Mono" pitchFamily="34" charset="-120"/>
                </a:rPr>
                <a:t>16:00</a:t>
              </a:r>
              <a:endParaRPr lang="en-US" sz="1800" dirty="0">
                <a:latin typeface="맑은 고딕" panose="020B0503020000020004" pitchFamily="50" charset="-127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26321923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87A0B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52450" y="552450"/>
            <a:ext cx="17183100" cy="9182100"/>
          </a:xfrm>
          <a:prstGeom prst="roundRect">
            <a:avLst>
              <a:gd name="adj" fmla="val 3734"/>
            </a:avLst>
          </a:prstGeom>
          <a:solidFill>
            <a:srgbClr val="FBF8EF"/>
          </a:solidFill>
          <a:ln/>
          <a:effectLst>
            <a:outerShdw blurRad="857250" dist="381000" dir="5400000" algn="bl" rotWithShape="0">
              <a:srgbClr val="233241">
                <a:alpha val="2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15468600" y="552450"/>
            <a:ext cx="19050" cy="9182100"/>
          </a:xfrm>
          <a:prstGeom prst="rect">
            <a:avLst/>
          </a:prstGeom>
          <a:solidFill>
            <a:srgbClr val="C7BFA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15278100" y="342900"/>
            <a:ext cx="419100" cy="419100"/>
          </a:xfrm>
          <a:prstGeom prst="ellipse">
            <a:avLst/>
          </a:prstGeom>
          <a:solidFill>
            <a:srgbClr val="87A0B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15278100" y="9525000"/>
            <a:ext cx="419100" cy="419100"/>
          </a:xfrm>
          <a:prstGeom prst="ellipse">
            <a:avLst/>
          </a:prstGeom>
          <a:solidFill>
            <a:srgbClr val="87A0B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Shape 6"/>
          <p:cNvSpPr/>
          <p:nvPr/>
        </p:nvSpPr>
        <p:spPr>
          <a:xfrm>
            <a:off x="15887551" y="7943850"/>
            <a:ext cx="1447800" cy="590550"/>
          </a:xfrm>
          <a:prstGeom prst="rect">
            <a:avLst/>
          </a:prstGeom>
          <a:blipFill>
            <a:blip r:embed="rId3"/>
            <a:tile tx="0" ty="0" sx="100000" sy="100000" flip="none" algn="tl"/>
          </a:blip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9" name="Text 7"/>
          <p:cNvSpPr/>
          <p:nvPr/>
        </p:nvSpPr>
        <p:spPr>
          <a:xfrm>
            <a:off x="15796766" y="8705850"/>
            <a:ext cx="1792471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kern="0" spc="324" dirty="0">
                <a:solidFill>
                  <a:srgbClr val="B0AA9B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Space Mono" pitchFamily="34" charset="-120"/>
              </a:rPr>
              <a:t>ADMIT ONE</a:t>
            </a:r>
            <a:endParaRPr lang="en-US" sz="1800" dirty="0">
              <a:latin typeface="맑은 고딕" panose="020B0503020000020004" pitchFamily="50" charset="-127"/>
            </a:endParaRPr>
          </a:p>
        </p:txBody>
      </p:sp>
      <p:sp>
        <p:nvSpPr>
          <p:cNvPr id="10" name="Text 8"/>
          <p:cNvSpPr/>
          <p:nvPr/>
        </p:nvSpPr>
        <p:spPr>
          <a:xfrm>
            <a:off x="1352550" y="1276350"/>
            <a:ext cx="5497250" cy="4286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2550" i="1" kern="0" spc="408" dirty="0">
                <a:solidFill>
                  <a:srgbClr val="8AA6C0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Cormorant Garamond" pitchFamily="34" charset="-120"/>
              </a:rPr>
              <a:t>Feature 04 · Vote</a:t>
            </a:r>
            <a:endParaRPr lang="en-US" sz="2550" dirty="0">
              <a:latin typeface="맑은 고딕" panose="020B0503020000020004" pitchFamily="50" charset="-127"/>
            </a:endParaRPr>
          </a:p>
        </p:txBody>
      </p:sp>
      <p:sp>
        <p:nvSpPr>
          <p:cNvPr id="11" name="Text 9"/>
          <p:cNvSpPr/>
          <p:nvPr/>
        </p:nvSpPr>
        <p:spPr>
          <a:xfrm>
            <a:off x="1352550" y="1762125"/>
            <a:ext cx="5497250" cy="8953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85000" lnSpcReduction="10000"/>
          </a:bodyPr>
          <a:lstStyle/>
          <a:p>
            <a:pPr marL="0" indent="0" algn="l">
              <a:buNone/>
            </a:pPr>
            <a:r>
              <a:rPr lang="en-US" sz="5400" b="1" dirty="0">
                <a:solidFill>
                  <a:srgbClr val="4A4A4A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Black Han Sans" pitchFamily="34" charset="-120"/>
              </a:rPr>
              <a:t>투표로 함께 정하기</a:t>
            </a:r>
            <a:endParaRPr lang="en-US" sz="5400" b="1" dirty="0">
              <a:latin typeface="맑은 고딕" panose="020B0503020000020004" pitchFamily="50" charset="-127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13629531" y="1276350"/>
            <a:ext cx="1134219" cy="4000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950" b="1" kern="0" spc="195" dirty="0">
                <a:solidFill>
                  <a:srgbClr val="A9A395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Space Mono" pitchFamily="34" charset="-120"/>
              </a:rPr>
              <a:t>No. 11</a:t>
            </a:r>
            <a:endParaRPr lang="en-US" sz="1950" b="1" dirty="0">
              <a:latin typeface="맑은 고딕" panose="020B0503020000020004" pitchFamily="50" charset="-127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1352550" y="3000375"/>
            <a:ext cx="9036189" cy="3524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2025" b="1" dirty="0">
                <a:solidFill>
                  <a:srgbClr val="8C887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retendard" pitchFamily="34" charset="-120"/>
              </a:rPr>
              <a:t>점심 장소 투표 · 마감 D-1</a:t>
            </a:r>
            <a:endParaRPr lang="en-US" sz="2025" dirty="0">
              <a:latin typeface="맑은 고딕" panose="020B0503020000020004" pitchFamily="50" charset="-127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1352550" y="3505200"/>
            <a:ext cx="8214717" cy="1238250"/>
          </a:xfrm>
          <a:prstGeom prst="roundRect">
            <a:avLst>
              <a:gd name="adj" fmla="val 13846"/>
            </a:avLst>
          </a:prstGeom>
          <a:solidFill>
            <a:srgbClr val="E4EA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3"/>
          <p:cNvSpPr/>
          <p:nvPr/>
        </p:nvSpPr>
        <p:spPr>
          <a:xfrm>
            <a:off x="1619250" y="3895725"/>
            <a:ext cx="248841" cy="495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3000" b="1" i="1" dirty="0">
                <a:solidFill>
                  <a:srgbClr val="8AA6C0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Bitter" pitchFamily="34" charset="-120"/>
              </a:rPr>
              <a:t>1</a:t>
            </a:r>
            <a:endParaRPr lang="en-US" sz="3000" dirty="0">
              <a:latin typeface="맑은 고딕" panose="020B0503020000020004" pitchFamily="50" charset="-127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2001441" y="3714750"/>
            <a:ext cx="8029039" cy="4000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4A4A4A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retendard" pitchFamily="34" charset="-120"/>
              </a:rPr>
              <a:t>성심당 빵투어</a:t>
            </a:r>
            <a:endParaRPr lang="en-US" sz="2400" dirty="0">
              <a:latin typeface="맑은 고딕" panose="020B0503020000020004" pitchFamily="50" charset="-127"/>
            </a:endParaRPr>
          </a:p>
        </p:txBody>
      </p:sp>
      <p:sp>
        <p:nvSpPr>
          <p:cNvPr id="17" name="Shape 15"/>
          <p:cNvSpPr/>
          <p:nvPr/>
        </p:nvSpPr>
        <p:spPr>
          <a:xfrm>
            <a:off x="2001441" y="4295775"/>
            <a:ext cx="6712744" cy="133350"/>
          </a:xfrm>
          <a:prstGeom prst="roundRect">
            <a:avLst>
              <a:gd name="adj" fmla="val 50000"/>
            </a:avLst>
          </a:prstGeom>
          <a:solidFill>
            <a:srgbClr val="CDD7E2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8" name="Shape 16"/>
          <p:cNvSpPr/>
          <p:nvPr/>
        </p:nvSpPr>
        <p:spPr>
          <a:xfrm>
            <a:off x="2001441" y="4295775"/>
            <a:ext cx="6041380" cy="133350"/>
          </a:xfrm>
          <a:prstGeom prst="roundRect">
            <a:avLst>
              <a:gd name="adj" fmla="val 50000"/>
            </a:avLst>
          </a:prstGeom>
          <a:solidFill>
            <a:srgbClr val="8AA6C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7"/>
          <p:cNvSpPr/>
          <p:nvPr/>
        </p:nvSpPr>
        <p:spPr>
          <a:xfrm>
            <a:off x="8866584" y="4191000"/>
            <a:ext cx="510183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2250" b="1" dirty="0">
                <a:solidFill>
                  <a:srgbClr val="4A4A4A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retendard" pitchFamily="34" charset="-120"/>
              </a:rPr>
              <a:t>9표</a:t>
            </a:r>
            <a:endParaRPr lang="en-US" sz="2250" dirty="0">
              <a:latin typeface="맑은 고딕" panose="020B0503020000020004" pitchFamily="50" charset="-127"/>
            </a:endParaRPr>
          </a:p>
        </p:txBody>
      </p:sp>
      <p:sp>
        <p:nvSpPr>
          <p:cNvPr id="20" name="Shape 18"/>
          <p:cNvSpPr/>
          <p:nvPr/>
        </p:nvSpPr>
        <p:spPr>
          <a:xfrm rot="-539999">
            <a:off x="7978974" y="3390900"/>
            <a:ext cx="1343024" cy="457200"/>
          </a:xfrm>
          <a:prstGeom prst="roundRect">
            <a:avLst>
              <a:gd name="adj" fmla="val 20833"/>
            </a:avLst>
          </a:prstGeom>
          <a:solidFill>
            <a:srgbClr val="FBF8EF"/>
          </a:solidFill>
          <a:ln w="28575">
            <a:solidFill>
              <a:srgbClr val="8AA6C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1" name="Text 19"/>
          <p:cNvSpPr/>
          <p:nvPr/>
        </p:nvSpPr>
        <p:spPr>
          <a:xfrm rot="-539999">
            <a:off x="8140899" y="3448050"/>
            <a:ext cx="1095375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2250" b="1" i="1" dirty="0">
                <a:solidFill>
                  <a:srgbClr val="8AA6C0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Bitter" pitchFamily="34" charset="-120"/>
              </a:rPr>
              <a:t>PICKED</a:t>
            </a:r>
            <a:endParaRPr lang="en-US" sz="2250" dirty="0">
              <a:latin typeface="맑은 고딕" panose="020B0503020000020004" pitchFamily="50" charset="-127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1352550" y="4914900"/>
            <a:ext cx="8214717" cy="1238250"/>
          </a:xfrm>
          <a:prstGeom prst="roundRect">
            <a:avLst>
              <a:gd name="adj" fmla="val 13846"/>
            </a:avLst>
          </a:prstGeom>
          <a:solidFill>
            <a:srgbClr val="ECE9D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3" name="Text 21"/>
          <p:cNvSpPr/>
          <p:nvPr/>
        </p:nvSpPr>
        <p:spPr>
          <a:xfrm>
            <a:off x="1619250" y="5305425"/>
            <a:ext cx="295275" cy="495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3000" b="1" i="1" dirty="0">
                <a:solidFill>
                  <a:srgbClr val="C3BCA8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Bitter" pitchFamily="34" charset="-120"/>
              </a:rPr>
              <a:t>2</a:t>
            </a:r>
            <a:endParaRPr lang="en-US" sz="3000" dirty="0">
              <a:latin typeface="맑은 고딕" panose="020B0503020000020004" pitchFamily="50" charset="-127"/>
            </a:endParaRPr>
          </a:p>
        </p:txBody>
      </p:sp>
      <p:sp>
        <p:nvSpPr>
          <p:cNvPr id="24" name="Text 22"/>
          <p:cNvSpPr/>
          <p:nvPr/>
        </p:nvSpPr>
        <p:spPr>
          <a:xfrm>
            <a:off x="2047875" y="5124450"/>
            <a:ext cx="7977961" cy="4000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4A4A4A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retendard" pitchFamily="34" charset="-120"/>
              </a:rPr>
              <a:t>칼국수 거리</a:t>
            </a:r>
            <a:endParaRPr lang="en-US" sz="2400" dirty="0">
              <a:latin typeface="맑은 고딕" panose="020B0503020000020004" pitchFamily="50" charset="-127"/>
            </a:endParaRPr>
          </a:p>
        </p:txBody>
      </p:sp>
      <p:sp>
        <p:nvSpPr>
          <p:cNvPr id="25" name="Shape 23"/>
          <p:cNvSpPr/>
          <p:nvPr/>
        </p:nvSpPr>
        <p:spPr>
          <a:xfrm>
            <a:off x="2047875" y="5705475"/>
            <a:ext cx="6666309" cy="133350"/>
          </a:xfrm>
          <a:prstGeom prst="roundRect">
            <a:avLst>
              <a:gd name="adj" fmla="val 50000"/>
            </a:avLst>
          </a:prstGeom>
          <a:solidFill>
            <a:srgbClr val="D8D3C4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6" name="Shape 24"/>
          <p:cNvSpPr/>
          <p:nvPr/>
        </p:nvSpPr>
        <p:spPr>
          <a:xfrm>
            <a:off x="2047875" y="5705475"/>
            <a:ext cx="4666357" cy="133350"/>
          </a:xfrm>
          <a:prstGeom prst="roundRect">
            <a:avLst>
              <a:gd name="adj" fmla="val 50000"/>
            </a:avLst>
          </a:prstGeom>
          <a:solidFill>
            <a:srgbClr val="B6B0A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7" name="Text 25"/>
          <p:cNvSpPr/>
          <p:nvPr/>
        </p:nvSpPr>
        <p:spPr>
          <a:xfrm>
            <a:off x="8866584" y="5600700"/>
            <a:ext cx="510183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2250" b="1" dirty="0">
                <a:solidFill>
                  <a:srgbClr val="6E6A60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retendard" pitchFamily="34" charset="-120"/>
              </a:rPr>
              <a:t>7표</a:t>
            </a:r>
            <a:endParaRPr lang="en-US" sz="2250" dirty="0">
              <a:latin typeface="맑은 고딕" panose="020B0503020000020004" pitchFamily="50" charset="-127"/>
            </a:endParaRPr>
          </a:p>
        </p:txBody>
      </p:sp>
      <p:sp>
        <p:nvSpPr>
          <p:cNvPr id="28" name="Shape 26"/>
          <p:cNvSpPr/>
          <p:nvPr/>
        </p:nvSpPr>
        <p:spPr>
          <a:xfrm>
            <a:off x="1352550" y="6324600"/>
            <a:ext cx="8214717" cy="1238250"/>
          </a:xfrm>
          <a:prstGeom prst="roundRect">
            <a:avLst>
              <a:gd name="adj" fmla="val 13846"/>
            </a:avLst>
          </a:prstGeom>
          <a:solidFill>
            <a:srgbClr val="ECE9D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9" name="Text 27"/>
          <p:cNvSpPr/>
          <p:nvPr/>
        </p:nvSpPr>
        <p:spPr>
          <a:xfrm>
            <a:off x="1619250" y="6715125"/>
            <a:ext cx="295275" cy="495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3000" b="1" i="1" dirty="0">
                <a:solidFill>
                  <a:srgbClr val="C3BCA8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Bitter" pitchFamily="34" charset="-120"/>
              </a:rPr>
              <a:t>2</a:t>
            </a:r>
            <a:endParaRPr lang="en-US" sz="3000" dirty="0">
              <a:latin typeface="맑은 고딕" panose="020B0503020000020004" pitchFamily="50" charset="-127"/>
            </a:endParaRPr>
          </a:p>
        </p:txBody>
      </p:sp>
      <p:sp>
        <p:nvSpPr>
          <p:cNvPr id="30" name="Text 28"/>
          <p:cNvSpPr/>
          <p:nvPr/>
        </p:nvSpPr>
        <p:spPr>
          <a:xfrm>
            <a:off x="2047875" y="6534150"/>
            <a:ext cx="7977961" cy="4000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4A4A4A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retendard" pitchFamily="34" charset="-120"/>
              </a:rPr>
              <a:t>한밭식당</a:t>
            </a:r>
            <a:endParaRPr lang="en-US" sz="2400" dirty="0">
              <a:latin typeface="맑은 고딕" panose="020B0503020000020004" pitchFamily="50" charset="-127"/>
            </a:endParaRPr>
          </a:p>
        </p:txBody>
      </p:sp>
      <p:sp>
        <p:nvSpPr>
          <p:cNvPr id="31" name="Shape 29"/>
          <p:cNvSpPr/>
          <p:nvPr/>
        </p:nvSpPr>
        <p:spPr>
          <a:xfrm>
            <a:off x="2047875" y="7115175"/>
            <a:ext cx="6666309" cy="133350"/>
          </a:xfrm>
          <a:prstGeom prst="roundRect">
            <a:avLst>
              <a:gd name="adj" fmla="val 50000"/>
            </a:avLst>
          </a:prstGeom>
          <a:solidFill>
            <a:srgbClr val="D8D3C4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2" name="Shape 30"/>
          <p:cNvSpPr/>
          <p:nvPr/>
        </p:nvSpPr>
        <p:spPr>
          <a:xfrm>
            <a:off x="2047875" y="7115175"/>
            <a:ext cx="4666357" cy="133350"/>
          </a:xfrm>
          <a:prstGeom prst="roundRect">
            <a:avLst>
              <a:gd name="adj" fmla="val 50000"/>
            </a:avLst>
          </a:prstGeom>
          <a:solidFill>
            <a:srgbClr val="B6B0A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3" name="Text 31"/>
          <p:cNvSpPr/>
          <p:nvPr/>
        </p:nvSpPr>
        <p:spPr>
          <a:xfrm>
            <a:off x="8866584" y="7010400"/>
            <a:ext cx="510183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2250" b="1" dirty="0">
                <a:solidFill>
                  <a:srgbClr val="6E6A60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retendard" pitchFamily="34" charset="-120"/>
              </a:rPr>
              <a:t>7표</a:t>
            </a:r>
            <a:endParaRPr lang="en-US" sz="2250" dirty="0">
              <a:latin typeface="맑은 고딕" panose="020B0503020000020004" pitchFamily="50" charset="-127"/>
            </a:endParaRPr>
          </a:p>
        </p:txBody>
      </p:sp>
      <p:sp>
        <p:nvSpPr>
          <p:cNvPr id="34" name="Shape 32"/>
          <p:cNvSpPr/>
          <p:nvPr/>
        </p:nvSpPr>
        <p:spPr>
          <a:xfrm>
            <a:off x="9872067" y="3000375"/>
            <a:ext cx="4815483" cy="3143250"/>
          </a:xfrm>
          <a:prstGeom prst="roundRect">
            <a:avLst>
              <a:gd name="adj" fmla="val 6061"/>
            </a:avLst>
          </a:prstGeom>
          <a:solidFill>
            <a:srgbClr val="ECE9D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5" name="Shape 33"/>
          <p:cNvSpPr/>
          <p:nvPr/>
        </p:nvSpPr>
        <p:spPr>
          <a:xfrm>
            <a:off x="10176867" y="3286125"/>
            <a:ext cx="648444" cy="438150"/>
          </a:xfrm>
          <a:prstGeom prst="roundRect">
            <a:avLst>
              <a:gd name="adj" fmla="val 17391"/>
            </a:avLst>
          </a:prstGeom>
          <a:solidFill>
            <a:srgbClr val="3E3C3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6" name="Text 34"/>
          <p:cNvSpPr/>
          <p:nvPr/>
        </p:nvSpPr>
        <p:spPr>
          <a:xfrm>
            <a:off x="10291167" y="3333750"/>
            <a:ext cx="496044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3F0E6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Space Mono" pitchFamily="34" charset="-120"/>
              </a:rPr>
              <a:t>TIE</a:t>
            </a:r>
            <a:endParaRPr lang="en-US" sz="1800" dirty="0">
              <a:latin typeface="맑은 고딕" panose="020B0503020000020004" pitchFamily="50" charset="-127"/>
            </a:endParaRPr>
          </a:p>
        </p:txBody>
      </p:sp>
      <p:sp>
        <p:nvSpPr>
          <p:cNvPr id="37" name="Text 35"/>
          <p:cNvSpPr/>
          <p:nvPr/>
        </p:nvSpPr>
        <p:spPr>
          <a:xfrm>
            <a:off x="10939611" y="3343275"/>
            <a:ext cx="1141809" cy="3619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4A4A4A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retendard" pitchFamily="34" charset="-120"/>
              </a:rPr>
              <a:t>동점이면?</a:t>
            </a:r>
            <a:endParaRPr lang="en-US" sz="2100" dirty="0">
              <a:latin typeface="맑은 고딕" panose="020B0503020000020004" pitchFamily="50" charset="-127"/>
            </a:endParaRPr>
          </a:p>
        </p:txBody>
      </p:sp>
      <p:sp>
        <p:nvSpPr>
          <p:cNvPr id="38" name="Text 36"/>
          <p:cNvSpPr/>
          <p:nvPr/>
        </p:nvSpPr>
        <p:spPr>
          <a:xfrm>
            <a:off x="10176867" y="3895725"/>
            <a:ext cx="4332059" cy="7810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950" dirty="0">
                <a:solidFill>
                  <a:srgbClr val="6E6A60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retendard" pitchFamily="34" charset="-120"/>
              </a:rPr>
              <a:t>먼저 등록된 후보가 우선. 필요하면 </a:t>
            </a:r>
            <a:r>
              <a:rPr lang="en-US" sz="1950" b="1" dirty="0">
                <a:solidFill>
                  <a:srgbClr val="4A4A4A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retendard" pitchFamily="34" charset="-120"/>
              </a:rPr>
              <a:t>Owner가 수동 확정 </a:t>
            </a:r>
            <a:r>
              <a:rPr lang="en-US" sz="1950" dirty="0">
                <a:solidFill>
                  <a:srgbClr val="6E6A60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retendard" pitchFamily="34" charset="-120"/>
              </a:rPr>
              <a:t>합니다.</a:t>
            </a:r>
            <a:endParaRPr lang="en-US" sz="1950" dirty="0">
              <a:latin typeface="맑은 고딕" panose="020B0503020000020004" pitchFamily="50" charset="-127"/>
            </a:endParaRPr>
          </a:p>
        </p:txBody>
      </p:sp>
      <p:sp>
        <p:nvSpPr>
          <p:cNvPr id="39" name="Shape 37"/>
          <p:cNvSpPr/>
          <p:nvPr/>
        </p:nvSpPr>
        <p:spPr>
          <a:xfrm>
            <a:off x="9872067" y="6353175"/>
            <a:ext cx="4815483" cy="1209675"/>
          </a:xfrm>
          <a:prstGeom prst="roundRect">
            <a:avLst>
              <a:gd name="adj" fmla="val 15748"/>
            </a:avLst>
          </a:prstGeom>
          <a:solidFill>
            <a:srgbClr val="E4EA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0" name="Shape 38"/>
          <p:cNvSpPr/>
          <p:nvPr/>
        </p:nvSpPr>
        <p:spPr>
          <a:xfrm>
            <a:off x="10176867" y="6700838"/>
            <a:ext cx="514350" cy="514350"/>
          </a:xfrm>
          <a:prstGeom prst="ellipse">
            <a:avLst/>
          </a:prstGeom>
          <a:solidFill>
            <a:srgbClr val="8AA6C0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41" name="Image 0" descr="preencoded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300692" y="6824663"/>
            <a:ext cx="266700" cy="266700"/>
          </a:xfrm>
          <a:prstGeom prst="rect">
            <a:avLst/>
          </a:prstGeom>
        </p:spPr>
      </p:pic>
      <p:sp>
        <p:nvSpPr>
          <p:cNvPr id="42" name="Text 39"/>
          <p:cNvSpPr/>
          <p:nvPr/>
        </p:nvSpPr>
        <p:spPr>
          <a:xfrm>
            <a:off x="10862667" y="6638925"/>
            <a:ext cx="1864831" cy="3619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4A4A4A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retendard" pitchFamily="34" charset="-120"/>
              </a:rPr>
              <a:t>실시간 반영</a:t>
            </a:r>
            <a:endParaRPr lang="en-US" sz="2100" dirty="0">
              <a:latin typeface="맑은 고딕" panose="020B0503020000020004" pitchFamily="50" charset="-127"/>
            </a:endParaRPr>
          </a:p>
        </p:txBody>
      </p:sp>
      <p:sp>
        <p:nvSpPr>
          <p:cNvPr id="43" name="Text 40"/>
          <p:cNvSpPr/>
          <p:nvPr/>
        </p:nvSpPr>
        <p:spPr>
          <a:xfrm>
            <a:off x="10862667" y="7000875"/>
            <a:ext cx="1864831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85000" lnSpcReduction="10000"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6E7E92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retendard" pitchFamily="34" charset="-120"/>
              </a:rPr>
              <a:t>투표 즉시 모두에게</a:t>
            </a:r>
            <a:endParaRPr lang="en-US" sz="1800" dirty="0">
              <a:latin typeface="맑은 고딕" panose="020B0503020000020004" pitchFamily="50" charset="-127"/>
            </a:endParaRPr>
          </a:p>
        </p:txBody>
      </p:sp>
      <p:sp>
        <p:nvSpPr>
          <p:cNvPr id="44" name="Text 4">
            <a:extLst>
              <a:ext uri="{FF2B5EF4-FFF2-40B4-BE49-F238E27FC236}">
                <a16:creationId xmlns:a16="http://schemas.microsoft.com/office/drawing/2014/main" id="{6DDA25BB-B142-4BCD-BEFB-E489ACD2EAC2}"/>
              </a:ext>
            </a:extLst>
          </p:cNvPr>
          <p:cNvSpPr/>
          <p:nvPr/>
        </p:nvSpPr>
        <p:spPr>
          <a:xfrm>
            <a:off x="15830996" y="1238250"/>
            <a:ext cx="1561207" cy="723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800" kern="0" spc="360" dirty="0">
                <a:solidFill>
                  <a:srgbClr val="B0AA9B"/>
                </a:solidFill>
                <a:latin typeface="맑은 고딕" panose="020B0503020000020004" pitchFamily="50" charset="-127"/>
                <a:ea typeface="Microsoft YaHei" panose="020B0503020204020204" pitchFamily="34" charset="-122"/>
                <a:cs typeface="Arial" panose="020B0604020202020204" pitchFamily="34" charset="0"/>
              </a:rPr>
              <a:t>BOARDING</a:t>
            </a:r>
          </a:p>
          <a:p>
            <a:pPr marL="0" indent="0" algn="ctr">
              <a:lnSpc>
                <a:spcPct val="150000"/>
              </a:lnSpc>
              <a:buNone/>
            </a:pPr>
            <a:r>
              <a:rPr lang="en-US" sz="1800" kern="0" spc="360" dirty="0">
                <a:solidFill>
                  <a:srgbClr val="B0AA9B"/>
                </a:solidFill>
                <a:latin typeface="맑은 고딕" panose="020B0503020000020004" pitchFamily="50" charset="-127"/>
                <a:ea typeface="Microsoft YaHei" panose="020B0503020204020204" pitchFamily="34" charset="-122"/>
                <a:cs typeface="Arial" panose="020B0604020202020204" pitchFamily="34" charset="0"/>
              </a:rPr>
              <a:t>PASS</a:t>
            </a:r>
            <a:endParaRPr lang="en-US" sz="1800" dirty="0">
              <a:latin typeface="맑은 고딕" panose="020B0503020000020004" pitchFamily="50" charset="-127"/>
              <a:cs typeface="Arial" panose="020B0604020202020204" pitchFamily="34" charset="0"/>
            </a:endParaRPr>
          </a:p>
        </p:txBody>
      </p:sp>
      <p:sp>
        <p:nvSpPr>
          <p:cNvPr id="45" name="Text 5">
            <a:extLst>
              <a:ext uri="{FF2B5EF4-FFF2-40B4-BE49-F238E27FC236}">
                <a16:creationId xmlns:a16="http://schemas.microsoft.com/office/drawing/2014/main" id="{E92B5610-B201-436A-A8C6-74EFFA1473D3}"/>
              </a:ext>
            </a:extLst>
          </p:cNvPr>
          <p:cNvSpPr/>
          <p:nvPr/>
        </p:nvSpPr>
        <p:spPr>
          <a:xfrm rot="10800000">
            <a:off x="16373475" y="3166533"/>
            <a:ext cx="552450" cy="3055822"/>
          </a:xfrm>
          <a:prstGeom prst="rect">
            <a:avLst/>
          </a:prstGeom>
          <a:noFill/>
          <a:ln/>
        </p:spPr>
        <p:txBody>
          <a:bodyPr vert="eaVert"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3150" b="1" i="1" kern="0" spc="504" dirty="0">
                <a:solidFill>
                  <a:srgbClr val="4A4A4A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Georgia" pitchFamily="34" charset="-120"/>
              </a:rPr>
              <a:t>GROUTRIP</a:t>
            </a:r>
            <a:endParaRPr lang="en-US" sz="3150" dirty="0">
              <a:latin typeface="맑은 고딕" panose="020B0503020000020004" pitchFamily="50" charset="-127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87A0B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52450" y="552450"/>
            <a:ext cx="17183100" cy="9182100"/>
          </a:xfrm>
          <a:prstGeom prst="roundRect">
            <a:avLst>
              <a:gd name="adj" fmla="val 3734"/>
            </a:avLst>
          </a:prstGeom>
          <a:solidFill>
            <a:srgbClr val="FBF8EF"/>
          </a:solidFill>
          <a:ln/>
          <a:effectLst>
            <a:outerShdw blurRad="857250" dist="381000" dir="5400000" algn="bl" rotWithShape="0">
              <a:srgbClr val="233241">
                <a:alpha val="2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15468600" y="552450"/>
            <a:ext cx="19050" cy="9182100"/>
          </a:xfrm>
          <a:prstGeom prst="rect">
            <a:avLst/>
          </a:prstGeom>
          <a:solidFill>
            <a:srgbClr val="C7BFA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15278100" y="342900"/>
            <a:ext cx="419100" cy="419100"/>
          </a:xfrm>
          <a:prstGeom prst="ellipse">
            <a:avLst/>
          </a:prstGeom>
          <a:solidFill>
            <a:srgbClr val="87A0B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15278100" y="9525000"/>
            <a:ext cx="419100" cy="419100"/>
          </a:xfrm>
          <a:prstGeom prst="ellipse">
            <a:avLst/>
          </a:prstGeom>
          <a:solidFill>
            <a:srgbClr val="87A0B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Shape 6"/>
          <p:cNvSpPr/>
          <p:nvPr/>
        </p:nvSpPr>
        <p:spPr>
          <a:xfrm>
            <a:off x="15887551" y="7943850"/>
            <a:ext cx="1447800" cy="590550"/>
          </a:xfrm>
          <a:prstGeom prst="rect">
            <a:avLst/>
          </a:prstGeom>
          <a:blipFill>
            <a:blip r:embed="rId3"/>
            <a:tile tx="0" ty="0" sx="100000" sy="100000" flip="none" algn="tl"/>
          </a:blip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9" name="Text 7"/>
          <p:cNvSpPr/>
          <p:nvPr/>
        </p:nvSpPr>
        <p:spPr>
          <a:xfrm>
            <a:off x="15796766" y="8705850"/>
            <a:ext cx="1792471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kern="0" spc="324" dirty="0">
                <a:solidFill>
                  <a:srgbClr val="B0AA9B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Space Mono" pitchFamily="34" charset="-120"/>
              </a:rPr>
              <a:t>ADMIT ONE</a:t>
            </a:r>
            <a:endParaRPr lang="en-US" sz="1800" dirty="0">
              <a:latin typeface="맑은 고딕" panose="020B0503020000020004" pitchFamily="50" charset="-127"/>
            </a:endParaRPr>
          </a:p>
        </p:txBody>
      </p:sp>
      <p:sp>
        <p:nvSpPr>
          <p:cNvPr id="10" name="Text 8"/>
          <p:cNvSpPr/>
          <p:nvPr/>
        </p:nvSpPr>
        <p:spPr>
          <a:xfrm>
            <a:off x="1352550" y="1276350"/>
            <a:ext cx="3563823" cy="4286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85000" lnSpcReduction="10000"/>
          </a:bodyPr>
          <a:lstStyle/>
          <a:p>
            <a:pPr marL="0" indent="0" algn="l">
              <a:buNone/>
            </a:pPr>
            <a:r>
              <a:rPr lang="en-US" sz="2550" i="1" kern="0" spc="408" dirty="0">
                <a:solidFill>
                  <a:srgbClr val="8AA6C0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Cormorant Garamond" pitchFamily="34" charset="-120"/>
              </a:rPr>
              <a:t>Feature 05 · Settle</a:t>
            </a:r>
            <a:endParaRPr lang="en-US" sz="2550" dirty="0">
              <a:latin typeface="맑은 고딕" panose="020B0503020000020004" pitchFamily="50" charset="-127"/>
            </a:endParaRPr>
          </a:p>
        </p:txBody>
      </p:sp>
      <p:sp>
        <p:nvSpPr>
          <p:cNvPr id="11" name="Text 9"/>
          <p:cNvSpPr/>
          <p:nvPr/>
        </p:nvSpPr>
        <p:spPr>
          <a:xfrm>
            <a:off x="1352550" y="1762125"/>
            <a:ext cx="3563823" cy="8953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85000" lnSpcReduction="10000"/>
          </a:bodyPr>
          <a:lstStyle/>
          <a:p>
            <a:pPr marL="0" indent="0" algn="l">
              <a:buNone/>
            </a:pPr>
            <a:r>
              <a:rPr lang="en-US" sz="5400" b="1" dirty="0">
                <a:solidFill>
                  <a:srgbClr val="4A4A4A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Black Han Sans" pitchFamily="34" charset="-120"/>
              </a:rPr>
              <a:t>정산 &amp; 송금</a:t>
            </a:r>
            <a:endParaRPr lang="en-US" sz="5400" b="1" dirty="0">
              <a:latin typeface="맑은 고딕" panose="020B0503020000020004" pitchFamily="50" charset="-127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13629531" y="1276350"/>
            <a:ext cx="1134219" cy="4000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950" b="1" kern="0" spc="195" dirty="0">
                <a:solidFill>
                  <a:srgbClr val="A9A395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Space Mono" pitchFamily="34" charset="-120"/>
              </a:rPr>
              <a:t>No. 12</a:t>
            </a:r>
            <a:endParaRPr lang="en-US" sz="1950" b="1" dirty="0">
              <a:latin typeface="맑은 고딕" panose="020B0503020000020004" pitchFamily="50" charset="-127"/>
            </a:endParaRPr>
          </a:p>
        </p:txBody>
      </p:sp>
      <p:sp>
        <p:nvSpPr>
          <p:cNvPr id="13" name="Shape 11"/>
          <p:cNvSpPr/>
          <p:nvPr/>
        </p:nvSpPr>
        <p:spPr>
          <a:xfrm>
            <a:off x="1352550" y="3000375"/>
            <a:ext cx="5454551" cy="2552700"/>
          </a:xfrm>
          <a:prstGeom prst="roundRect">
            <a:avLst>
              <a:gd name="adj" fmla="val 8209"/>
            </a:avLst>
          </a:prstGeom>
          <a:solidFill>
            <a:srgbClr val="3E3C3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2"/>
          <p:cNvSpPr/>
          <p:nvPr/>
        </p:nvSpPr>
        <p:spPr>
          <a:xfrm>
            <a:off x="1695450" y="3324225"/>
            <a:ext cx="5245626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kern="0" spc="252" dirty="0">
                <a:solidFill>
                  <a:srgbClr val="9A968C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Space Mono" pitchFamily="34" charset="-120"/>
              </a:rPr>
              <a:t>TOTAL SPENT</a:t>
            </a:r>
            <a:endParaRPr lang="en-US" sz="1800" dirty="0">
              <a:latin typeface="맑은 고딕" panose="020B0503020000020004" pitchFamily="50" charset="-127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1695450" y="3762375"/>
            <a:ext cx="5245626" cy="714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4500" b="1" dirty="0">
                <a:solidFill>
                  <a:srgbClr val="F3F0E6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retendard" pitchFamily="34" charset="-120"/>
              </a:rPr>
              <a:t>₩320,000</a:t>
            </a:r>
            <a:endParaRPr lang="en-US" sz="4500" dirty="0">
              <a:latin typeface="맑은 고딕" panose="020B0503020000020004" pitchFamily="50" charset="-127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1695450" y="4648200"/>
            <a:ext cx="4768751" cy="9525"/>
          </a:xfrm>
          <a:prstGeom prst="rect">
            <a:avLst/>
          </a:prstGeom>
          <a:solidFill>
            <a:srgbClr val="5E5B54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5"/>
          <p:cNvSpPr/>
          <p:nvPr/>
        </p:nvSpPr>
        <p:spPr>
          <a:xfrm>
            <a:off x="1695450" y="4914900"/>
            <a:ext cx="995809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buNone/>
            </a:pPr>
            <a:r>
              <a:rPr lang="en-US" sz="1950" dirty="0">
                <a:solidFill>
                  <a:srgbClr val="C9C5BA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retendard" pitchFamily="34" charset="-120"/>
              </a:rPr>
              <a:t>5명 · 1인</a:t>
            </a:r>
            <a:endParaRPr lang="en-US" sz="1950" dirty="0">
              <a:latin typeface="맑은 고딕" panose="020B0503020000020004" pitchFamily="50" charset="-127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5016996" y="4848225"/>
            <a:ext cx="1591925" cy="4191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2550" b="1" dirty="0">
                <a:solidFill>
                  <a:srgbClr val="8AA6C0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retendard" pitchFamily="34" charset="-120"/>
              </a:rPr>
              <a:t>₩64,000</a:t>
            </a:r>
            <a:endParaRPr lang="en-US" sz="2550" dirty="0">
              <a:latin typeface="맑은 고딕" panose="020B0503020000020004" pitchFamily="50" charset="-127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1352550" y="5762625"/>
            <a:ext cx="5454551" cy="803821"/>
          </a:xfrm>
          <a:prstGeom prst="roundRect">
            <a:avLst>
              <a:gd name="adj" fmla="val 21329"/>
            </a:avLst>
          </a:prstGeom>
          <a:solidFill>
            <a:srgbClr val="ECE9DD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20" name="Image 0" descr="preencoded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638300" y="6021586"/>
            <a:ext cx="285750" cy="285750"/>
          </a:xfrm>
          <a:prstGeom prst="rect">
            <a:avLst/>
          </a:prstGeom>
        </p:spPr>
      </p:pic>
      <p:sp>
        <p:nvSpPr>
          <p:cNvPr id="21" name="Text 18"/>
          <p:cNvSpPr/>
          <p:nvPr/>
        </p:nvSpPr>
        <p:spPr>
          <a:xfrm>
            <a:off x="2076450" y="5991225"/>
            <a:ext cx="3709690" cy="38472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950" b="1" dirty="0">
                <a:solidFill>
                  <a:srgbClr val="4A4A4A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retendard" pitchFamily="34" charset="-120"/>
              </a:rPr>
              <a:t>Owner</a:t>
            </a:r>
            <a:r>
              <a:rPr lang="en-US" sz="1950" dirty="0">
                <a:solidFill>
                  <a:srgbClr val="6E6A60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retendard" pitchFamily="34" charset="-120"/>
              </a:rPr>
              <a:t>만 정산을 시작할 수 있어요</a:t>
            </a:r>
            <a:endParaRPr lang="en-US" sz="1950" dirty="0">
              <a:latin typeface="맑은 고딕" panose="020B0503020000020004" pitchFamily="50" charset="-127"/>
            </a:endParaRPr>
          </a:p>
        </p:txBody>
      </p:sp>
      <p:sp>
        <p:nvSpPr>
          <p:cNvPr id="22" name="Text 19"/>
          <p:cNvSpPr/>
          <p:nvPr/>
        </p:nvSpPr>
        <p:spPr>
          <a:xfrm>
            <a:off x="7111901" y="3000375"/>
            <a:ext cx="1129903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85000" lnSpcReduction="10000"/>
          </a:bodyPr>
          <a:lstStyle/>
          <a:p>
            <a:pPr marL="0" indent="0" algn="l">
              <a:buNone/>
            </a:pPr>
            <a:r>
              <a:rPr lang="en-US" sz="2250" b="1" dirty="0">
                <a:solidFill>
                  <a:srgbClr val="4A4A4A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retendard" pitchFamily="34" charset="-120"/>
              </a:rPr>
              <a:t>최소 송금</a:t>
            </a:r>
            <a:endParaRPr lang="en-US" sz="2250" dirty="0">
              <a:latin typeface="맑은 고딕" panose="020B0503020000020004" pitchFamily="50" charset="-127"/>
            </a:endParaRPr>
          </a:p>
        </p:txBody>
      </p:sp>
      <p:sp>
        <p:nvSpPr>
          <p:cNvPr id="23" name="Text 20"/>
          <p:cNvSpPr/>
          <p:nvPr/>
        </p:nvSpPr>
        <p:spPr>
          <a:xfrm>
            <a:off x="13302109" y="3019425"/>
            <a:ext cx="1523985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9A9486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Space Mono" pitchFamily="34" charset="-120"/>
              </a:rPr>
              <a:t>10건 → 3건</a:t>
            </a:r>
            <a:endParaRPr lang="en-US" sz="1800" dirty="0">
              <a:latin typeface="맑은 고딕" panose="020B0503020000020004" pitchFamily="50" charset="-127"/>
            </a:endParaRPr>
          </a:p>
        </p:txBody>
      </p:sp>
      <p:sp>
        <p:nvSpPr>
          <p:cNvPr id="24" name="Shape 21"/>
          <p:cNvSpPr/>
          <p:nvPr/>
        </p:nvSpPr>
        <p:spPr>
          <a:xfrm>
            <a:off x="7111901" y="3552825"/>
            <a:ext cx="7575649" cy="771525"/>
          </a:xfrm>
          <a:prstGeom prst="roundRect">
            <a:avLst>
              <a:gd name="adj" fmla="val 19753"/>
            </a:avLst>
          </a:prstGeom>
          <a:solidFill>
            <a:srgbClr val="ECE9D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5" name="Text 22"/>
          <p:cNvSpPr/>
          <p:nvPr/>
        </p:nvSpPr>
        <p:spPr>
          <a:xfrm>
            <a:off x="7340501" y="3781425"/>
            <a:ext cx="743099" cy="3524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85000" lnSpcReduction="10000"/>
          </a:bodyPr>
          <a:lstStyle/>
          <a:p>
            <a:pPr marL="0" indent="0" algn="l">
              <a:buNone/>
            </a:pPr>
            <a:r>
              <a:rPr lang="en-US" sz="2025" b="1" dirty="0">
                <a:solidFill>
                  <a:srgbClr val="6E6A60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retendard" pitchFamily="34" charset="-120"/>
              </a:rPr>
              <a:t>정희성</a:t>
            </a:r>
            <a:endParaRPr lang="en-US" sz="2025" dirty="0">
              <a:latin typeface="맑은 고딕" panose="020B0503020000020004" pitchFamily="50" charset="-127"/>
            </a:endParaRPr>
          </a:p>
        </p:txBody>
      </p:sp>
      <p:pic>
        <p:nvPicPr>
          <p:cNvPr id="26" name="Image 1" descr="preencoded.png"/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121700" y="3833812"/>
            <a:ext cx="209550" cy="209550"/>
          </a:xfrm>
          <a:prstGeom prst="rect">
            <a:avLst/>
          </a:prstGeom>
        </p:spPr>
      </p:pic>
      <p:sp>
        <p:nvSpPr>
          <p:cNvPr id="27" name="Text 23"/>
          <p:cNvSpPr/>
          <p:nvPr/>
        </p:nvSpPr>
        <p:spPr>
          <a:xfrm>
            <a:off x="8445550" y="3781425"/>
            <a:ext cx="743099" cy="3524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85000" lnSpcReduction="10000"/>
          </a:bodyPr>
          <a:lstStyle/>
          <a:p>
            <a:pPr marL="0" indent="0" algn="l">
              <a:buNone/>
            </a:pPr>
            <a:r>
              <a:rPr lang="en-US" sz="2025" b="1" dirty="0">
                <a:solidFill>
                  <a:srgbClr val="4A4A4A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retendard" pitchFamily="34" charset="-120"/>
              </a:rPr>
              <a:t>김민준</a:t>
            </a:r>
            <a:endParaRPr lang="en-US" sz="2025" dirty="0">
              <a:latin typeface="맑은 고딕" panose="020B0503020000020004" pitchFamily="50" charset="-127"/>
            </a:endParaRPr>
          </a:p>
        </p:txBody>
      </p:sp>
      <p:sp>
        <p:nvSpPr>
          <p:cNvPr id="28" name="Text 24"/>
          <p:cNvSpPr/>
          <p:nvPr/>
        </p:nvSpPr>
        <p:spPr>
          <a:xfrm>
            <a:off x="9702701" y="3767138"/>
            <a:ext cx="1404640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2250" b="1" dirty="0">
                <a:solidFill>
                  <a:srgbClr val="4A4A4A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retendard" pitchFamily="34" charset="-120"/>
              </a:rPr>
              <a:t>₩24,000</a:t>
            </a:r>
            <a:endParaRPr lang="en-US" sz="2250" dirty="0">
              <a:latin typeface="맑은 고딕" panose="020B0503020000020004" pitchFamily="50" charset="-127"/>
            </a:endParaRPr>
          </a:p>
        </p:txBody>
      </p:sp>
      <p:sp>
        <p:nvSpPr>
          <p:cNvPr id="29" name="Shape 25"/>
          <p:cNvSpPr/>
          <p:nvPr/>
        </p:nvSpPr>
        <p:spPr>
          <a:xfrm>
            <a:off x="12887623" y="3724275"/>
            <a:ext cx="738039" cy="428625"/>
          </a:xfrm>
          <a:prstGeom prst="roundRect">
            <a:avLst>
              <a:gd name="adj" fmla="val 50000"/>
            </a:avLst>
          </a:prstGeom>
          <a:solidFill>
            <a:srgbClr val="8AA6C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0" name="Text 26"/>
          <p:cNvSpPr/>
          <p:nvPr/>
        </p:nvSpPr>
        <p:spPr>
          <a:xfrm>
            <a:off x="13059073" y="3800475"/>
            <a:ext cx="471339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85000" lnSpcReduction="10000"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BF8EF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retendard" pitchFamily="34" charset="-120"/>
              </a:rPr>
              <a:t>토스</a:t>
            </a:r>
            <a:endParaRPr lang="en-US" sz="1800" dirty="0">
              <a:latin typeface="맑은 고딕" panose="020B0503020000020004" pitchFamily="50" charset="-127"/>
            </a:endParaRPr>
          </a:p>
        </p:txBody>
      </p:sp>
      <p:sp>
        <p:nvSpPr>
          <p:cNvPr id="31" name="Shape 27"/>
          <p:cNvSpPr/>
          <p:nvPr/>
        </p:nvSpPr>
        <p:spPr>
          <a:xfrm>
            <a:off x="13720911" y="3724275"/>
            <a:ext cx="738039" cy="428625"/>
          </a:xfrm>
          <a:prstGeom prst="roundRect">
            <a:avLst>
              <a:gd name="adj" fmla="val 50000"/>
            </a:avLst>
          </a:prstGeom>
          <a:solidFill>
            <a:srgbClr val="6F9472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2" name="Text 28"/>
          <p:cNvSpPr/>
          <p:nvPr/>
        </p:nvSpPr>
        <p:spPr>
          <a:xfrm>
            <a:off x="13892361" y="3800475"/>
            <a:ext cx="471339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85000" lnSpcReduction="10000"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BF8EF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retendard" pitchFamily="34" charset="-120"/>
              </a:rPr>
              <a:t>완료</a:t>
            </a:r>
            <a:endParaRPr lang="en-US" sz="1800" dirty="0">
              <a:latin typeface="맑은 고딕" panose="020B0503020000020004" pitchFamily="50" charset="-127"/>
            </a:endParaRPr>
          </a:p>
        </p:txBody>
      </p:sp>
      <p:sp>
        <p:nvSpPr>
          <p:cNvPr id="33" name="Shape 29"/>
          <p:cNvSpPr/>
          <p:nvPr/>
        </p:nvSpPr>
        <p:spPr>
          <a:xfrm>
            <a:off x="7111901" y="4476750"/>
            <a:ext cx="7575649" cy="771525"/>
          </a:xfrm>
          <a:prstGeom prst="roundRect">
            <a:avLst>
              <a:gd name="adj" fmla="val 19753"/>
            </a:avLst>
          </a:prstGeom>
          <a:solidFill>
            <a:srgbClr val="ECE9D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4" name="Text 30"/>
          <p:cNvSpPr/>
          <p:nvPr/>
        </p:nvSpPr>
        <p:spPr>
          <a:xfrm>
            <a:off x="7340501" y="4705350"/>
            <a:ext cx="743099" cy="3524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85000" lnSpcReduction="10000"/>
          </a:bodyPr>
          <a:lstStyle/>
          <a:p>
            <a:pPr marL="0" indent="0" algn="l">
              <a:buNone/>
            </a:pPr>
            <a:r>
              <a:rPr lang="ko-KR" altLang="en-US" sz="2025" b="1" dirty="0" err="1">
                <a:solidFill>
                  <a:srgbClr val="6E6A60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retendard" pitchFamily="34" charset="-120"/>
              </a:rPr>
              <a:t>김싸피</a:t>
            </a:r>
            <a:endParaRPr lang="en-US" sz="2025" dirty="0">
              <a:latin typeface="맑은 고딕" panose="020B0503020000020004" pitchFamily="50" charset="-127"/>
            </a:endParaRPr>
          </a:p>
        </p:txBody>
      </p:sp>
      <p:pic>
        <p:nvPicPr>
          <p:cNvPr id="35" name="Image 2" descr="preencoded.png"/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121700" y="4757738"/>
            <a:ext cx="209550" cy="209550"/>
          </a:xfrm>
          <a:prstGeom prst="rect">
            <a:avLst/>
          </a:prstGeom>
        </p:spPr>
      </p:pic>
      <p:sp>
        <p:nvSpPr>
          <p:cNvPr id="36" name="Text 31"/>
          <p:cNvSpPr/>
          <p:nvPr/>
        </p:nvSpPr>
        <p:spPr>
          <a:xfrm>
            <a:off x="8445550" y="4705350"/>
            <a:ext cx="743099" cy="3524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85000" lnSpcReduction="10000"/>
          </a:bodyPr>
          <a:lstStyle/>
          <a:p>
            <a:pPr marL="0" indent="0" algn="l">
              <a:buNone/>
            </a:pPr>
            <a:r>
              <a:rPr lang="en-US" sz="2025" b="1" dirty="0">
                <a:solidFill>
                  <a:srgbClr val="4A4A4A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retendard" pitchFamily="34" charset="-120"/>
              </a:rPr>
              <a:t>김민준</a:t>
            </a:r>
            <a:endParaRPr lang="en-US" sz="2025" dirty="0">
              <a:latin typeface="맑은 고딕" panose="020B0503020000020004" pitchFamily="50" charset="-127"/>
            </a:endParaRPr>
          </a:p>
        </p:txBody>
      </p:sp>
      <p:sp>
        <p:nvSpPr>
          <p:cNvPr id="37" name="Text 32"/>
          <p:cNvSpPr/>
          <p:nvPr/>
        </p:nvSpPr>
        <p:spPr>
          <a:xfrm>
            <a:off x="9702701" y="4691063"/>
            <a:ext cx="1404640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2250" b="1" dirty="0">
                <a:solidFill>
                  <a:srgbClr val="4A4A4A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retendard" pitchFamily="34" charset="-120"/>
              </a:rPr>
              <a:t>₩40,000</a:t>
            </a:r>
            <a:endParaRPr lang="en-US" sz="2250" dirty="0">
              <a:latin typeface="맑은 고딕" panose="020B0503020000020004" pitchFamily="50" charset="-127"/>
            </a:endParaRPr>
          </a:p>
        </p:txBody>
      </p:sp>
      <p:sp>
        <p:nvSpPr>
          <p:cNvPr id="38" name="Shape 33"/>
          <p:cNvSpPr/>
          <p:nvPr/>
        </p:nvSpPr>
        <p:spPr>
          <a:xfrm>
            <a:off x="12043023" y="4648200"/>
            <a:ext cx="1330821" cy="428625"/>
          </a:xfrm>
          <a:prstGeom prst="roundRect">
            <a:avLst>
              <a:gd name="adj" fmla="val 50000"/>
            </a:avLst>
          </a:prstGeom>
          <a:solidFill>
            <a:srgbClr val="8AA6C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9" name="Text 34"/>
          <p:cNvSpPr/>
          <p:nvPr/>
        </p:nvSpPr>
        <p:spPr>
          <a:xfrm>
            <a:off x="12214473" y="4724400"/>
            <a:ext cx="1064121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85000" lnSpcReduction="10000"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BF8EF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retendard" pitchFamily="34" charset="-120"/>
              </a:rPr>
              <a:t>카카오페이</a:t>
            </a:r>
            <a:endParaRPr lang="en-US" sz="1800" dirty="0">
              <a:latin typeface="맑은 고딕" panose="020B0503020000020004" pitchFamily="50" charset="-127"/>
            </a:endParaRPr>
          </a:p>
        </p:txBody>
      </p:sp>
      <p:sp>
        <p:nvSpPr>
          <p:cNvPr id="40" name="Shape 35"/>
          <p:cNvSpPr/>
          <p:nvPr/>
        </p:nvSpPr>
        <p:spPr>
          <a:xfrm>
            <a:off x="13469094" y="4648200"/>
            <a:ext cx="989856" cy="428625"/>
          </a:xfrm>
          <a:prstGeom prst="roundRect">
            <a:avLst>
              <a:gd name="adj" fmla="val 50000"/>
            </a:avLst>
          </a:prstGeom>
          <a:solidFill>
            <a:srgbClr val="8AA6C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1" name="Text 36"/>
          <p:cNvSpPr/>
          <p:nvPr/>
        </p:nvSpPr>
        <p:spPr>
          <a:xfrm>
            <a:off x="13640544" y="4724400"/>
            <a:ext cx="723156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85000" lnSpcReduction="10000"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BF8EF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retendard" pitchFamily="34" charset="-120"/>
              </a:rPr>
              <a:t>송금 중</a:t>
            </a:r>
            <a:endParaRPr lang="en-US" sz="1800" dirty="0">
              <a:latin typeface="맑은 고딕" panose="020B0503020000020004" pitchFamily="50" charset="-127"/>
            </a:endParaRPr>
          </a:p>
        </p:txBody>
      </p:sp>
      <p:sp>
        <p:nvSpPr>
          <p:cNvPr id="42" name="Shape 37"/>
          <p:cNvSpPr/>
          <p:nvPr/>
        </p:nvSpPr>
        <p:spPr>
          <a:xfrm>
            <a:off x="7111901" y="5400675"/>
            <a:ext cx="7575649" cy="771525"/>
          </a:xfrm>
          <a:prstGeom prst="roundRect">
            <a:avLst>
              <a:gd name="adj" fmla="val 19753"/>
            </a:avLst>
          </a:prstGeom>
          <a:solidFill>
            <a:srgbClr val="ECE9D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3" name="Text 38"/>
          <p:cNvSpPr/>
          <p:nvPr/>
        </p:nvSpPr>
        <p:spPr>
          <a:xfrm>
            <a:off x="7340501" y="5629275"/>
            <a:ext cx="743099" cy="3524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85000" lnSpcReduction="10000"/>
          </a:bodyPr>
          <a:lstStyle/>
          <a:p>
            <a:pPr marL="0" indent="0" algn="l">
              <a:buNone/>
            </a:pPr>
            <a:r>
              <a:rPr lang="ko-KR" altLang="en-US" sz="2025" b="1" dirty="0" err="1">
                <a:solidFill>
                  <a:srgbClr val="6E6A60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retendard" pitchFamily="34" charset="-120"/>
              </a:rPr>
              <a:t>박싸피</a:t>
            </a:r>
            <a:endParaRPr lang="en-US" sz="2025" dirty="0">
              <a:latin typeface="맑은 고딕" panose="020B0503020000020004" pitchFamily="50" charset="-127"/>
            </a:endParaRPr>
          </a:p>
        </p:txBody>
      </p:sp>
      <p:pic>
        <p:nvPicPr>
          <p:cNvPr id="44" name="Image 3" descr="preencoded.png"/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8121700" y="5681663"/>
            <a:ext cx="209550" cy="209550"/>
          </a:xfrm>
          <a:prstGeom prst="rect">
            <a:avLst/>
          </a:prstGeom>
        </p:spPr>
      </p:pic>
      <p:sp>
        <p:nvSpPr>
          <p:cNvPr id="45" name="Text 39"/>
          <p:cNvSpPr/>
          <p:nvPr/>
        </p:nvSpPr>
        <p:spPr>
          <a:xfrm>
            <a:off x="8445550" y="5629275"/>
            <a:ext cx="743099" cy="3524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85000" lnSpcReduction="10000"/>
          </a:bodyPr>
          <a:lstStyle/>
          <a:p>
            <a:pPr marL="0" indent="0" algn="l">
              <a:buNone/>
            </a:pPr>
            <a:r>
              <a:rPr lang="en-US" sz="2025" b="1" dirty="0">
                <a:solidFill>
                  <a:srgbClr val="4A4A4A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retendard" pitchFamily="34" charset="-120"/>
              </a:rPr>
              <a:t>정희성</a:t>
            </a:r>
            <a:endParaRPr lang="en-US" sz="2025" dirty="0">
              <a:latin typeface="맑은 고딕" panose="020B0503020000020004" pitchFamily="50" charset="-127"/>
            </a:endParaRPr>
          </a:p>
        </p:txBody>
      </p:sp>
      <p:sp>
        <p:nvSpPr>
          <p:cNvPr id="46" name="Text 40"/>
          <p:cNvSpPr/>
          <p:nvPr/>
        </p:nvSpPr>
        <p:spPr>
          <a:xfrm>
            <a:off x="9702701" y="5614988"/>
            <a:ext cx="1404640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2250" b="1" dirty="0">
                <a:solidFill>
                  <a:srgbClr val="4A4A4A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retendard" pitchFamily="34" charset="-120"/>
              </a:rPr>
              <a:t>₩16,000</a:t>
            </a:r>
            <a:endParaRPr lang="en-US" sz="2250" dirty="0">
              <a:latin typeface="맑은 고딕" panose="020B0503020000020004" pitchFamily="50" charset="-127"/>
            </a:endParaRPr>
          </a:p>
        </p:txBody>
      </p:sp>
      <p:sp>
        <p:nvSpPr>
          <p:cNvPr id="47" name="Shape 41"/>
          <p:cNvSpPr/>
          <p:nvPr/>
        </p:nvSpPr>
        <p:spPr>
          <a:xfrm>
            <a:off x="12419112" y="5572125"/>
            <a:ext cx="1206550" cy="428625"/>
          </a:xfrm>
          <a:prstGeom prst="roundRect">
            <a:avLst>
              <a:gd name="adj" fmla="val 50000"/>
            </a:avLst>
          </a:prstGeom>
          <a:ln w="9525">
            <a:solidFill>
              <a:srgbClr val="B7AF9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8" name="Text 42"/>
          <p:cNvSpPr/>
          <p:nvPr/>
        </p:nvSpPr>
        <p:spPr>
          <a:xfrm>
            <a:off x="12600087" y="5648325"/>
            <a:ext cx="920800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85000" lnSpcReduction="10000"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8C887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retendard" pitchFamily="34" charset="-120"/>
              </a:rPr>
              <a:t>계좌 안내</a:t>
            </a:r>
            <a:endParaRPr lang="en-US" sz="1800" dirty="0">
              <a:latin typeface="맑은 고딕" panose="020B0503020000020004" pitchFamily="50" charset="-127"/>
            </a:endParaRPr>
          </a:p>
        </p:txBody>
      </p:sp>
      <p:sp>
        <p:nvSpPr>
          <p:cNvPr id="49" name="Shape 43"/>
          <p:cNvSpPr/>
          <p:nvPr/>
        </p:nvSpPr>
        <p:spPr>
          <a:xfrm>
            <a:off x="13720911" y="5572125"/>
            <a:ext cx="738039" cy="428625"/>
          </a:xfrm>
          <a:prstGeom prst="roundRect">
            <a:avLst>
              <a:gd name="adj" fmla="val 50000"/>
            </a:avLst>
          </a:prstGeom>
          <a:solidFill>
            <a:srgbClr val="D8D3C4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0" name="Text 44"/>
          <p:cNvSpPr/>
          <p:nvPr/>
        </p:nvSpPr>
        <p:spPr>
          <a:xfrm>
            <a:off x="13892361" y="5648325"/>
            <a:ext cx="471339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85000" lnSpcReduction="10000"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7C7768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retendard" pitchFamily="34" charset="-120"/>
              </a:rPr>
              <a:t>대기</a:t>
            </a:r>
            <a:endParaRPr lang="en-US" sz="1800" dirty="0">
              <a:latin typeface="맑은 고딕" panose="020B0503020000020004" pitchFamily="50" charset="-127"/>
            </a:endParaRPr>
          </a:p>
        </p:txBody>
      </p:sp>
      <p:sp>
        <p:nvSpPr>
          <p:cNvPr id="51" name="Text 4">
            <a:extLst>
              <a:ext uri="{FF2B5EF4-FFF2-40B4-BE49-F238E27FC236}">
                <a16:creationId xmlns:a16="http://schemas.microsoft.com/office/drawing/2014/main" id="{D61891D1-46EE-4D46-BE75-5B5886D5DB6E}"/>
              </a:ext>
            </a:extLst>
          </p:cNvPr>
          <p:cNvSpPr/>
          <p:nvPr/>
        </p:nvSpPr>
        <p:spPr>
          <a:xfrm>
            <a:off x="15830996" y="1238250"/>
            <a:ext cx="1561207" cy="723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800" kern="0" spc="360" dirty="0">
                <a:solidFill>
                  <a:srgbClr val="B0AA9B"/>
                </a:solidFill>
                <a:latin typeface="맑은 고딕" panose="020B0503020000020004" pitchFamily="50" charset="-127"/>
                <a:ea typeface="Microsoft YaHei" panose="020B0503020204020204" pitchFamily="34" charset="-122"/>
                <a:cs typeface="Arial" panose="020B0604020202020204" pitchFamily="34" charset="0"/>
              </a:rPr>
              <a:t>BOARDING</a:t>
            </a:r>
          </a:p>
          <a:p>
            <a:pPr marL="0" indent="0" algn="ctr">
              <a:lnSpc>
                <a:spcPct val="150000"/>
              </a:lnSpc>
              <a:buNone/>
            </a:pPr>
            <a:r>
              <a:rPr lang="en-US" sz="1800" kern="0" spc="360" dirty="0">
                <a:solidFill>
                  <a:srgbClr val="B0AA9B"/>
                </a:solidFill>
                <a:latin typeface="맑은 고딕" panose="020B0503020000020004" pitchFamily="50" charset="-127"/>
                <a:ea typeface="Microsoft YaHei" panose="020B0503020204020204" pitchFamily="34" charset="-122"/>
                <a:cs typeface="Arial" panose="020B0604020202020204" pitchFamily="34" charset="0"/>
              </a:rPr>
              <a:t>PASS</a:t>
            </a:r>
            <a:endParaRPr lang="en-US" sz="1800" dirty="0">
              <a:latin typeface="맑은 고딕" panose="020B0503020000020004" pitchFamily="50" charset="-127"/>
              <a:cs typeface="Arial" panose="020B0604020202020204" pitchFamily="34" charset="0"/>
            </a:endParaRPr>
          </a:p>
        </p:txBody>
      </p:sp>
      <p:sp>
        <p:nvSpPr>
          <p:cNvPr id="52" name="Text 5">
            <a:extLst>
              <a:ext uri="{FF2B5EF4-FFF2-40B4-BE49-F238E27FC236}">
                <a16:creationId xmlns:a16="http://schemas.microsoft.com/office/drawing/2014/main" id="{54E65CD9-E509-44C6-ABF9-386FA30E87F0}"/>
              </a:ext>
            </a:extLst>
          </p:cNvPr>
          <p:cNvSpPr/>
          <p:nvPr/>
        </p:nvSpPr>
        <p:spPr>
          <a:xfrm rot="10800000">
            <a:off x="16373475" y="3166533"/>
            <a:ext cx="552450" cy="3055822"/>
          </a:xfrm>
          <a:prstGeom prst="rect">
            <a:avLst/>
          </a:prstGeom>
          <a:noFill/>
          <a:ln/>
        </p:spPr>
        <p:txBody>
          <a:bodyPr vert="eaVert"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3150" b="1" i="1" kern="0" spc="504" dirty="0">
                <a:solidFill>
                  <a:srgbClr val="4A4A4A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Georgia" pitchFamily="34" charset="-120"/>
              </a:rPr>
              <a:t>GROUTRIP</a:t>
            </a:r>
            <a:endParaRPr lang="en-US" sz="3150" dirty="0">
              <a:latin typeface="맑은 고딕" panose="020B0503020000020004" pitchFamily="50" charset="-127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87A0B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52450" y="552450"/>
            <a:ext cx="17183100" cy="9182100"/>
          </a:xfrm>
          <a:prstGeom prst="roundRect">
            <a:avLst>
              <a:gd name="adj" fmla="val 3734"/>
            </a:avLst>
          </a:prstGeom>
          <a:solidFill>
            <a:srgbClr val="FBF8EF"/>
          </a:solidFill>
          <a:ln/>
          <a:effectLst>
            <a:outerShdw blurRad="857250" dist="381000" dir="5400000" algn="bl" rotWithShape="0">
              <a:srgbClr val="233241">
                <a:alpha val="2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15468600" y="552450"/>
            <a:ext cx="19050" cy="9182100"/>
          </a:xfrm>
          <a:prstGeom prst="rect">
            <a:avLst/>
          </a:prstGeom>
          <a:solidFill>
            <a:srgbClr val="C7BFA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15278100" y="342900"/>
            <a:ext cx="419100" cy="419100"/>
          </a:xfrm>
          <a:prstGeom prst="ellipse">
            <a:avLst/>
          </a:prstGeom>
          <a:solidFill>
            <a:srgbClr val="87A0B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15278100" y="9525000"/>
            <a:ext cx="419100" cy="419100"/>
          </a:xfrm>
          <a:prstGeom prst="ellipse">
            <a:avLst/>
          </a:prstGeom>
          <a:solidFill>
            <a:srgbClr val="87A0B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Shape 6"/>
          <p:cNvSpPr/>
          <p:nvPr/>
        </p:nvSpPr>
        <p:spPr>
          <a:xfrm>
            <a:off x="15887551" y="7943850"/>
            <a:ext cx="1447800" cy="590550"/>
          </a:xfrm>
          <a:prstGeom prst="rect">
            <a:avLst/>
          </a:prstGeom>
          <a:blipFill>
            <a:blip r:embed="rId3"/>
            <a:tile tx="0" ty="0" sx="100000" sy="100000" flip="none" algn="tl"/>
          </a:blip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9" name="Text 7"/>
          <p:cNvSpPr/>
          <p:nvPr/>
        </p:nvSpPr>
        <p:spPr>
          <a:xfrm>
            <a:off x="15796766" y="8705850"/>
            <a:ext cx="1792471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kern="0" spc="324" dirty="0">
                <a:solidFill>
                  <a:srgbClr val="B0AA9B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Space Mono" pitchFamily="34" charset="-120"/>
              </a:rPr>
              <a:t>ADMIT ONE</a:t>
            </a:r>
            <a:endParaRPr lang="en-US" sz="1800" dirty="0">
              <a:latin typeface="맑은 고딕" panose="020B0503020000020004" pitchFamily="50" charset="-127"/>
            </a:endParaRPr>
          </a:p>
        </p:txBody>
      </p:sp>
      <p:sp>
        <p:nvSpPr>
          <p:cNvPr id="10" name="Text 8"/>
          <p:cNvSpPr/>
          <p:nvPr/>
        </p:nvSpPr>
        <p:spPr>
          <a:xfrm>
            <a:off x="1352550" y="1276350"/>
            <a:ext cx="3992255" cy="4286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2550" i="1" kern="0" spc="408" dirty="0">
                <a:solidFill>
                  <a:srgbClr val="8AA6C0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Cormorant Garamond" pitchFamily="34" charset="-120"/>
              </a:rPr>
              <a:t>Realtime · SSE</a:t>
            </a:r>
            <a:endParaRPr lang="en-US" sz="2550" dirty="0">
              <a:latin typeface="맑은 고딕" panose="020B0503020000020004" pitchFamily="50" charset="-127"/>
            </a:endParaRPr>
          </a:p>
        </p:txBody>
      </p:sp>
      <p:sp>
        <p:nvSpPr>
          <p:cNvPr id="11" name="Text 9"/>
          <p:cNvSpPr/>
          <p:nvPr/>
        </p:nvSpPr>
        <p:spPr>
          <a:xfrm>
            <a:off x="1352550" y="1762125"/>
            <a:ext cx="3992255" cy="8953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85000" lnSpcReduction="10000"/>
          </a:bodyPr>
          <a:lstStyle/>
          <a:p>
            <a:pPr marL="0" indent="0" algn="l">
              <a:buNone/>
            </a:pPr>
            <a:r>
              <a:rPr lang="en-US" sz="5400" b="1" dirty="0">
                <a:solidFill>
                  <a:srgbClr val="4A4A4A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Black Han Sans" pitchFamily="34" charset="-120"/>
              </a:rPr>
              <a:t>실시간 동기화</a:t>
            </a:r>
            <a:endParaRPr lang="en-US" sz="5400" b="1" dirty="0">
              <a:latin typeface="맑은 고딕" panose="020B0503020000020004" pitchFamily="50" charset="-127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13629531" y="1276350"/>
            <a:ext cx="1134219" cy="4000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950" b="1" kern="0" spc="195" dirty="0">
                <a:solidFill>
                  <a:srgbClr val="A9A395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Space Mono" pitchFamily="34" charset="-120"/>
              </a:rPr>
              <a:t>No. 13</a:t>
            </a:r>
            <a:endParaRPr lang="en-US" sz="1950" b="1" dirty="0">
              <a:latin typeface="맑은 고딕" panose="020B0503020000020004" pitchFamily="50" charset="-127"/>
            </a:endParaRPr>
          </a:p>
        </p:txBody>
      </p:sp>
      <p:sp>
        <p:nvSpPr>
          <p:cNvPr id="13" name="Shape 11"/>
          <p:cNvSpPr/>
          <p:nvPr/>
        </p:nvSpPr>
        <p:spPr>
          <a:xfrm>
            <a:off x="1352550" y="4419600"/>
            <a:ext cx="3143250" cy="2114550"/>
          </a:xfrm>
          <a:prstGeom prst="roundRect">
            <a:avLst>
              <a:gd name="adj" fmla="val 9910"/>
            </a:avLst>
          </a:prstGeom>
          <a:solidFill>
            <a:srgbClr val="ECE9D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2"/>
          <p:cNvSpPr/>
          <p:nvPr/>
        </p:nvSpPr>
        <p:spPr>
          <a:xfrm>
            <a:off x="1657350" y="4705350"/>
            <a:ext cx="2787015" cy="3619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4A4A4A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retendard" pitchFamily="34" charset="-120"/>
              </a:rPr>
              <a:t>한 명이 변경</a:t>
            </a:r>
            <a:endParaRPr lang="en-US" sz="2100" dirty="0">
              <a:latin typeface="맑은 고딕" panose="020B0503020000020004" pitchFamily="50" charset="-127"/>
            </a:endParaRPr>
          </a:p>
        </p:txBody>
      </p:sp>
      <p:grpSp>
        <p:nvGrpSpPr>
          <p:cNvPr id="50" name="그룹 49">
            <a:extLst>
              <a:ext uri="{FF2B5EF4-FFF2-40B4-BE49-F238E27FC236}">
                <a16:creationId xmlns:a16="http://schemas.microsoft.com/office/drawing/2014/main" id="{201748BC-3108-4DD1-85D7-CF8E73A3A5BC}"/>
              </a:ext>
            </a:extLst>
          </p:cNvPr>
          <p:cNvGrpSpPr/>
          <p:nvPr/>
        </p:nvGrpSpPr>
        <p:grpSpPr>
          <a:xfrm>
            <a:off x="1657350" y="5219700"/>
            <a:ext cx="792659" cy="457200"/>
            <a:chOff x="1657350" y="5219700"/>
            <a:chExt cx="792659" cy="457200"/>
          </a:xfrm>
        </p:grpSpPr>
        <p:sp>
          <p:nvSpPr>
            <p:cNvPr id="15" name="Shape 13"/>
            <p:cNvSpPr/>
            <p:nvPr/>
          </p:nvSpPr>
          <p:spPr>
            <a:xfrm>
              <a:off x="1657350" y="5219700"/>
              <a:ext cx="792659" cy="457200"/>
            </a:xfrm>
            <a:prstGeom prst="roundRect">
              <a:avLst>
                <a:gd name="adj" fmla="val 50000"/>
              </a:avLst>
            </a:prstGeom>
            <a:solidFill>
              <a:srgbClr val="8AA6C0"/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6" name="Text 14"/>
            <p:cNvSpPr/>
            <p:nvPr/>
          </p:nvSpPr>
          <p:spPr>
            <a:xfrm>
              <a:off x="1809749" y="5285376"/>
              <a:ext cx="487859" cy="323850"/>
            </a:xfrm>
            <a:prstGeom prst="rect">
              <a:avLst/>
            </a:prstGeom>
            <a:noFill/>
            <a:ln/>
          </p:spPr>
          <p:txBody>
            <a:bodyPr wrap="square" lIns="25400" tIns="25400" rIns="25400" bIns="25400" rtlCol="0" anchor="t">
              <a:normAutofit fontScale="92500"/>
            </a:bodyPr>
            <a:lstStyle/>
            <a:p>
              <a:pPr marL="0" indent="0" algn="l">
                <a:buNone/>
              </a:pPr>
              <a:r>
                <a:rPr lang="en-US" sz="1875" b="1" dirty="0">
                  <a:solidFill>
                    <a:srgbClr val="FBF8EF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  <a:cs typeface="Pretendard" pitchFamily="34" charset="-120"/>
                </a:rPr>
                <a:t>투표</a:t>
              </a:r>
              <a:endParaRPr lang="en-US" sz="1875" dirty="0">
                <a:latin typeface="맑은 고딕" panose="020B0503020000020004" pitchFamily="50" charset="-127"/>
              </a:endParaRPr>
            </a:p>
          </p:txBody>
        </p:sp>
      </p:grpSp>
      <p:grpSp>
        <p:nvGrpSpPr>
          <p:cNvPr id="49" name="그룹 48">
            <a:extLst>
              <a:ext uri="{FF2B5EF4-FFF2-40B4-BE49-F238E27FC236}">
                <a16:creationId xmlns:a16="http://schemas.microsoft.com/office/drawing/2014/main" id="{FA6C235C-8509-470D-A1D8-225F484B9CBB}"/>
              </a:ext>
            </a:extLst>
          </p:cNvPr>
          <p:cNvGrpSpPr/>
          <p:nvPr/>
        </p:nvGrpSpPr>
        <p:grpSpPr>
          <a:xfrm>
            <a:off x="3177505" y="5205413"/>
            <a:ext cx="792659" cy="457200"/>
            <a:chOff x="2564309" y="5219700"/>
            <a:chExt cx="792659" cy="457200"/>
          </a:xfrm>
        </p:grpSpPr>
        <p:sp>
          <p:nvSpPr>
            <p:cNvPr id="17" name="Shape 15"/>
            <p:cNvSpPr/>
            <p:nvPr/>
          </p:nvSpPr>
          <p:spPr>
            <a:xfrm>
              <a:off x="2564309" y="5219700"/>
              <a:ext cx="792659" cy="457200"/>
            </a:xfrm>
            <a:prstGeom prst="roundRect">
              <a:avLst>
                <a:gd name="adj" fmla="val 50000"/>
              </a:avLst>
            </a:prstGeom>
            <a:solidFill>
              <a:srgbClr val="8AA6C0"/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8" name="Text 16"/>
            <p:cNvSpPr/>
            <p:nvPr/>
          </p:nvSpPr>
          <p:spPr>
            <a:xfrm>
              <a:off x="2716501" y="5285376"/>
              <a:ext cx="487859" cy="323850"/>
            </a:xfrm>
            <a:prstGeom prst="rect">
              <a:avLst/>
            </a:prstGeom>
            <a:noFill/>
            <a:ln/>
          </p:spPr>
          <p:txBody>
            <a:bodyPr wrap="square" lIns="25400" tIns="25400" rIns="25400" bIns="25400" rtlCol="0" anchor="t">
              <a:normAutofit fontScale="92500"/>
            </a:bodyPr>
            <a:lstStyle/>
            <a:p>
              <a:pPr marL="0" indent="0" algn="l">
                <a:buNone/>
              </a:pPr>
              <a:r>
                <a:rPr lang="en-US" sz="1875" b="1" dirty="0">
                  <a:solidFill>
                    <a:srgbClr val="FBF8EF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  <a:cs typeface="Pretendard" pitchFamily="34" charset="-120"/>
                </a:rPr>
                <a:t>일정</a:t>
              </a:r>
              <a:endParaRPr lang="en-US" sz="1875" dirty="0">
                <a:latin typeface="맑은 고딕" panose="020B0503020000020004" pitchFamily="50" charset="-127"/>
              </a:endParaRPr>
            </a:p>
          </p:txBody>
        </p:sp>
      </p:grpSp>
      <p:grpSp>
        <p:nvGrpSpPr>
          <p:cNvPr id="48" name="그룹 47">
            <a:extLst>
              <a:ext uri="{FF2B5EF4-FFF2-40B4-BE49-F238E27FC236}">
                <a16:creationId xmlns:a16="http://schemas.microsoft.com/office/drawing/2014/main" id="{A6EB3235-0576-4474-948E-D2D702765AB5}"/>
              </a:ext>
            </a:extLst>
          </p:cNvPr>
          <p:cNvGrpSpPr/>
          <p:nvPr/>
        </p:nvGrpSpPr>
        <p:grpSpPr>
          <a:xfrm>
            <a:off x="2404020" y="5791200"/>
            <a:ext cx="792659" cy="457200"/>
            <a:chOff x="1657350" y="5791200"/>
            <a:chExt cx="792659" cy="457200"/>
          </a:xfrm>
        </p:grpSpPr>
        <p:sp>
          <p:nvSpPr>
            <p:cNvPr id="19" name="Shape 17"/>
            <p:cNvSpPr/>
            <p:nvPr/>
          </p:nvSpPr>
          <p:spPr>
            <a:xfrm>
              <a:off x="1657350" y="5791200"/>
              <a:ext cx="792659" cy="457200"/>
            </a:xfrm>
            <a:prstGeom prst="roundRect">
              <a:avLst>
                <a:gd name="adj" fmla="val 50000"/>
              </a:avLst>
            </a:prstGeom>
            <a:solidFill>
              <a:srgbClr val="8AA6C0"/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0" name="Text 18"/>
            <p:cNvSpPr/>
            <p:nvPr/>
          </p:nvSpPr>
          <p:spPr>
            <a:xfrm>
              <a:off x="1807265" y="5867400"/>
              <a:ext cx="487859" cy="323850"/>
            </a:xfrm>
            <a:prstGeom prst="rect">
              <a:avLst/>
            </a:prstGeom>
            <a:noFill/>
            <a:ln/>
          </p:spPr>
          <p:txBody>
            <a:bodyPr wrap="square" lIns="25400" tIns="25400" rIns="25400" bIns="25400" rtlCol="0" anchor="t">
              <a:normAutofit fontScale="92500"/>
            </a:bodyPr>
            <a:lstStyle/>
            <a:p>
              <a:pPr marL="0" indent="0" algn="l">
                <a:buNone/>
              </a:pPr>
              <a:r>
                <a:rPr lang="en-US" sz="1875" b="1" dirty="0">
                  <a:solidFill>
                    <a:srgbClr val="FBF8EF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  <a:cs typeface="Pretendard" pitchFamily="34" charset="-120"/>
                </a:rPr>
                <a:t>정산</a:t>
              </a:r>
              <a:endParaRPr lang="en-US" sz="1875" dirty="0">
                <a:latin typeface="맑은 고딕" panose="020B0503020000020004" pitchFamily="50" charset="-127"/>
              </a:endParaRPr>
            </a:p>
          </p:txBody>
        </p:sp>
      </p:grpSp>
      <p:sp>
        <p:nvSpPr>
          <p:cNvPr id="21" name="Shape 19"/>
          <p:cNvSpPr/>
          <p:nvPr/>
        </p:nvSpPr>
        <p:spPr>
          <a:xfrm>
            <a:off x="4533900" y="5467350"/>
            <a:ext cx="2207716" cy="19050"/>
          </a:xfrm>
          <a:prstGeom prst="rect">
            <a:avLst/>
          </a:prstGeom>
          <a:solidFill>
            <a:srgbClr val="C7BFA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2" name="Shape 20"/>
          <p:cNvSpPr/>
          <p:nvPr/>
        </p:nvSpPr>
        <p:spPr>
          <a:xfrm>
            <a:off x="6779716" y="4738688"/>
            <a:ext cx="2469803" cy="1476375"/>
          </a:xfrm>
          <a:prstGeom prst="roundRect">
            <a:avLst>
              <a:gd name="adj" fmla="val 14194"/>
            </a:avLst>
          </a:prstGeom>
          <a:solidFill>
            <a:srgbClr val="3E3C38"/>
          </a:solidFill>
          <a:ln/>
          <a:effectLst>
            <a:outerShdw blurRad="101600" dist="50800" dir="16200000" algn="bl" rotWithShape="0">
              <a:srgbClr val="8AA6C0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3" name="Shape 21"/>
          <p:cNvSpPr/>
          <p:nvPr/>
        </p:nvSpPr>
        <p:spPr>
          <a:xfrm>
            <a:off x="7514481" y="5200650"/>
            <a:ext cx="133350" cy="133350"/>
          </a:xfrm>
          <a:prstGeom prst="ellipse">
            <a:avLst/>
          </a:prstGeom>
          <a:solidFill>
            <a:srgbClr val="8AA6C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4" name="Text 22"/>
          <p:cNvSpPr/>
          <p:nvPr/>
        </p:nvSpPr>
        <p:spPr>
          <a:xfrm>
            <a:off x="7704981" y="5005388"/>
            <a:ext cx="847874" cy="5619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ctr">
              <a:buNone/>
            </a:pPr>
            <a:r>
              <a:rPr lang="en-US" sz="3450" b="1" i="1" dirty="0">
                <a:solidFill>
                  <a:srgbClr val="F3F0E6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Bitter" pitchFamily="34" charset="-120"/>
              </a:rPr>
              <a:t>SSE</a:t>
            </a:r>
            <a:endParaRPr lang="en-US" sz="3450" dirty="0">
              <a:latin typeface="맑은 고딕" panose="020B0503020000020004" pitchFamily="50" charset="-127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6970551" y="5605463"/>
            <a:ext cx="2088133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buNone/>
            </a:pPr>
            <a:r>
              <a:rPr lang="en-US" sz="1800" kern="0" spc="144" dirty="0">
                <a:solidFill>
                  <a:srgbClr val="9A968C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Space Mono" pitchFamily="34" charset="-120"/>
              </a:rPr>
              <a:t>EVENT STREAM</a:t>
            </a:r>
            <a:endParaRPr lang="en-US" sz="1800" dirty="0">
              <a:latin typeface="맑은 고딕" panose="020B0503020000020004" pitchFamily="50" charset="-127"/>
            </a:endParaRPr>
          </a:p>
        </p:txBody>
      </p:sp>
      <p:sp>
        <p:nvSpPr>
          <p:cNvPr id="26" name="Shape 24"/>
          <p:cNvSpPr/>
          <p:nvPr/>
        </p:nvSpPr>
        <p:spPr>
          <a:xfrm>
            <a:off x="9287619" y="5467350"/>
            <a:ext cx="2207865" cy="19050"/>
          </a:xfrm>
          <a:prstGeom prst="rect">
            <a:avLst/>
          </a:prstGeom>
          <a:solidFill>
            <a:srgbClr val="C7BFA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7" name="Shape 25"/>
          <p:cNvSpPr/>
          <p:nvPr/>
        </p:nvSpPr>
        <p:spPr>
          <a:xfrm>
            <a:off x="11533584" y="4200525"/>
            <a:ext cx="3153966" cy="762000"/>
          </a:xfrm>
          <a:prstGeom prst="roundRect">
            <a:avLst>
              <a:gd name="adj" fmla="val 20000"/>
            </a:avLst>
          </a:prstGeom>
          <a:solidFill>
            <a:srgbClr val="E4EA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8" name="Shape 26"/>
          <p:cNvSpPr/>
          <p:nvPr/>
        </p:nvSpPr>
        <p:spPr>
          <a:xfrm>
            <a:off x="11762184" y="4371975"/>
            <a:ext cx="419100" cy="419100"/>
          </a:xfrm>
          <a:prstGeom prst="ellipse">
            <a:avLst/>
          </a:prstGeom>
          <a:solidFill>
            <a:srgbClr val="8AA6C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9" name="Text 27"/>
          <p:cNvSpPr/>
          <p:nvPr/>
        </p:nvSpPr>
        <p:spPr>
          <a:xfrm>
            <a:off x="11724084" y="4371975"/>
            <a:ext cx="495300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ko-KR" altLang="en-US" b="1" dirty="0">
                <a:solidFill>
                  <a:srgbClr val="FBF8EF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retendard" pitchFamily="34" charset="-120"/>
              </a:rPr>
              <a:t>김</a:t>
            </a:r>
            <a:endParaRPr lang="en-US" sz="1800" dirty="0">
              <a:latin typeface="맑은 고딕" panose="020B0503020000020004" pitchFamily="50" charset="-127"/>
            </a:endParaRPr>
          </a:p>
        </p:txBody>
      </p:sp>
      <p:sp>
        <p:nvSpPr>
          <p:cNvPr id="30" name="Text 28"/>
          <p:cNvSpPr/>
          <p:nvPr/>
        </p:nvSpPr>
        <p:spPr>
          <a:xfrm>
            <a:off x="12333684" y="4433888"/>
            <a:ext cx="718393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85000" lnSpcReduction="10000"/>
          </a:bodyPr>
          <a:lstStyle/>
          <a:p>
            <a:pPr marL="0" indent="0" algn="l">
              <a:buNone/>
            </a:pPr>
            <a:r>
              <a:rPr lang="en-US" sz="1950" b="1" dirty="0">
                <a:solidFill>
                  <a:srgbClr val="4A4A4A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retendard" pitchFamily="34" charset="-120"/>
              </a:rPr>
              <a:t>김민준</a:t>
            </a:r>
            <a:endParaRPr lang="en-US" sz="1950" dirty="0">
              <a:latin typeface="맑은 고딕" panose="020B0503020000020004" pitchFamily="50" charset="-127"/>
            </a:endParaRPr>
          </a:p>
        </p:txBody>
      </p:sp>
      <p:sp>
        <p:nvSpPr>
          <p:cNvPr id="31" name="Text 29"/>
          <p:cNvSpPr/>
          <p:nvPr/>
        </p:nvSpPr>
        <p:spPr>
          <a:xfrm>
            <a:off x="13609290" y="4443413"/>
            <a:ext cx="925860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85000" lnSpcReduction="10000"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6F9472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retendard" pitchFamily="34" charset="-120"/>
              </a:rPr>
              <a:t>● 반영됨</a:t>
            </a:r>
            <a:endParaRPr lang="en-US" sz="1800" dirty="0">
              <a:latin typeface="맑은 고딕" panose="020B0503020000020004" pitchFamily="50" charset="-127"/>
            </a:endParaRPr>
          </a:p>
        </p:txBody>
      </p:sp>
      <p:sp>
        <p:nvSpPr>
          <p:cNvPr id="32" name="Shape 30"/>
          <p:cNvSpPr/>
          <p:nvPr/>
        </p:nvSpPr>
        <p:spPr>
          <a:xfrm>
            <a:off x="11533584" y="5095875"/>
            <a:ext cx="3153966" cy="762000"/>
          </a:xfrm>
          <a:prstGeom prst="roundRect">
            <a:avLst>
              <a:gd name="adj" fmla="val 20000"/>
            </a:avLst>
          </a:prstGeom>
          <a:solidFill>
            <a:srgbClr val="E4EA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3" name="Shape 31"/>
          <p:cNvSpPr/>
          <p:nvPr/>
        </p:nvSpPr>
        <p:spPr>
          <a:xfrm>
            <a:off x="11762184" y="5267325"/>
            <a:ext cx="419100" cy="419100"/>
          </a:xfrm>
          <a:prstGeom prst="ellipse">
            <a:avLst/>
          </a:prstGeom>
          <a:solidFill>
            <a:srgbClr val="9CB0C4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4" name="Text 32"/>
          <p:cNvSpPr/>
          <p:nvPr/>
        </p:nvSpPr>
        <p:spPr>
          <a:xfrm>
            <a:off x="11724084" y="5267325"/>
            <a:ext cx="495300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ko-KR" altLang="en-US" b="1" dirty="0">
                <a:solidFill>
                  <a:srgbClr val="FBF8EF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retendard" pitchFamily="34" charset="-120"/>
              </a:rPr>
              <a:t>정</a:t>
            </a:r>
            <a:endParaRPr lang="en-US" sz="1800" dirty="0">
              <a:latin typeface="맑은 고딕" panose="020B0503020000020004" pitchFamily="50" charset="-127"/>
            </a:endParaRPr>
          </a:p>
        </p:txBody>
      </p:sp>
      <p:sp>
        <p:nvSpPr>
          <p:cNvPr id="35" name="Text 33"/>
          <p:cNvSpPr/>
          <p:nvPr/>
        </p:nvSpPr>
        <p:spPr>
          <a:xfrm>
            <a:off x="12333684" y="5329238"/>
            <a:ext cx="718393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85000" lnSpcReduction="10000"/>
          </a:bodyPr>
          <a:lstStyle/>
          <a:p>
            <a:pPr marL="0" indent="0" algn="l">
              <a:buNone/>
            </a:pPr>
            <a:r>
              <a:rPr lang="ko-KR" altLang="en-US" sz="1950" b="1" dirty="0">
                <a:solidFill>
                  <a:srgbClr val="4A4A4A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retendard" pitchFamily="34" charset="-120"/>
              </a:rPr>
              <a:t>정희성</a:t>
            </a:r>
            <a:endParaRPr lang="en-US" sz="1950" dirty="0">
              <a:latin typeface="맑은 고딕" panose="020B0503020000020004" pitchFamily="50" charset="-127"/>
            </a:endParaRPr>
          </a:p>
        </p:txBody>
      </p:sp>
      <p:sp>
        <p:nvSpPr>
          <p:cNvPr id="36" name="Text 34"/>
          <p:cNvSpPr/>
          <p:nvPr/>
        </p:nvSpPr>
        <p:spPr>
          <a:xfrm>
            <a:off x="13609290" y="5338763"/>
            <a:ext cx="925860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85000" lnSpcReduction="10000"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6F9472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retendard" pitchFamily="34" charset="-120"/>
              </a:rPr>
              <a:t>● 반영됨</a:t>
            </a:r>
            <a:endParaRPr lang="en-US" sz="1800" dirty="0">
              <a:latin typeface="맑은 고딕" panose="020B0503020000020004" pitchFamily="50" charset="-127"/>
            </a:endParaRPr>
          </a:p>
        </p:txBody>
      </p:sp>
      <p:sp>
        <p:nvSpPr>
          <p:cNvPr id="37" name="Shape 35"/>
          <p:cNvSpPr/>
          <p:nvPr/>
        </p:nvSpPr>
        <p:spPr>
          <a:xfrm>
            <a:off x="11533584" y="5991225"/>
            <a:ext cx="3153966" cy="762000"/>
          </a:xfrm>
          <a:prstGeom prst="roundRect">
            <a:avLst>
              <a:gd name="adj" fmla="val 20000"/>
            </a:avLst>
          </a:prstGeom>
          <a:solidFill>
            <a:srgbClr val="E4EA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8" name="Shape 36"/>
          <p:cNvSpPr/>
          <p:nvPr/>
        </p:nvSpPr>
        <p:spPr>
          <a:xfrm>
            <a:off x="11762184" y="6162675"/>
            <a:ext cx="419100" cy="419100"/>
          </a:xfrm>
          <a:prstGeom prst="ellipse">
            <a:avLst/>
          </a:prstGeom>
          <a:solidFill>
            <a:srgbClr val="B6A98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9" name="Text 37"/>
          <p:cNvSpPr/>
          <p:nvPr/>
        </p:nvSpPr>
        <p:spPr>
          <a:xfrm>
            <a:off x="11724084" y="6162675"/>
            <a:ext cx="495300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ko-KR" altLang="en-US" b="1" dirty="0">
                <a:solidFill>
                  <a:srgbClr val="FBF8EF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retendard" pitchFamily="34" charset="-120"/>
              </a:rPr>
              <a:t>김</a:t>
            </a:r>
            <a:endParaRPr lang="en-US" sz="1800" dirty="0">
              <a:latin typeface="맑은 고딕" panose="020B0503020000020004" pitchFamily="50" charset="-127"/>
            </a:endParaRPr>
          </a:p>
        </p:txBody>
      </p:sp>
      <p:sp>
        <p:nvSpPr>
          <p:cNvPr id="40" name="Text 38"/>
          <p:cNvSpPr/>
          <p:nvPr/>
        </p:nvSpPr>
        <p:spPr>
          <a:xfrm>
            <a:off x="12333684" y="6224588"/>
            <a:ext cx="718393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85000" lnSpcReduction="10000"/>
          </a:bodyPr>
          <a:lstStyle/>
          <a:p>
            <a:pPr marL="0" indent="0" algn="l">
              <a:buNone/>
            </a:pPr>
            <a:r>
              <a:rPr lang="ko-KR" altLang="en-US" sz="1950" b="1" dirty="0" err="1">
                <a:solidFill>
                  <a:srgbClr val="4A4A4A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retendard" pitchFamily="34" charset="-120"/>
              </a:rPr>
              <a:t>김싸피</a:t>
            </a:r>
            <a:endParaRPr lang="en-US" sz="1950" dirty="0">
              <a:latin typeface="맑은 고딕" panose="020B0503020000020004" pitchFamily="50" charset="-127"/>
            </a:endParaRPr>
          </a:p>
        </p:txBody>
      </p:sp>
      <p:sp>
        <p:nvSpPr>
          <p:cNvPr id="41" name="Text 39"/>
          <p:cNvSpPr/>
          <p:nvPr/>
        </p:nvSpPr>
        <p:spPr>
          <a:xfrm>
            <a:off x="13609290" y="6234113"/>
            <a:ext cx="925860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85000" lnSpcReduction="10000"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6F9472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retendard" pitchFamily="34" charset="-120"/>
              </a:rPr>
              <a:t>● 반영됨</a:t>
            </a:r>
            <a:endParaRPr lang="en-US" sz="1800" dirty="0">
              <a:latin typeface="맑은 고딕" panose="020B0503020000020004" pitchFamily="50" charset="-127"/>
            </a:endParaRPr>
          </a:p>
        </p:txBody>
      </p:sp>
      <p:sp>
        <p:nvSpPr>
          <p:cNvPr id="42" name="Shape 40"/>
          <p:cNvSpPr/>
          <p:nvPr/>
        </p:nvSpPr>
        <p:spPr>
          <a:xfrm>
            <a:off x="1352550" y="8334375"/>
            <a:ext cx="5511180" cy="676275"/>
          </a:xfrm>
          <a:prstGeom prst="roundRect">
            <a:avLst>
              <a:gd name="adj" fmla="val 22535"/>
            </a:avLst>
          </a:prstGeom>
          <a:solidFill>
            <a:srgbClr val="FBF8EF"/>
          </a:solidFill>
          <a:ln w="19050">
            <a:solidFill>
              <a:srgbClr val="C7BFA9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43" name="Image 0" descr="preencoded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619250" y="8539163"/>
            <a:ext cx="266700" cy="266700"/>
          </a:xfrm>
          <a:prstGeom prst="rect">
            <a:avLst/>
          </a:prstGeom>
        </p:spPr>
      </p:pic>
      <p:sp>
        <p:nvSpPr>
          <p:cNvPr id="44" name="Text 41"/>
          <p:cNvSpPr/>
          <p:nvPr/>
        </p:nvSpPr>
        <p:spPr>
          <a:xfrm>
            <a:off x="2038350" y="8524875"/>
            <a:ext cx="482538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buNone/>
            </a:pPr>
            <a:r>
              <a:rPr lang="en-US" sz="1950" b="1" dirty="0">
                <a:solidFill>
                  <a:srgbClr val="4A4A4A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retendard" pitchFamily="34" charset="-120"/>
              </a:rPr>
              <a:t>알림 </a:t>
            </a:r>
            <a:r>
              <a:rPr lang="en-US" sz="1950" dirty="0">
                <a:solidFill>
                  <a:srgbClr val="6E6A60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retendard" pitchFamily="34" charset="-120"/>
              </a:rPr>
              <a:t>· “정희성님이 DAY1 일정을 변경했어요”</a:t>
            </a:r>
            <a:endParaRPr lang="en-US" sz="1950" dirty="0">
              <a:latin typeface="맑은 고딕" panose="020B0503020000020004" pitchFamily="50" charset="-127"/>
            </a:endParaRPr>
          </a:p>
        </p:txBody>
      </p:sp>
      <p:sp>
        <p:nvSpPr>
          <p:cNvPr id="45" name="Text 4">
            <a:extLst>
              <a:ext uri="{FF2B5EF4-FFF2-40B4-BE49-F238E27FC236}">
                <a16:creationId xmlns:a16="http://schemas.microsoft.com/office/drawing/2014/main" id="{A39AE124-51F9-46D2-A9B2-B9B7D8AB3A5A}"/>
              </a:ext>
            </a:extLst>
          </p:cNvPr>
          <p:cNvSpPr/>
          <p:nvPr/>
        </p:nvSpPr>
        <p:spPr>
          <a:xfrm>
            <a:off x="15830996" y="1238250"/>
            <a:ext cx="1561207" cy="723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800" kern="0" spc="360" dirty="0">
                <a:solidFill>
                  <a:srgbClr val="B0AA9B"/>
                </a:solidFill>
                <a:latin typeface="맑은 고딕" panose="020B0503020000020004" pitchFamily="50" charset="-127"/>
                <a:ea typeface="Microsoft YaHei" panose="020B0503020204020204" pitchFamily="34" charset="-122"/>
                <a:cs typeface="Arial" panose="020B0604020202020204" pitchFamily="34" charset="0"/>
              </a:rPr>
              <a:t>BOARDING</a:t>
            </a:r>
          </a:p>
          <a:p>
            <a:pPr marL="0" indent="0" algn="ctr">
              <a:lnSpc>
                <a:spcPct val="150000"/>
              </a:lnSpc>
              <a:buNone/>
            </a:pPr>
            <a:r>
              <a:rPr lang="en-US" sz="1800" kern="0" spc="360" dirty="0">
                <a:solidFill>
                  <a:srgbClr val="B0AA9B"/>
                </a:solidFill>
                <a:latin typeface="맑은 고딕" panose="020B0503020000020004" pitchFamily="50" charset="-127"/>
                <a:ea typeface="Microsoft YaHei" panose="020B0503020204020204" pitchFamily="34" charset="-122"/>
                <a:cs typeface="Arial" panose="020B0604020202020204" pitchFamily="34" charset="0"/>
              </a:rPr>
              <a:t>PASS</a:t>
            </a:r>
            <a:endParaRPr lang="en-US" sz="1800" dirty="0">
              <a:latin typeface="맑은 고딕" panose="020B0503020000020004" pitchFamily="50" charset="-127"/>
              <a:cs typeface="Arial" panose="020B0604020202020204" pitchFamily="34" charset="0"/>
            </a:endParaRPr>
          </a:p>
        </p:txBody>
      </p:sp>
      <p:sp>
        <p:nvSpPr>
          <p:cNvPr id="46" name="Text 5">
            <a:extLst>
              <a:ext uri="{FF2B5EF4-FFF2-40B4-BE49-F238E27FC236}">
                <a16:creationId xmlns:a16="http://schemas.microsoft.com/office/drawing/2014/main" id="{922BCD2E-4E10-4702-996E-0580324E8BB8}"/>
              </a:ext>
            </a:extLst>
          </p:cNvPr>
          <p:cNvSpPr/>
          <p:nvPr/>
        </p:nvSpPr>
        <p:spPr>
          <a:xfrm rot="10800000">
            <a:off x="16373475" y="3166533"/>
            <a:ext cx="552450" cy="3055822"/>
          </a:xfrm>
          <a:prstGeom prst="rect">
            <a:avLst/>
          </a:prstGeom>
          <a:noFill/>
          <a:ln/>
        </p:spPr>
        <p:txBody>
          <a:bodyPr vert="eaVert"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3150" b="1" i="1" kern="0" spc="504" dirty="0">
                <a:solidFill>
                  <a:srgbClr val="4A4A4A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Georgia" pitchFamily="34" charset="-120"/>
              </a:rPr>
              <a:t>GROUTRIP</a:t>
            </a:r>
            <a:endParaRPr lang="en-US" sz="3150" dirty="0">
              <a:latin typeface="맑은 고딕" panose="020B0503020000020004" pitchFamily="50" charset="-127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87A0B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52450" y="552450"/>
            <a:ext cx="17183100" cy="9182100"/>
          </a:xfrm>
          <a:prstGeom prst="roundRect">
            <a:avLst>
              <a:gd name="adj" fmla="val 3734"/>
            </a:avLst>
          </a:prstGeom>
          <a:solidFill>
            <a:srgbClr val="FBF8EF"/>
          </a:solidFill>
          <a:ln/>
          <a:effectLst>
            <a:outerShdw blurRad="857250" dist="381000" dir="5400000" algn="bl" rotWithShape="0">
              <a:srgbClr val="233241">
                <a:alpha val="2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15468600" y="552450"/>
            <a:ext cx="19050" cy="9182100"/>
          </a:xfrm>
          <a:prstGeom prst="rect">
            <a:avLst/>
          </a:prstGeom>
          <a:solidFill>
            <a:srgbClr val="C7BFA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15278100" y="342900"/>
            <a:ext cx="419100" cy="419100"/>
          </a:xfrm>
          <a:prstGeom prst="ellipse">
            <a:avLst/>
          </a:prstGeom>
          <a:solidFill>
            <a:srgbClr val="87A0B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15278100" y="9525000"/>
            <a:ext cx="419100" cy="419100"/>
          </a:xfrm>
          <a:prstGeom prst="ellipse">
            <a:avLst/>
          </a:prstGeom>
          <a:solidFill>
            <a:srgbClr val="87A0B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Shape 6"/>
          <p:cNvSpPr/>
          <p:nvPr/>
        </p:nvSpPr>
        <p:spPr>
          <a:xfrm>
            <a:off x="15887551" y="7943850"/>
            <a:ext cx="1447800" cy="590550"/>
          </a:xfrm>
          <a:prstGeom prst="rect">
            <a:avLst/>
          </a:prstGeom>
          <a:blipFill>
            <a:blip r:embed="rId3"/>
            <a:tile tx="0" ty="0" sx="100000" sy="100000" flip="none" algn="tl"/>
          </a:blip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9" name="Text 7"/>
          <p:cNvSpPr/>
          <p:nvPr/>
        </p:nvSpPr>
        <p:spPr>
          <a:xfrm>
            <a:off x="15796766" y="8705850"/>
            <a:ext cx="1792471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kern="0" spc="324" dirty="0">
                <a:solidFill>
                  <a:srgbClr val="B0AA9B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Space Mono" pitchFamily="34" charset="-120"/>
              </a:rPr>
              <a:t>ADMIT ONE</a:t>
            </a:r>
            <a:endParaRPr lang="en-US" sz="1800" dirty="0">
              <a:latin typeface="맑은 고딕" panose="020B0503020000020004" pitchFamily="50" charset="-127"/>
            </a:endParaRPr>
          </a:p>
        </p:txBody>
      </p:sp>
      <p:sp>
        <p:nvSpPr>
          <p:cNvPr id="10" name="Text 8"/>
          <p:cNvSpPr/>
          <p:nvPr/>
        </p:nvSpPr>
        <p:spPr>
          <a:xfrm>
            <a:off x="1352550" y="1276350"/>
            <a:ext cx="6975887" cy="4286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2550" i="1" kern="0" spc="408" dirty="0">
                <a:solidFill>
                  <a:srgbClr val="8AA6C0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Cormorant Garamond" pitchFamily="34" charset="-120"/>
              </a:rPr>
              <a:t>Architecture</a:t>
            </a:r>
            <a:endParaRPr lang="en-US" sz="2550" dirty="0">
              <a:latin typeface="맑은 고딕" panose="020B0503020000020004" pitchFamily="50" charset="-127"/>
            </a:endParaRPr>
          </a:p>
        </p:txBody>
      </p:sp>
      <p:sp>
        <p:nvSpPr>
          <p:cNvPr id="11" name="Text 9"/>
          <p:cNvSpPr/>
          <p:nvPr/>
        </p:nvSpPr>
        <p:spPr>
          <a:xfrm>
            <a:off x="1352550" y="1762125"/>
            <a:ext cx="6975887" cy="8953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85000" lnSpcReduction="10000"/>
          </a:bodyPr>
          <a:lstStyle/>
          <a:p>
            <a:pPr marL="0" indent="0" algn="l">
              <a:buNone/>
            </a:pPr>
            <a:r>
              <a:rPr lang="en-US" sz="5400" b="1" dirty="0">
                <a:solidFill>
                  <a:srgbClr val="4A4A4A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Black Han Sans" pitchFamily="34" charset="-120"/>
              </a:rPr>
              <a:t>시스템 구조와 외부 연동</a:t>
            </a:r>
            <a:endParaRPr lang="en-US" sz="5400" b="1" dirty="0">
              <a:latin typeface="맑은 고딕" panose="020B0503020000020004" pitchFamily="50" charset="-127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13629531" y="1276350"/>
            <a:ext cx="1134219" cy="4000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950" b="1" kern="0" spc="195" dirty="0">
                <a:solidFill>
                  <a:srgbClr val="A9A395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Space Mono" pitchFamily="34" charset="-120"/>
              </a:rPr>
              <a:t>No. 14</a:t>
            </a:r>
            <a:endParaRPr lang="en-US" sz="1950" b="1" dirty="0">
              <a:latin typeface="맑은 고딕" panose="020B0503020000020004" pitchFamily="50" charset="-127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1352550" y="3252788"/>
            <a:ext cx="6082680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b="1" kern="0" spc="252" dirty="0">
                <a:solidFill>
                  <a:srgbClr val="9A9486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Space Mono" pitchFamily="34" charset="-120"/>
              </a:rPr>
              <a:t>SERVICE STACK</a:t>
            </a:r>
            <a:endParaRPr lang="en-US" sz="1800" b="1" dirty="0">
              <a:latin typeface="맑은 고딕" panose="020B0503020000020004" pitchFamily="50" charset="-127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1352550" y="3748087"/>
            <a:ext cx="5529709" cy="1162050"/>
          </a:xfrm>
          <a:prstGeom prst="roundRect">
            <a:avLst>
              <a:gd name="adj" fmla="val 13115"/>
            </a:avLst>
          </a:prstGeom>
          <a:solidFill>
            <a:srgbClr val="ECE9D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3"/>
          <p:cNvSpPr/>
          <p:nvPr/>
        </p:nvSpPr>
        <p:spPr>
          <a:xfrm>
            <a:off x="1619250" y="3957638"/>
            <a:ext cx="5495940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kern="0" spc="180" dirty="0">
                <a:solidFill>
                  <a:srgbClr val="9A9486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Space Mono" pitchFamily="34" charset="-120"/>
              </a:rPr>
              <a:t>FRONTEND</a:t>
            </a:r>
            <a:endParaRPr lang="en-US" sz="1800" dirty="0">
              <a:latin typeface="맑은 고딕" panose="020B0503020000020004" pitchFamily="50" charset="-127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1619250" y="4357688"/>
            <a:ext cx="5495940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2250" b="1" dirty="0">
                <a:solidFill>
                  <a:srgbClr val="4A4A4A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retendard" pitchFamily="34" charset="-120"/>
              </a:rPr>
              <a:t> Vue.js</a:t>
            </a:r>
            <a:endParaRPr lang="en-US" sz="2250" dirty="0">
              <a:latin typeface="맑은 고딕" panose="020B0503020000020004" pitchFamily="50" charset="-127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1076065" y="5024438"/>
            <a:ext cx="6082680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buNone/>
            </a:pPr>
            <a:r>
              <a:rPr lang="en-US" sz="1800" dirty="0">
                <a:solidFill>
                  <a:srgbClr val="A29C8C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Space Mono" pitchFamily="34" charset="-120"/>
              </a:rPr>
              <a:t>↓ REST · SSE</a:t>
            </a:r>
            <a:endParaRPr lang="en-US" sz="1800" dirty="0">
              <a:latin typeface="맑은 고딕" panose="020B0503020000020004" pitchFamily="50" charset="-127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1352550" y="5481638"/>
            <a:ext cx="5529709" cy="1162050"/>
          </a:xfrm>
          <a:prstGeom prst="roundRect">
            <a:avLst>
              <a:gd name="adj" fmla="val 13115"/>
            </a:avLst>
          </a:prstGeom>
          <a:solidFill>
            <a:srgbClr val="ECE9D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7"/>
          <p:cNvSpPr/>
          <p:nvPr/>
        </p:nvSpPr>
        <p:spPr>
          <a:xfrm>
            <a:off x="1619250" y="5691188"/>
            <a:ext cx="5495940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kern="0" spc="180" dirty="0">
                <a:solidFill>
                  <a:srgbClr val="9A9486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Space Mono" pitchFamily="34" charset="-120"/>
              </a:rPr>
              <a:t>BACKEND</a:t>
            </a:r>
            <a:endParaRPr lang="en-US" sz="1800" dirty="0">
              <a:latin typeface="맑은 고딕" panose="020B0503020000020004" pitchFamily="50" charset="-127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1619250" y="6091238"/>
            <a:ext cx="5495940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2250" b="1" dirty="0">
                <a:solidFill>
                  <a:srgbClr val="4A4A4A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retendard" pitchFamily="34" charset="-120"/>
              </a:rPr>
              <a:t>Spring Boot 4 · Java 21</a:t>
            </a:r>
            <a:endParaRPr lang="en-US" sz="2250" dirty="0">
              <a:latin typeface="맑은 고딕" panose="020B0503020000020004" pitchFamily="50" charset="-127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1076065" y="6757988"/>
            <a:ext cx="6082680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buNone/>
            </a:pPr>
            <a:r>
              <a:rPr lang="en-US" sz="1800" dirty="0">
                <a:solidFill>
                  <a:srgbClr val="A29C8C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Space Mono" pitchFamily="34" charset="-120"/>
              </a:rPr>
              <a:t>↓ JPA</a:t>
            </a:r>
            <a:endParaRPr lang="en-US" sz="1800" dirty="0">
              <a:latin typeface="맑은 고딕" panose="020B0503020000020004" pitchFamily="50" charset="-127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1352550" y="7215188"/>
            <a:ext cx="5529709" cy="1162050"/>
          </a:xfrm>
          <a:prstGeom prst="roundRect">
            <a:avLst>
              <a:gd name="adj" fmla="val 13115"/>
            </a:avLst>
          </a:prstGeom>
          <a:solidFill>
            <a:srgbClr val="ECE9D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3" name="Text 21"/>
          <p:cNvSpPr/>
          <p:nvPr/>
        </p:nvSpPr>
        <p:spPr>
          <a:xfrm>
            <a:off x="1619250" y="7424737"/>
            <a:ext cx="1758255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kern="0" spc="180" dirty="0">
                <a:solidFill>
                  <a:srgbClr val="9A9486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Space Mono" pitchFamily="34" charset="-120"/>
              </a:rPr>
              <a:t>DATABASE</a:t>
            </a:r>
            <a:endParaRPr lang="en-US" sz="1800" dirty="0">
              <a:latin typeface="맑은 고딕" panose="020B0503020000020004" pitchFamily="50" charset="-127"/>
            </a:endParaRPr>
          </a:p>
        </p:txBody>
      </p:sp>
      <p:sp>
        <p:nvSpPr>
          <p:cNvPr id="24" name="Text 22"/>
          <p:cNvSpPr/>
          <p:nvPr/>
        </p:nvSpPr>
        <p:spPr>
          <a:xfrm>
            <a:off x="1619250" y="7824787"/>
            <a:ext cx="1758255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2250" b="1" dirty="0">
                <a:solidFill>
                  <a:srgbClr val="4A4A4A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retendard" pitchFamily="34" charset="-120"/>
              </a:rPr>
              <a:t>PostgreSQL</a:t>
            </a:r>
            <a:endParaRPr lang="en-US" sz="2250" dirty="0">
              <a:latin typeface="맑은 고딕" panose="020B0503020000020004" pitchFamily="50" charset="-127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4936629" y="7624762"/>
            <a:ext cx="1846823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A29C8C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Space Mono" pitchFamily="34" charset="-120"/>
              </a:rPr>
              <a:t>Docker · EC2</a:t>
            </a:r>
            <a:endParaRPr lang="en-US" sz="1800" dirty="0">
              <a:latin typeface="맑은 고딕" panose="020B0503020000020004" pitchFamily="50" charset="-127"/>
            </a:endParaRPr>
          </a:p>
        </p:txBody>
      </p:sp>
      <p:sp>
        <p:nvSpPr>
          <p:cNvPr id="26" name="Text 24"/>
          <p:cNvSpPr/>
          <p:nvPr/>
        </p:nvSpPr>
        <p:spPr>
          <a:xfrm>
            <a:off x="7206109" y="3252788"/>
            <a:ext cx="8229585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b="1" kern="0" spc="252" dirty="0">
                <a:solidFill>
                  <a:srgbClr val="9A9486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Space Mono" pitchFamily="34" charset="-120"/>
              </a:rPr>
              <a:t>EXTERNAL INTERFACE · 역할 분리</a:t>
            </a:r>
            <a:endParaRPr lang="en-US" sz="1800" b="1" dirty="0">
              <a:latin typeface="맑은 고딕" panose="020B0503020000020004" pitchFamily="50" charset="-127"/>
            </a:endParaRPr>
          </a:p>
        </p:txBody>
      </p:sp>
      <p:sp>
        <p:nvSpPr>
          <p:cNvPr id="27" name="Shape 25"/>
          <p:cNvSpPr/>
          <p:nvPr/>
        </p:nvSpPr>
        <p:spPr>
          <a:xfrm>
            <a:off x="7206109" y="3748087"/>
            <a:ext cx="3654921" cy="1714500"/>
          </a:xfrm>
          <a:prstGeom prst="roundRect">
            <a:avLst>
              <a:gd name="adj" fmla="val 10000"/>
            </a:avLst>
          </a:prstGeom>
          <a:solidFill>
            <a:srgbClr val="E4EA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8" name="Text 26"/>
          <p:cNvSpPr/>
          <p:nvPr/>
        </p:nvSpPr>
        <p:spPr>
          <a:xfrm>
            <a:off x="7472809" y="3995738"/>
            <a:ext cx="3433673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b="1" kern="0" spc="108" dirty="0">
                <a:solidFill>
                  <a:srgbClr val="7E97B3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Space Mono" pitchFamily="34" charset="-120"/>
              </a:rPr>
              <a:t>GOOGLE PLACES</a:t>
            </a:r>
            <a:endParaRPr lang="en-US" sz="1800" b="1" dirty="0">
              <a:latin typeface="맑은 고딕" panose="020B0503020000020004" pitchFamily="50" charset="-127"/>
            </a:endParaRPr>
          </a:p>
        </p:txBody>
      </p:sp>
      <p:sp>
        <p:nvSpPr>
          <p:cNvPr id="29" name="Text 27"/>
          <p:cNvSpPr/>
          <p:nvPr/>
        </p:nvSpPr>
        <p:spPr>
          <a:xfrm>
            <a:off x="7472809" y="4364158"/>
            <a:ext cx="3433673" cy="4000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b="1" dirty="0">
                <a:solidFill>
                  <a:srgbClr val="4A4A4A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Black Han Sans" pitchFamily="34" charset="-120"/>
              </a:rPr>
              <a:t>장소 검색</a:t>
            </a:r>
            <a:endParaRPr lang="en-US" b="1" dirty="0">
              <a:latin typeface="맑은 고딕" panose="020B0503020000020004" pitchFamily="50" charset="-127"/>
            </a:endParaRPr>
          </a:p>
        </p:txBody>
      </p:sp>
      <p:sp>
        <p:nvSpPr>
          <p:cNvPr id="30" name="Text 28"/>
          <p:cNvSpPr/>
          <p:nvPr/>
        </p:nvSpPr>
        <p:spPr>
          <a:xfrm>
            <a:off x="7472809" y="4872038"/>
            <a:ext cx="3433673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6E6A60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retendard" pitchFamily="34" charset="-120"/>
              </a:rPr>
              <a:t>장소 정보·사진 단일 소스</a:t>
            </a:r>
            <a:endParaRPr lang="en-US" sz="1800" dirty="0">
              <a:latin typeface="맑은 고딕" panose="020B0503020000020004" pitchFamily="50" charset="-127"/>
            </a:endParaRPr>
          </a:p>
        </p:txBody>
      </p:sp>
      <p:sp>
        <p:nvSpPr>
          <p:cNvPr id="31" name="Shape 29"/>
          <p:cNvSpPr/>
          <p:nvPr/>
        </p:nvSpPr>
        <p:spPr>
          <a:xfrm>
            <a:off x="11032480" y="3748087"/>
            <a:ext cx="3655070" cy="1714500"/>
          </a:xfrm>
          <a:prstGeom prst="roundRect">
            <a:avLst>
              <a:gd name="adj" fmla="val 10000"/>
            </a:avLst>
          </a:prstGeom>
          <a:solidFill>
            <a:srgbClr val="E4EA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2" name="Text 30"/>
          <p:cNvSpPr/>
          <p:nvPr/>
        </p:nvSpPr>
        <p:spPr>
          <a:xfrm>
            <a:off x="11299180" y="3995738"/>
            <a:ext cx="3433837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b="1" kern="0" spc="108" dirty="0">
                <a:solidFill>
                  <a:srgbClr val="7E97B3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Space Mono" pitchFamily="34" charset="-120"/>
              </a:rPr>
              <a:t>KAKAO</a:t>
            </a:r>
            <a:endParaRPr lang="en-US" sz="1800" b="1" dirty="0">
              <a:latin typeface="맑은 고딕" panose="020B0503020000020004" pitchFamily="50" charset="-127"/>
            </a:endParaRPr>
          </a:p>
        </p:txBody>
      </p:sp>
      <p:sp>
        <p:nvSpPr>
          <p:cNvPr id="33" name="Text 31"/>
          <p:cNvSpPr/>
          <p:nvPr/>
        </p:nvSpPr>
        <p:spPr>
          <a:xfrm>
            <a:off x="11299180" y="4364158"/>
            <a:ext cx="3433837" cy="4667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b="1" dirty="0">
                <a:solidFill>
                  <a:srgbClr val="4A4A4A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Black Han Sans" pitchFamily="34" charset="-120"/>
              </a:rPr>
              <a:t>이동·지도</a:t>
            </a:r>
            <a:endParaRPr lang="en-US" b="1" dirty="0">
              <a:latin typeface="맑은 고딕" panose="020B0503020000020004" pitchFamily="50" charset="-127"/>
            </a:endParaRPr>
          </a:p>
        </p:txBody>
      </p:sp>
      <p:sp>
        <p:nvSpPr>
          <p:cNvPr id="34" name="Text 32"/>
          <p:cNvSpPr/>
          <p:nvPr/>
        </p:nvSpPr>
        <p:spPr>
          <a:xfrm>
            <a:off x="11299180" y="4938713"/>
            <a:ext cx="3433837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6E6A60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retendard" pitchFamily="34" charset="-120"/>
              </a:rPr>
              <a:t>이동시간·비용·핀 지도</a:t>
            </a:r>
            <a:endParaRPr lang="en-US" sz="1800" dirty="0">
              <a:latin typeface="맑은 고딕" panose="020B0503020000020004" pitchFamily="50" charset="-127"/>
            </a:endParaRPr>
          </a:p>
        </p:txBody>
      </p:sp>
      <p:sp>
        <p:nvSpPr>
          <p:cNvPr id="35" name="Shape 33"/>
          <p:cNvSpPr/>
          <p:nvPr/>
        </p:nvSpPr>
        <p:spPr>
          <a:xfrm>
            <a:off x="7206109" y="5634038"/>
            <a:ext cx="3654921" cy="1647825"/>
          </a:xfrm>
          <a:prstGeom prst="roundRect">
            <a:avLst>
              <a:gd name="adj" fmla="val 10405"/>
            </a:avLst>
          </a:prstGeom>
          <a:solidFill>
            <a:srgbClr val="E4EA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6" name="Text 34"/>
          <p:cNvSpPr/>
          <p:nvPr/>
        </p:nvSpPr>
        <p:spPr>
          <a:xfrm>
            <a:off x="7472809" y="5881688"/>
            <a:ext cx="3433673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b="1" kern="0" spc="108" dirty="0">
                <a:solidFill>
                  <a:srgbClr val="7E97B3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Space Mono" pitchFamily="34" charset="-120"/>
              </a:rPr>
              <a:t>TOURAPI</a:t>
            </a:r>
            <a:endParaRPr lang="en-US" sz="1800" b="1" dirty="0">
              <a:latin typeface="맑은 고딕" panose="020B0503020000020004" pitchFamily="50" charset="-127"/>
            </a:endParaRPr>
          </a:p>
        </p:txBody>
      </p:sp>
      <p:sp>
        <p:nvSpPr>
          <p:cNvPr id="37" name="Text 35"/>
          <p:cNvSpPr/>
          <p:nvPr/>
        </p:nvSpPr>
        <p:spPr>
          <a:xfrm>
            <a:off x="7472809" y="6250108"/>
            <a:ext cx="3433673" cy="4000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b="1" dirty="0">
                <a:solidFill>
                  <a:srgbClr val="4A4A4A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Black Han Sans" pitchFamily="34" charset="-120"/>
              </a:rPr>
              <a:t>국내 추천</a:t>
            </a:r>
            <a:endParaRPr lang="en-US" b="1" dirty="0">
              <a:latin typeface="맑은 고딕" panose="020B0503020000020004" pitchFamily="50" charset="-127"/>
            </a:endParaRPr>
          </a:p>
        </p:txBody>
      </p:sp>
      <p:sp>
        <p:nvSpPr>
          <p:cNvPr id="38" name="Text 36"/>
          <p:cNvSpPr/>
          <p:nvPr/>
        </p:nvSpPr>
        <p:spPr>
          <a:xfrm>
            <a:off x="7472809" y="6757988"/>
            <a:ext cx="3433673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6E6A60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retendard" pitchFamily="34" charset="-120"/>
              </a:rPr>
              <a:t>관광지·테마 추천</a:t>
            </a:r>
            <a:endParaRPr lang="en-US" sz="1800" dirty="0">
              <a:latin typeface="맑은 고딕" panose="020B0503020000020004" pitchFamily="50" charset="-127"/>
            </a:endParaRPr>
          </a:p>
        </p:txBody>
      </p:sp>
      <p:sp>
        <p:nvSpPr>
          <p:cNvPr id="39" name="Shape 37"/>
          <p:cNvSpPr/>
          <p:nvPr/>
        </p:nvSpPr>
        <p:spPr>
          <a:xfrm>
            <a:off x="11032480" y="5634038"/>
            <a:ext cx="3655070" cy="1647825"/>
          </a:xfrm>
          <a:prstGeom prst="roundRect">
            <a:avLst>
              <a:gd name="adj" fmla="val 10405"/>
            </a:avLst>
          </a:prstGeom>
          <a:solidFill>
            <a:srgbClr val="E4EA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0" name="Text 38"/>
          <p:cNvSpPr/>
          <p:nvPr/>
        </p:nvSpPr>
        <p:spPr>
          <a:xfrm>
            <a:off x="11299180" y="5881688"/>
            <a:ext cx="3433837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b="1" kern="0" spc="108" dirty="0">
                <a:solidFill>
                  <a:srgbClr val="7E97B3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Space Mono" pitchFamily="34" charset="-120"/>
              </a:rPr>
              <a:t>GEMINI</a:t>
            </a:r>
            <a:endParaRPr lang="en-US" sz="1800" b="1" dirty="0">
              <a:latin typeface="맑은 고딕" panose="020B0503020000020004" pitchFamily="50" charset="-127"/>
            </a:endParaRPr>
          </a:p>
        </p:txBody>
      </p:sp>
      <p:sp>
        <p:nvSpPr>
          <p:cNvPr id="41" name="Text 39"/>
          <p:cNvSpPr/>
          <p:nvPr/>
        </p:nvSpPr>
        <p:spPr>
          <a:xfrm>
            <a:off x="11299180" y="6250108"/>
            <a:ext cx="3433837" cy="4000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b="1" dirty="0">
                <a:solidFill>
                  <a:srgbClr val="4A4A4A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Black Han Sans" pitchFamily="34" charset="-120"/>
              </a:rPr>
              <a:t>리뷰 요약</a:t>
            </a:r>
            <a:endParaRPr lang="en-US" b="1" dirty="0">
              <a:latin typeface="맑은 고딕" panose="020B0503020000020004" pitchFamily="50" charset="-127"/>
            </a:endParaRPr>
          </a:p>
        </p:txBody>
      </p:sp>
      <p:sp>
        <p:nvSpPr>
          <p:cNvPr id="42" name="Text 40"/>
          <p:cNvSpPr/>
          <p:nvPr/>
        </p:nvSpPr>
        <p:spPr>
          <a:xfrm>
            <a:off x="11299180" y="6757988"/>
            <a:ext cx="3433837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6E6A60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retendard" pitchFamily="34" charset="-120"/>
              </a:rPr>
              <a:t>많은 리뷰를 3줄로</a:t>
            </a:r>
            <a:endParaRPr lang="en-US" sz="1800" dirty="0">
              <a:latin typeface="맑은 고딕" panose="020B0503020000020004" pitchFamily="50" charset="-127"/>
            </a:endParaRPr>
          </a:p>
        </p:txBody>
      </p:sp>
      <p:sp>
        <p:nvSpPr>
          <p:cNvPr id="43" name="Text 4">
            <a:extLst>
              <a:ext uri="{FF2B5EF4-FFF2-40B4-BE49-F238E27FC236}">
                <a16:creationId xmlns:a16="http://schemas.microsoft.com/office/drawing/2014/main" id="{A4080DEF-FF25-425B-8FAC-7D0D2A00792A}"/>
              </a:ext>
            </a:extLst>
          </p:cNvPr>
          <p:cNvSpPr/>
          <p:nvPr/>
        </p:nvSpPr>
        <p:spPr>
          <a:xfrm>
            <a:off x="15830996" y="1238250"/>
            <a:ext cx="1561207" cy="723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800" kern="0" spc="360" dirty="0">
                <a:solidFill>
                  <a:srgbClr val="B0AA9B"/>
                </a:solidFill>
                <a:latin typeface="맑은 고딕" panose="020B0503020000020004" pitchFamily="50" charset="-127"/>
                <a:ea typeface="Microsoft YaHei" panose="020B0503020204020204" pitchFamily="34" charset="-122"/>
                <a:cs typeface="Arial" panose="020B0604020202020204" pitchFamily="34" charset="0"/>
              </a:rPr>
              <a:t>BOARDING</a:t>
            </a:r>
          </a:p>
          <a:p>
            <a:pPr marL="0" indent="0" algn="ctr">
              <a:lnSpc>
                <a:spcPct val="150000"/>
              </a:lnSpc>
              <a:buNone/>
            </a:pPr>
            <a:r>
              <a:rPr lang="en-US" sz="1800" kern="0" spc="360" dirty="0">
                <a:solidFill>
                  <a:srgbClr val="B0AA9B"/>
                </a:solidFill>
                <a:latin typeface="맑은 고딕" panose="020B0503020000020004" pitchFamily="50" charset="-127"/>
                <a:ea typeface="Microsoft YaHei" panose="020B0503020204020204" pitchFamily="34" charset="-122"/>
                <a:cs typeface="Arial" panose="020B0604020202020204" pitchFamily="34" charset="0"/>
              </a:rPr>
              <a:t>PASS</a:t>
            </a:r>
            <a:endParaRPr lang="en-US" sz="1800" dirty="0">
              <a:latin typeface="맑은 고딕" panose="020B0503020000020004" pitchFamily="50" charset="-127"/>
              <a:cs typeface="Arial" panose="020B0604020202020204" pitchFamily="34" charset="0"/>
            </a:endParaRPr>
          </a:p>
        </p:txBody>
      </p:sp>
      <p:sp>
        <p:nvSpPr>
          <p:cNvPr id="44" name="Text 5">
            <a:extLst>
              <a:ext uri="{FF2B5EF4-FFF2-40B4-BE49-F238E27FC236}">
                <a16:creationId xmlns:a16="http://schemas.microsoft.com/office/drawing/2014/main" id="{81222261-1087-4784-A78E-2CE4AD383333}"/>
              </a:ext>
            </a:extLst>
          </p:cNvPr>
          <p:cNvSpPr/>
          <p:nvPr/>
        </p:nvSpPr>
        <p:spPr>
          <a:xfrm rot="10800000">
            <a:off x="16373475" y="3166533"/>
            <a:ext cx="552450" cy="3055822"/>
          </a:xfrm>
          <a:prstGeom prst="rect">
            <a:avLst/>
          </a:prstGeom>
          <a:noFill/>
          <a:ln/>
        </p:spPr>
        <p:txBody>
          <a:bodyPr vert="eaVert"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3150" b="1" i="1" kern="0" spc="504" dirty="0">
                <a:solidFill>
                  <a:srgbClr val="4A4A4A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Georgia" pitchFamily="34" charset="-120"/>
              </a:rPr>
              <a:t>GROUTRIP</a:t>
            </a:r>
            <a:endParaRPr lang="en-US" sz="3150" dirty="0">
              <a:latin typeface="맑은 고딕" panose="020B0503020000020004" pitchFamily="50" charset="-127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87A0B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52450" y="552450"/>
            <a:ext cx="17183100" cy="9182100"/>
          </a:xfrm>
          <a:prstGeom prst="roundRect">
            <a:avLst>
              <a:gd name="adj" fmla="val 3734"/>
            </a:avLst>
          </a:prstGeom>
          <a:solidFill>
            <a:srgbClr val="FBF8EF"/>
          </a:solidFill>
          <a:ln/>
          <a:effectLst>
            <a:outerShdw blurRad="857250" dist="381000" dir="5400000" algn="bl" rotWithShape="0">
              <a:srgbClr val="233241">
                <a:alpha val="2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15468600" y="552450"/>
            <a:ext cx="19050" cy="9182100"/>
          </a:xfrm>
          <a:prstGeom prst="rect">
            <a:avLst/>
          </a:prstGeom>
          <a:solidFill>
            <a:srgbClr val="C7BFA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15278100" y="342900"/>
            <a:ext cx="419100" cy="419100"/>
          </a:xfrm>
          <a:prstGeom prst="ellipse">
            <a:avLst/>
          </a:prstGeom>
          <a:solidFill>
            <a:srgbClr val="87A0B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15278100" y="9525000"/>
            <a:ext cx="419100" cy="419100"/>
          </a:xfrm>
          <a:prstGeom prst="ellipse">
            <a:avLst/>
          </a:prstGeom>
          <a:solidFill>
            <a:srgbClr val="87A0B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Shape 6"/>
          <p:cNvSpPr/>
          <p:nvPr/>
        </p:nvSpPr>
        <p:spPr>
          <a:xfrm>
            <a:off x="15887551" y="7943850"/>
            <a:ext cx="1447800" cy="590550"/>
          </a:xfrm>
          <a:prstGeom prst="rect">
            <a:avLst/>
          </a:prstGeom>
          <a:blipFill>
            <a:blip r:embed="rId3"/>
            <a:tile tx="0" ty="0" sx="100000" sy="100000" flip="none" algn="tl"/>
          </a:blip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9" name="Text 7"/>
          <p:cNvSpPr/>
          <p:nvPr/>
        </p:nvSpPr>
        <p:spPr>
          <a:xfrm>
            <a:off x="15796766" y="8705850"/>
            <a:ext cx="1792471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kern="0" spc="324" dirty="0">
                <a:solidFill>
                  <a:srgbClr val="B0AA9B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Space Mono" pitchFamily="34" charset="-120"/>
              </a:rPr>
              <a:t>ADMIT ONE</a:t>
            </a:r>
            <a:endParaRPr lang="en-US" sz="1800" dirty="0">
              <a:latin typeface="맑은 고딕" panose="020B0503020000020004" pitchFamily="50" charset="-127"/>
            </a:endParaRPr>
          </a:p>
        </p:txBody>
      </p:sp>
      <p:sp>
        <p:nvSpPr>
          <p:cNvPr id="10" name="Text 8"/>
          <p:cNvSpPr/>
          <p:nvPr/>
        </p:nvSpPr>
        <p:spPr>
          <a:xfrm>
            <a:off x="1352550" y="1276350"/>
            <a:ext cx="4870400" cy="4286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2550" i="1" kern="0" spc="408" dirty="0">
                <a:solidFill>
                  <a:srgbClr val="8AA6C0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Cormorant Garamond" pitchFamily="34" charset="-120"/>
              </a:rPr>
              <a:t>Tech &amp; Security</a:t>
            </a:r>
            <a:endParaRPr lang="en-US" sz="2550" dirty="0">
              <a:latin typeface="맑은 고딕" panose="020B0503020000020004" pitchFamily="50" charset="-127"/>
            </a:endParaRPr>
          </a:p>
        </p:txBody>
      </p:sp>
      <p:sp>
        <p:nvSpPr>
          <p:cNvPr id="11" name="Text 9"/>
          <p:cNvSpPr/>
          <p:nvPr/>
        </p:nvSpPr>
        <p:spPr>
          <a:xfrm>
            <a:off x="1352550" y="1762125"/>
            <a:ext cx="4870400" cy="8953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85000" lnSpcReduction="10000"/>
          </a:bodyPr>
          <a:lstStyle/>
          <a:p>
            <a:pPr marL="0" indent="0" algn="l">
              <a:buNone/>
            </a:pPr>
            <a:r>
              <a:rPr lang="en-US" sz="5400" b="1" dirty="0">
                <a:solidFill>
                  <a:srgbClr val="4A4A4A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Black Han Sans" pitchFamily="34" charset="-120"/>
              </a:rPr>
              <a:t>기술 스택과 보안</a:t>
            </a:r>
            <a:endParaRPr lang="en-US" sz="5400" b="1" dirty="0">
              <a:latin typeface="맑은 고딕" panose="020B0503020000020004" pitchFamily="50" charset="-127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13629531" y="1276350"/>
            <a:ext cx="1134219" cy="4000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950" b="1" kern="0" spc="195" dirty="0">
                <a:solidFill>
                  <a:srgbClr val="A9A395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Space Mono" pitchFamily="34" charset="-120"/>
              </a:rPr>
              <a:t>No. 15</a:t>
            </a:r>
            <a:endParaRPr lang="en-US" sz="1950" b="1" dirty="0">
              <a:latin typeface="맑은 고딕" panose="020B0503020000020004" pitchFamily="50" charset="-127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1342931" y="3105150"/>
            <a:ext cx="2216394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b="1" kern="0" spc="216" dirty="0">
                <a:solidFill>
                  <a:srgbClr val="9A9486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Space Mono" pitchFamily="34" charset="-120"/>
              </a:rPr>
              <a:t>BACKEND</a:t>
            </a:r>
            <a:endParaRPr lang="en-US" sz="1800" b="1" dirty="0">
              <a:latin typeface="맑은 고딕" panose="020B0503020000020004" pitchFamily="50" charset="-127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3505200" y="3019425"/>
            <a:ext cx="2413695" cy="514350"/>
          </a:xfrm>
          <a:prstGeom prst="roundRect">
            <a:avLst>
              <a:gd name="adj" fmla="val 50000"/>
            </a:avLst>
          </a:prstGeom>
          <a:solidFill>
            <a:srgbClr val="ECE9DD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15" name="Image 0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57600" y="3143250"/>
            <a:ext cx="266700" cy="266700"/>
          </a:xfrm>
          <a:prstGeom prst="rect">
            <a:avLst/>
          </a:prstGeom>
        </p:spPr>
      </p:pic>
      <p:sp>
        <p:nvSpPr>
          <p:cNvPr id="16" name="Text 13"/>
          <p:cNvSpPr/>
          <p:nvPr/>
        </p:nvSpPr>
        <p:spPr>
          <a:xfrm>
            <a:off x="4029075" y="3114675"/>
            <a:ext cx="1848296" cy="3619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4A4A4A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retendard" pitchFamily="34" charset="-120"/>
              </a:rPr>
              <a:t>Spring Boot 4</a:t>
            </a:r>
            <a:endParaRPr lang="en-US" sz="2100" dirty="0">
              <a:latin typeface="맑은 고딕" panose="020B0503020000020004" pitchFamily="50" charset="-127"/>
            </a:endParaRPr>
          </a:p>
        </p:txBody>
      </p:sp>
      <p:sp>
        <p:nvSpPr>
          <p:cNvPr id="17" name="Shape 14"/>
          <p:cNvSpPr/>
          <p:nvPr/>
        </p:nvSpPr>
        <p:spPr>
          <a:xfrm>
            <a:off x="6052245" y="3019425"/>
            <a:ext cx="1653927" cy="514350"/>
          </a:xfrm>
          <a:prstGeom prst="roundRect">
            <a:avLst>
              <a:gd name="adj" fmla="val 50000"/>
            </a:avLst>
          </a:prstGeom>
          <a:solidFill>
            <a:srgbClr val="ECE9DD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18" name="Image 1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04645" y="3143250"/>
            <a:ext cx="266700" cy="266700"/>
          </a:xfrm>
          <a:prstGeom prst="rect">
            <a:avLst/>
          </a:prstGeom>
        </p:spPr>
      </p:pic>
      <p:sp>
        <p:nvSpPr>
          <p:cNvPr id="19" name="Text 15"/>
          <p:cNvSpPr/>
          <p:nvPr/>
        </p:nvSpPr>
        <p:spPr>
          <a:xfrm>
            <a:off x="6576120" y="3114675"/>
            <a:ext cx="996702" cy="3619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4A4A4A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retendard" pitchFamily="34" charset="-120"/>
              </a:rPr>
              <a:t>Java 21</a:t>
            </a:r>
            <a:endParaRPr lang="en-US" sz="2100" dirty="0">
              <a:latin typeface="맑은 고딕" panose="020B0503020000020004" pitchFamily="50" charset="-127"/>
            </a:endParaRPr>
          </a:p>
        </p:txBody>
      </p:sp>
      <p:sp>
        <p:nvSpPr>
          <p:cNvPr id="20" name="Shape 16"/>
          <p:cNvSpPr/>
          <p:nvPr/>
        </p:nvSpPr>
        <p:spPr>
          <a:xfrm>
            <a:off x="7839521" y="3019425"/>
            <a:ext cx="2712988" cy="514350"/>
          </a:xfrm>
          <a:prstGeom prst="roundRect">
            <a:avLst>
              <a:gd name="adj" fmla="val 50000"/>
            </a:avLst>
          </a:prstGeom>
          <a:solidFill>
            <a:srgbClr val="ECE9DD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21" name="Image 2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91921" y="3143250"/>
            <a:ext cx="266700" cy="266700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8363396" y="3114675"/>
            <a:ext cx="2177519" cy="3619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4A4A4A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retendard" pitchFamily="34" charset="-120"/>
              </a:rPr>
              <a:t>Spring Data JPA</a:t>
            </a:r>
            <a:endParaRPr lang="en-US" sz="2100" dirty="0">
              <a:latin typeface="맑은 고딕" panose="020B0503020000020004" pitchFamily="50" charset="-127"/>
            </a:endParaRPr>
          </a:p>
        </p:txBody>
      </p:sp>
      <p:sp>
        <p:nvSpPr>
          <p:cNvPr id="23" name="Shape 18"/>
          <p:cNvSpPr/>
          <p:nvPr/>
        </p:nvSpPr>
        <p:spPr>
          <a:xfrm>
            <a:off x="10685859" y="3019425"/>
            <a:ext cx="2201614" cy="514350"/>
          </a:xfrm>
          <a:prstGeom prst="roundRect">
            <a:avLst>
              <a:gd name="adj" fmla="val 50000"/>
            </a:avLst>
          </a:prstGeom>
          <a:solidFill>
            <a:srgbClr val="ECE9DD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24" name="Image 3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838259" y="3143250"/>
            <a:ext cx="266700" cy="266700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11209734" y="3114675"/>
            <a:ext cx="1615008" cy="3619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4A4A4A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retendard" pitchFamily="34" charset="-120"/>
              </a:rPr>
              <a:t>PostgreSQL</a:t>
            </a:r>
            <a:endParaRPr lang="en-US" sz="2100" dirty="0">
              <a:latin typeface="맑은 고딕" panose="020B0503020000020004" pitchFamily="50" charset="-127"/>
            </a:endParaRPr>
          </a:p>
        </p:txBody>
      </p:sp>
      <p:sp>
        <p:nvSpPr>
          <p:cNvPr id="26" name="Text 20"/>
          <p:cNvSpPr/>
          <p:nvPr/>
        </p:nvSpPr>
        <p:spPr>
          <a:xfrm>
            <a:off x="1342931" y="3810000"/>
            <a:ext cx="2216394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b="1" kern="0" spc="216" dirty="0">
                <a:solidFill>
                  <a:srgbClr val="9A9486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Space Mono" pitchFamily="34" charset="-120"/>
              </a:rPr>
              <a:t>FRONTEND</a:t>
            </a:r>
            <a:endParaRPr lang="en-US" sz="1800" b="1" dirty="0">
              <a:latin typeface="맑은 고딕" panose="020B0503020000020004" pitchFamily="50" charset="-127"/>
            </a:endParaRPr>
          </a:p>
        </p:txBody>
      </p:sp>
      <p:sp>
        <p:nvSpPr>
          <p:cNvPr id="27" name="Shape 21"/>
          <p:cNvSpPr/>
          <p:nvPr/>
        </p:nvSpPr>
        <p:spPr>
          <a:xfrm>
            <a:off x="3505200" y="3743325"/>
            <a:ext cx="1439317" cy="514350"/>
          </a:xfrm>
          <a:prstGeom prst="roundRect">
            <a:avLst>
              <a:gd name="adj" fmla="val 50000"/>
            </a:avLst>
          </a:prstGeom>
          <a:solidFill>
            <a:srgbClr val="ECE9D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9" name="Text 22"/>
          <p:cNvSpPr/>
          <p:nvPr/>
        </p:nvSpPr>
        <p:spPr>
          <a:xfrm>
            <a:off x="4010471" y="3829050"/>
            <a:ext cx="857846" cy="3619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4A4A4A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retendard" pitchFamily="34" charset="-120"/>
              </a:rPr>
              <a:t>Vue.js</a:t>
            </a:r>
            <a:endParaRPr lang="en-US" sz="2100" dirty="0">
              <a:latin typeface="맑은 고딕" panose="020B0503020000020004" pitchFamily="50" charset="-127"/>
            </a:endParaRPr>
          </a:p>
        </p:txBody>
      </p:sp>
      <p:sp>
        <p:nvSpPr>
          <p:cNvPr id="36" name="Text 27"/>
          <p:cNvSpPr/>
          <p:nvPr/>
        </p:nvSpPr>
        <p:spPr>
          <a:xfrm>
            <a:off x="1343025" y="4657033"/>
            <a:ext cx="2095500" cy="34428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b="1" kern="0" spc="216" dirty="0">
                <a:solidFill>
                  <a:srgbClr val="9A9486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Space Mono" pitchFamily="34" charset="-120"/>
              </a:rPr>
              <a:t>INFRA · DATA</a:t>
            </a:r>
            <a:endParaRPr lang="en-US" sz="1800" b="1" dirty="0">
              <a:latin typeface="맑은 고딕" panose="020B0503020000020004" pitchFamily="50" charset="-127"/>
            </a:endParaRPr>
          </a:p>
        </p:txBody>
      </p:sp>
      <p:sp>
        <p:nvSpPr>
          <p:cNvPr id="37" name="Shape 28"/>
          <p:cNvSpPr/>
          <p:nvPr/>
        </p:nvSpPr>
        <p:spPr>
          <a:xfrm>
            <a:off x="3505200" y="4552950"/>
            <a:ext cx="1598712" cy="514350"/>
          </a:xfrm>
          <a:prstGeom prst="roundRect">
            <a:avLst>
              <a:gd name="adj" fmla="val 50000"/>
            </a:avLst>
          </a:prstGeom>
          <a:solidFill>
            <a:srgbClr val="ECE9DD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38" name="Image 7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657600" y="4676775"/>
            <a:ext cx="266700" cy="266700"/>
          </a:xfrm>
          <a:prstGeom prst="rect">
            <a:avLst/>
          </a:prstGeom>
        </p:spPr>
      </p:pic>
      <p:sp>
        <p:nvSpPr>
          <p:cNvPr id="39" name="Text 29"/>
          <p:cNvSpPr/>
          <p:nvPr/>
        </p:nvSpPr>
        <p:spPr>
          <a:xfrm>
            <a:off x="4029075" y="4648200"/>
            <a:ext cx="941487" cy="3619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4A4A4A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retendard" pitchFamily="34" charset="-120"/>
              </a:rPr>
              <a:t>Flyway</a:t>
            </a:r>
            <a:endParaRPr lang="en-US" sz="2100" dirty="0">
              <a:latin typeface="맑은 고딕" panose="020B0503020000020004" pitchFamily="50" charset="-127"/>
            </a:endParaRPr>
          </a:p>
        </p:txBody>
      </p:sp>
      <p:sp>
        <p:nvSpPr>
          <p:cNvPr id="40" name="Shape 30"/>
          <p:cNvSpPr/>
          <p:nvPr/>
        </p:nvSpPr>
        <p:spPr>
          <a:xfrm>
            <a:off x="5237262" y="4552950"/>
            <a:ext cx="1612702" cy="514350"/>
          </a:xfrm>
          <a:prstGeom prst="roundRect">
            <a:avLst>
              <a:gd name="adj" fmla="val 50000"/>
            </a:avLst>
          </a:prstGeom>
          <a:solidFill>
            <a:srgbClr val="ECE9DD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41" name="Image 8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389662" y="4676775"/>
            <a:ext cx="266700" cy="266700"/>
          </a:xfrm>
          <a:prstGeom prst="rect">
            <a:avLst/>
          </a:prstGeom>
        </p:spPr>
      </p:pic>
      <p:sp>
        <p:nvSpPr>
          <p:cNvPr id="42" name="Text 31"/>
          <p:cNvSpPr/>
          <p:nvPr/>
        </p:nvSpPr>
        <p:spPr>
          <a:xfrm>
            <a:off x="5761137" y="4648200"/>
            <a:ext cx="955477" cy="3619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4A4A4A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retendard" pitchFamily="34" charset="-120"/>
              </a:rPr>
              <a:t>Docker</a:t>
            </a:r>
            <a:endParaRPr lang="en-US" sz="2100" dirty="0">
              <a:latin typeface="맑은 고딕" panose="020B0503020000020004" pitchFamily="50" charset="-127"/>
            </a:endParaRPr>
          </a:p>
        </p:txBody>
      </p:sp>
      <p:sp>
        <p:nvSpPr>
          <p:cNvPr id="43" name="Shape 32"/>
          <p:cNvSpPr/>
          <p:nvPr/>
        </p:nvSpPr>
        <p:spPr>
          <a:xfrm>
            <a:off x="6983313" y="4552950"/>
            <a:ext cx="1096863" cy="514350"/>
          </a:xfrm>
          <a:prstGeom prst="roundRect">
            <a:avLst>
              <a:gd name="adj" fmla="val 50000"/>
            </a:avLst>
          </a:prstGeom>
          <a:solidFill>
            <a:srgbClr val="ECE9DD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44" name="Image 9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135713" y="4676775"/>
            <a:ext cx="266700" cy="266700"/>
          </a:xfrm>
          <a:prstGeom prst="rect">
            <a:avLst/>
          </a:prstGeom>
        </p:spPr>
      </p:pic>
      <p:sp>
        <p:nvSpPr>
          <p:cNvPr id="45" name="Text 33"/>
          <p:cNvSpPr/>
          <p:nvPr/>
        </p:nvSpPr>
        <p:spPr>
          <a:xfrm>
            <a:off x="7507188" y="4648200"/>
            <a:ext cx="439638" cy="3619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4A4A4A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retendard" pitchFamily="34" charset="-120"/>
              </a:rPr>
              <a:t>Git</a:t>
            </a:r>
            <a:endParaRPr lang="en-US" sz="2100" dirty="0">
              <a:latin typeface="맑은 고딕" panose="020B0503020000020004" pitchFamily="50" charset="-127"/>
            </a:endParaRPr>
          </a:p>
        </p:txBody>
      </p:sp>
      <p:sp>
        <p:nvSpPr>
          <p:cNvPr id="46" name="Shape 34"/>
          <p:cNvSpPr/>
          <p:nvPr/>
        </p:nvSpPr>
        <p:spPr>
          <a:xfrm>
            <a:off x="1352550" y="5438775"/>
            <a:ext cx="13335000" cy="1619250"/>
          </a:xfrm>
          <a:prstGeom prst="roundRect">
            <a:avLst>
              <a:gd name="adj" fmla="val 12941"/>
            </a:avLst>
          </a:prstGeom>
          <a:solidFill>
            <a:srgbClr val="3E3C38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47" name="Image 10" descr="preencoded.png"/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695450" y="5743575"/>
            <a:ext cx="304800" cy="304800"/>
          </a:xfrm>
          <a:prstGeom prst="rect">
            <a:avLst/>
          </a:prstGeom>
        </p:spPr>
      </p:pic>
      <p:sp>
        <p:nvSpPr>
          <p:cNvPr id="48" name="Text 35"/>
          <p:cNvSpPr/>
          <p:nvPr/>
        </p:nvSpPr>
        <p:spPr>
          <a:xfrm>
            <a:off x="2152650" y="5724525"/>
            <a:ext cx="1472580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kern="0" spc="216" dirty="0">
                <a:solidFill>
                  <a:srgbClr val="9A968C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Space Mono" pitchFamily="34" charset="-120"/>
              </a:rPr>
              <a:t>SECURITY</a:t>
            </a:r>
            <a:endParaRPr lang="en-US" sz="1800" dirty="0">
              <a:latin typeface="맑은 고딕" panose="020B0503020000020004" pitchFamily="50" charset="-127"/>
            </a:endParaRPr>
          </a:p>
        </p:txBody>
      </p:sp>
      <p:sp>
        <p:nvSpPr>
          <p:cNvPr id="49" name="Shape 36"/>
          <p:cNvSpPr/>
          <p:nvPr/>
        </p:nvSpPr>
        <p:spPr>
          <a:xfrm>
            <a:off x="1695450" y="6257925"/>
            <a:ext cx="1284833" cy="514350"/>
          </a:xfrm>
          <a:prstGeom prst="roundRect">
            <a:avLst>
              <a:gd name="adj" fmla="val 50000"/>
            </a:avLst>
          </a:prstGeom>
          <a:solidFill>
            <a:srgbClr val="55525B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50" name="Image 11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847850" y="6391275"/>
            <a:ext cx="247650" cy="247650"/>
          </a:xfrm>
          <a:prstGeom prst="rect">
            <a:avLst/>
          </a:prstGeom>
        </p:spPr>
      </p:pic>
      <p:sp>
        <p:nvSpPr>
          <p:cNvPr id="51" name="Text 37"/>
          <p:cNvSpPr/>
          <p:nvPr/>
        </p:nvSpPr>
        <p:spPr>
          <a:xfrm>
            <a:off x="2200275" y="6353175"/>
            <a:ext cx="646658" cy="3619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F3F0E6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retendard" pitchFamily="34" charset="-120"/>
              </a:rPr>
              <a:t>JWT</a:t>
            </a:r>
            <a:endParaRPr lang="en-US" sz="2100" dirty="0">
              <a:latin typeface="맑은 고딕" panose="020B0503020000020004" pitchFamily="50" charset="-127"/>
            </a:endParaRPr>
          </a:p>
        </p:txBody>
      </p:sp>
      <p:sp>
        <p:nvSpPr>
          <p:cNvPr id="52" name="Shape 38"/>
          <p:cNvSpPr/>
          <p:nvPr/>
        </p:nvSpPr>
        <p:spPr>
          <a:xfrm>
            <a:off x="3113633" y="6257925"/>
            <a:ext cx="1659285" cy="514350"/>
          </a:xfrm>
          <a:prstGeom prst="roundRect">
            <a:avLst>
              <a:gd name="adj" fmla="val 50000"/>
            </a:avLst>
          </a:prstGeom>
          <a:solidFill>
            <a:srgbClr val="55525B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53" name="Image 12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266033" y="6391275"/>
            <a:ext cx="247650" cy="247650"/>
          </a:xfrm>
          <a:prstGeom prst="rect">
            <a:avLst/>
          </a:prstGeom>
        </p:spPr>
      </p:pic>
      <p:sp>
        <p:nvSpPr>
          <p:cNvPr id="54" name="Text 39"/>
          <p:cNvSpPr/>
          <p:nvPr/>
        </p:nvSpPr>
        <p:spPr>
          <a:xfrm>
            <a:off x="3618458" y="6353175"/>
            <a:ext cx="1021110" cy="3619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F3F0E6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retendard" pitchFamily="34" charset="-120"/>
              </a:rPr>
              <a:t>OAuth2</a:t>
            </a:r>
            <a:endParaRPr lang="en-US" sz="2100" dirty="0">
              <a:latin typeface="맑은 고딕" panose="020B0503020000020004" pitchFamily="50" charset="-127"/>
            </a:endParaRPr>
          </a:p>
        </p:txBody>
      </p:sp>
      <p:sp>
        <p:nvSpPr>
          <p:cNvPr id="55" name="Shape 40"/>
          <p:cNvSpPr/>
          <p:nvPr/>
        </p:nvSpPr>
        <p:spPr>
          <a:xfrm>
            <a:off x="4906268" y="6257925"/>
            <a:ext cx="1777901" cy="514350"/>
          </a:xfrm>
          <a:prstGeom prst="roundRect">
            <a:avLst>
              <a:gd name="adj" fmla="val 50000"/>
            </a:avLst>
          </a:prstGeom>
          <a:solidFill>
            <a:srgbClr val="55525B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56" name="Image 13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5058668" y="6391275"/>
            <a:ext cx="247650" cy="247650"/>
          </a:xfrm>
          <a:prstGeom prst="rect">
            <a:avLst/>
          </a:prstGeom>
        </p:spPr>
      </p:pic>
      <p:sp>
        <p:nvSpPr>
          <p:cNvPr id="57" name="Text 41"/>
          <p:cNvSpPr/>
          <p:nvPr/>
        </p:nvSpPr>
        <p:spPr>
          <a:xfrm>
            <a:off x="5411093" y="6353175"/>
            <a:ext cx="1139726" cy="3619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F3F0E6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retendard" pitchFamily="34" charset="-120"/>
              </a:rPr>
              <a:t>권한 AOP</a:t>
            </a:r>
            <a:endParaRPr lang="en-US" sz="2100" dirty="0">
              <a:latin typeface="맑은 고딕" panose="020B0503020000020004" pitchFamily="50" charset="-127"/>
            </a:endParaRPr>
          </a:p>
        </p:txBody>
      </p:sp>
      <p:sp>
        <p:nvSpPr>
          <p:cNvPr id="58" name="Shape 42"/>
          <p:cNvSpPr/>
          <p:nvPr/>
        </p:nvSpPr>
        <p:spPr>
          <a:xfrm>
            <a:off x="6817519" y="6257925"/>
            <a:ext cx="3404890" cy="514350"/>
          </a:xfrm>
          <a:prstGeom prst="roundRect">
            <a:avLst>
              <a:gd name="adj" fmla="val 50000"/>
            </a:avLst>
          </a:prstGeom>
          <a:solidFill>
            <a:srgbClr val="8AA6C0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59" name="Image 14" descr="preencode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969919" y="6391275"/>
            <a:ext cx="247650" cy="247650"/>
          </a:xfrm>
          <a:prstGeom prst="rect">
            <a:avLst/>
          </a:prstGeom>
        </p:spPr>
      </p:pic>
      <p:sp>
        <p:nvSpPr>
          <p:cNvPr id="60" name="Text 43"/>
          <p:cNvSpPr/>
          <p:nvPr/>
        </p:nvSpPr>
        <p:spPr>
          <a:xfrm>
            <a:off x="7322344" y="6353175"/>
            <a:ext cx="2789143" cy="3619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FBF8EF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retendard" pitchFamily="34" charset="-120"/>
              </a:rPr>
              <a:t>AES-GCM 계좌 암호화</a:t>
            </a:r>
            <a:endParaRPr lang="en-US" sz="2100" dirty="0">
              <a:latin typeface="맑은 고딕" panose="020B0503020000020004" pitchFamily="50" charset="-127"/>
            </a:endParaRPr>
          </a:p>
        </p:txBody>
      </p:sp>
      <p:sp>
        <p:nvSpPr>
          <p:cNvPr id="61" name="Text 4">
            <a:extLst>
              <a:ext uri="{FF2B5EF4-FFF2-40B4-BE49-F238E27FC236}">
                <a16:creationId xmlns:a16="http://schemas.microsoft.com/office/drawing/2014/main" id="{770E91C3-B349-4365-8BC1-254C9001243B}"/>
              </a:ext>
            </a:extLst>
          </p:cNvPr>
          <p:cNvSpPr/>
          <p:nvPr/>
        </p:nvSpPr>
        <p:spPr>
          <a:xfrm>
            <a:off x="15830996" y="1238250"/>
            <a:ext cx="1561207" cy="723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800" kern="0" spc="360" dirty="0">
                <a:solidFill>
                  <a:srgbClr val="B0AA9B"/>
                </a:solidFill>
                <a:latin typeface="맑은 고딕" panose="020B0503020000020004" pitchFamily="50" charset="-127"/>
                <a:ea typeface="Microsoft YaHei" panose="020B0503020204020204" pitchFamily="34" charset="-122"/>
                <a:cs typeface="Arial" panose="020B0604020202020204" pitchFamily="34" charset="0"/>
              </a:rPr>
              <a:t>BOARDING</a:t>
            </a:r>
          </a:p>
          <a:p>
            <a:pPr marL="0" indent="0" algn="ctr">
              <a:lnSpc>
                <a:spcPct val="150000"/>
              </a:lnSpc>
              <a:buNone/>
            </a:pPr>
            <a:r>
              <a:rPr lang="en-US" sz="1800" kern="0" spc="360" dirty="0">
                <a:solidFill>
                  <a:srgbClr val="B0AA9B"/>
                </a:solidFill>
                <a:latin typeface="맑은 고딕" panose="020B0503020000020004" pitchFamily="50" charset="-127"/>
                <a:ea typeface="Microsoft YaHei" panose="020B0503020204020204" pitchFamily="34" charset="-122"/>
                <a:cs typeface="Arial" panose="020B0604020202020204" pitchFamily="34" charset="0"/>
              </a:rPr>
              <a:t>PASS</a:t>
            </a:r>
            <a:endParaRPr lang="en-US" sz="1800" dirty="0">
              <a:latin typeface="맑은 고딕" panose="020B0503020000020004" pitchFamily="50" charset="-127"/>
              <a:cs typeface="Arial" panose="020B0604020202020204" pitchFamily="34" charset="0"/>
            </a:endParaRPr>
          </a:p>
        </p:txBody>
      </p:sp>
      <p:sp>
        <p:nvSpPr>
          <p:cNvPr id="62" name="Text 5">
            <a:extLst>
              <a:ext uri="{FF2B5EF4-FFF2-40B4-BE49-F238E27FC236}">
                <a16:creationId xmlns:a16="http://schemas.microsoft.com/office/drawing/2014/main" id="{191C8E28-D64A-44C4-B11F-BCEF814CE433}"/>
              </a:ext>
            </a:extLst>
          </p:cNvPr>
          <p:cNvSpPr/>
          <p:nvPr/>
        </p:nvSpPr>
        <p:spPr>
          <a:xfrm rot="10800000">
            <a:off x="16373475" y="3166533"/>
            <a:ext cx="552450" cy="3055822"/>
          </a:xfrm>
          <a:prstGeom prst="rect">
            <a:avLst/>
          </a:prstGeom>
          <a:noFill/>
          <a:ln/>
        </p:spPr>
        <p:txBody>
          <a:bodyPr vert="eaVert"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3150" b="1" i="1" kern="0" spc="504" dirty="0">
                <a:solidFill>
                  <a:srgbClr val="4A4A4A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Georgia" pitchFamily="34" charset="-120"/>
              </a:rPr>
              <a:t>GROUTRIP</a:t>
            </a:r>
            <a:endParaRPr lang="en-US" sz="3150" dirty="0">
              <a:latin typeface="맑은 고딕" panose="020B0503020000020004" pitchFamily="50" charset="-127"/>
            </a:endParaRPr>
          </a:p>
        </p:txBody>
      </p:sp>
      <p:pic>
        <p:nvPicPr>
          <p:cNvPr id="65" name="그래픽 64">
            <a:extLst>
              <a:ext uri="{FF2B5EF4-FFF2-40B4-BE49-F238E27FC236}">
                <a16:creationId xmlns:a16="http://schemas.microsoft.com/office/drawing/2014/main" id="{FDF6D745-C766-45B8-B997-223F9619DF8F}"/>
              </a:ext>
            </a:extLst>
          </p:cNvPr>
          <p:cNvPicPr>
            <a:picLocks noChangeAspect="1"/>
          </p:cNvPicPr>
          <p:nvPr/>
        </p:nvPicPr>
        <p:blipFill>
          <a:blip r:embed="rId17"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3642594" y="3879543"/>
            <a:ext cx="311457" cy="311457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87A0B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52450" y="552450"/>
            <a:ext cx="17183100" cy="9182100"/>
          </a:xfrm>
          <a:prstGeom prst="roundRect">
            <a:avLst>
              <a:gd name="adj" fmla="val 3734"/>
            </a:avLst>
          </a:prstGeom>
          <a:solidFill>
            <a:srgbClr val="FBF8EF"/>
          </a:solidFill>
          <a:ln/>
          <a:effectLst>
            <a:outerShdw blurRad="857250" dist="381000" dir="5400000" algn="bl" rotWithShape="0">
              <a:srgbClr val="233241">
                <a:alpha val="2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15468600" y="552450"/>
            <a:ext cx="19050" cy="9182100"/>
          </a:xfrm>
          <a:prstGeom prst="rect">
            <a:avLst/>
          </a:prstGeom>
          <a:solidFill>
            <a:srgbClr val="C7BFA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15278100" y="342900"/>
            <a:ext cx="419100" cy="419100"/>
          </a:xfrm>
          <a:prstGeom prst="ellipse">
            <a:avLst/>
          </a:prstGeom>
          <a:solidFill>
            <a:srgbClr val="87A0B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15278100" y="9525000"/>
            <a:ext cx="419100" cy="419100"/>
          </a:xfrm>
          <a:prstGeom prst="ellipse">
            <a:avLst/>
          </a:prstGeom>
          <a:solidFill>
            <a:srgbClr val="87A0B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1" name="Shape 9"/>
          <p:cNvSpPr/>
          <p:nvPr/>
        </p:nvSpPr>
        <p:spPr>
          <a:xfrm>
            <a:off x="15887551" y="7943850"/>
            <a:ext cx="1447800" cy="590550"/>
          </a:xfrm>
          <a:prstGeom prst="rect">
            <a:avLst/>
          </a:prstGeom>
          <a:blipFill>
            <a:blip r:embed="rId3"/>
            <a:tile tx="0" ty="0" sx="100000" sy="100000" flip="none" algn="tl"/>
          </a:blip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1"/>
          <p:cNvSpPr/>
          <p:nvPr/>
        </p:nvSpPr>
        <p:spPr>
          <a:xfrm>
            <a:off x="1352550" y="1276350"/>
            <a:ext cx="5055230" cy="4286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2550" i="1" kern="0" spc="408" dirty="0">
                <a:solidFill>
                  <a:srgbClr val="8AA6C0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Cormorant Garamond" pitchFamily="34" charset="-120"/>
              </a:rPr>
              <a:t>Retrospective</a:t>
            </a:r>
            <a:endParaRPr lang="en-US" sz="2550" dirty="0">
              <a:latin typeface="맑은 고딕" panose="020B0503020000020004" pitchFamily="50" charset="-127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1352550" y="1762125"/>
            <a:ext cx="5055230" cy="8953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85000" lnSpcReduction="10000"/>
          </a:bodyPr>
          <a:lstStyle/>
          <a:p>
            <a:pPr marL="0" indent="0" algn="l">
              <a:buNone/>
            </a:pPr>
            <a:r>
              <a:rPr lang="en-US" sz="5400" b="1" dirty="0">
                <a:solidFill>
                  <a:srgbClr val="4A4A4A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Black Han Sans" pitchFamily="34" charset="-120"/>
              </a:rPr>
              <a:t>회고 &amp; 향후 계획</a:t>
            </a:r>
            <a:endParaRPr lang="en-US" sz="5400" b="1" dirty="0">
              <a:latin typeface="맑은 고딕" panose="020B0503020000020004" pitchFamily="50" charset="-127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13629531" y="1276350"/>
            <a:ext cx="1134219" cy="4000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950" b="1" kern="0" spc="195" dirty="0">
                <a:solidFill>
                  <a:srgbClr val="A9A395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Space Mono" pitchFamily="34" charset="-120"/>
              </a:rPr>
              <a:t>No. 16</a:t>
            </a:r>
            <a:endParaRPr lang="en-US" sz="1950" b="1" dirty="0">
              <a:latin typeface="맑은 고딕" panose="020B0503020000020004" pitchFamily="50" charset="-127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1352550" y="3000375"/>
            <a:ext cx="7156133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kern="0" spc="252" dirty="0">
                <a:solidFill>
                  <a:srgbClr val="9A9486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Space Mono" pitchFamily="34" charset="-120"/>
              </a:rPr>
              <a:t>TEAM · 둘 다 풀스택</a:t>
            </a:r>
            <a:endParaRPr lang="en-US" sz="1800" dirty="0">
              <a:latin typeface="맑은 고딕" panose="020B0503020000020004" pitchFamily="50" charset="-127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1352550" y="3438525"/>
            <a:ext cx="7156133" cy="358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800" dirty="0">
                <a:solidFill>
                  <a:srgbClr val="8C887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retendard" pitchFamily="34" charset="-120"/>
              </a:rPr>
              <a:t>백엔드·프론트로 나누지 않고 </a:t>
            </a:r>
            <a:r>
              <a:rPr lang="en-US" sz="1800" b="1" dirty="0">
                <a:solidFill>
                  <a:srgbClr val="4A4A4A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retendard" pitchFamily="34" charset="-120"/>
              </a:rPr>
              <a:t>도메인 단위로 </a:t>
            </a:r>
            <a:r>
              <a:rPr lang="en-US" sz="1800" b="1" dirty="0" err="1">
                <a:solidFill>
                  <a:srgbClr val="4A4A4A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retendard" pitchFamily="34" charset="-120"/>
              </a:rPr>
              <a:t>분담</a:t>
            </a:r>
            <a:r>
              <a:rPr lang="en-US" sz="1800" dirty="0" err="1">
                <a:solidFill>
                  <a:srgbClr val="8C887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retendard" pitchFamily="34" charset="-120"/>
              </a:rPr>
              <a:t>해</a:t>
            </a:r>
            <a:r>
              <a:rPr lang="en-US" sz="1800" dirty="0">
                <a:solidFill>
                  <a:srgbClr val="8C887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retendard" pitchFamily="34" charset="-120"/>
              </a:rPr>
              <a:t> </a:t>
            </a:r>
            <a:r>
              <a:rPr lang="en-US" sz="1800" dirty="0" err="1">
                <a:solidFill>
                  <a:srgbClr val="8C887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retendard" pitchFamily="34" charset="-120"/>
              </a:rPr>
              <a:t>충돌을</a:t>
            </a:r>
            <a:r>
              <a:rPr lang="en-US" sz="1800" dirty="0">
                <a:solidFill>
                  <a:srgbClr val="8C887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retendard" pitchFamily="34" charset="-120"/>
              </a:rPr>
              <a:t> 줄</a:t>
            </a:r>
            <a:r>
              <a:rPr lang="ko-KR" altLang="en-US" sz="1800" dirty="0">
                <a:solidFill>
                  <a:srgbClr val="8C887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retendard" pitchFamily="34" charset="-120"/>
              </a:rPr>
              <a:t>임</a:t>
            </a:r>
            <a:endParaRPr lang="en-US" sz="1800" dirty="0">
              <a:latin typeface="맑은 고딕" panose="020B0503020000020004" pitchFamily="50" charset="-127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1352550" y="3929955"/>
            <a:ext cx="6505575" cy="1085850"/>
          </a:xfrm>
          <a:prstGeom prst="roundRect">
            <a:avLst>
              <a:gd name="adj" fmla="val 15789"/>
            </a:avLst>
          </a:prstGeom>
          <a:solidFill>
            <a:srgbClr val="ECE9D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9" name="Shape 17"/>
          <p:cNvSpPr/>
          <p:nvPr/>
        </p:nvSpPr>
        <p:spPr>
          <a:xfrm>
            <a:off x="1600200" y="4187130"/>
            <a:ext cx="571500" cy="571500"/>
          </a:xfrm>
          <a:prstGeom prst="ellipse">
            <a:avLst/>
          </a:prstGeom>
          <a:solidFill>
            <a:srgbClr val="8AA6C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0" name="Text 18"/>
          <p:cNvSpPr/>
          <p:nvPr/>
        </p:nvSpPr>
        <p:spPr>
          <a:xfrm>
            <a:off x="1562100" y="4187130"/>
            <a:ext cx="647700" cy="609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ko-KR" altLang="en-US" sz="2025" b="1" dirty="0">
                <a:solidFill>
                  <a:srgbClr val="FBF8EF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retendard" pitchFamily="34" charset="-120"/>
              </a:rPr>
              <a:t>김</a:t>
            </a:r>
            <a:endParaRPr lang="en-US" sz="2025" dirty="0">
              <a:latin typeface="맑은 고딕" panose="020B0503020000020004" pitchFamily="50" charset="-127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2362200" y="4139505"/>
            <a:ext cx="2594818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2250" b="1" dirty="0">
                <a:solidFill>
                  <a:srgbClr val="4A4A4A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retendard" pitchFamily="34" charset="-120"/>
              </a:rPr>
              <a:t>김민준 · Full-stack</a:t>
            </a:r>
            <a:endParaRPr lang="en-US" sz="2250" dirty="0">
              <a:latin typeface="맑은 고딕" panose="020B0503020000020004" pitchFamily="50" charset="-127"/>
            </a:endParaRPr>
          </a:p>
        </p:txBody>
      </p:sp>
      <p:sp>
        <p:nvSpPr>
          <p:cNvPr id="22" name="Text 20"/>
          <p:cNvSpPr/>
          <p:nvPr/>
        </p:nvSpPr>
        <p:spPr>
          <a:xfrm>
            <a:off x="2362200" y="4520505"/>
            <a:ext cx="2594818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700" dirty="0" err="1">
                <a:solidFill>
                  <a:srgbClr val="6E6A60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retendard" pitchFamily="34" charset="-120"/>
              </a:rPr>
              <a:t>그룹</a:t>
            </a:r>
            <a:r>
              <a:rPr lang="en-US" sz="1700" dirty="0">
                <a:solidFill>
                  <a:srgbClr val="6E6A60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retendard" pitchFamily="34" charset="-120"/>
              </a:rPr>
              <a:t> · </a:t>
            </a:r>
            <a:r>
              <a:rPr lang="en-US" sz="1700" dirty="0" err="1">
                <a:solidFill>
                  <a:srgbClr val="6E6A60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retendard" pitchFamily="34" charset="-120"/>
              </a:rPr>
              <a:t>일정</a:t>
            </a:r>
            <a:r>
              <a:rPr lang="en-US" sz="1700" dirty="0">
                <a:solidFill>
                  <a:srgbClr val="6E6A60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retendard" pitchFamily="34" charset="-120"/>
              </a:rPr>
              <a:t> · </a:t>
            </a:r>
            <a:r>
              <a:rPr lang="ko-KR" altLang="en-US" sz="1700" dirty="0">
                <a:solidFill>
                  <a:srgbClr val="6E6A60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retendard" pitchFamily="34" charset="-120"/>
              </a:rPr>
              <a:t>실시간</a:t>
            </a:r>
            <a:endParaRPr lang="en-US" sz="1700" dirty="0">
              <a:latin typeface="맑은 고딕" panose="020B0503020000020004" pitchFamily="50" charset="-127"/>
            </a:endParaRPr>
          </a:p>
        </p:txBody>
      </p:sp>
      <p:sp>
        <p:nvSpPr>
          <p:cNvPr id="23" name="Shape 21"/>
          <p:cNvSpPr/>
          <p:nvPr/>
        </p:nvSpPr>
        <p:spPr>
          <a:xfrm>
            <a:off x="1352550" y="5168205"/>
            <a:ext cx="6505575" cy="1085850"/>
          </a:xfrm>
          <a:prstGeom prst="roundRect">
            <a:avLst>
              <a:gd name="adj" fmla="val 15789"/>
            </a:avLst>
          </a:prstGeom>
          <a:solidFill>
            <a:srgbClr val="ECE9D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4" name="Shape 22"/>
          <p:cNvSpPr/>
          <p:nvPr/>
        </p:nvSpPr>
        <p:spPr>
          <a:xfrm>
            <a:off x="1600200" y="5425380"/>
            <a:ext cx="571500" cy="571500"/>
          </a:xfrm>
          <a:prstGeom prst="ellipse">
            <a:avLst/>
          </a:prstGeom>
          <a:solidFill>
            <a:srgbClr val="9CB0C4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5" name="Text 23"/>
          <p:cNvSpPr/>
          <p:nvPr/>
        </p:nvSpPr>
        <p:spPr>
          <a:xfrm>
            <a:off x="1562100" y="5425380"/>
            <a:ext cx="647700" cy="609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ko-KR" altLang="en-US" sz="2025" b="1" dirty="0">
                <a:solidFill>
                  <a:srgbClr val="FBF8EF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retendard" pitchFamily="34" charset="-120"/>
              </a:rPr>
              <a:t>정</a:t>
            </a:r>
            <a:endParaRPr lang="en-US" sz="2025" dirty="0">
              <a:latin typeface="맑은 고딕" panose="020B0503020000020004" pitchFamily="50" charset="-127"/>
            </a:endParaRPr>
          </a:p>
        </p:txBody>
      </p:sp>
      <p:sp>
        <p:nvSpPr>
          <p:cNvPr id="26" name="Text 24"/>
          <p:cNvSpPr/>
          <p:nvPr/>
        </p:nvSpPr>
        <p:spPr>
          <a:xfrm>
            <a:off x="2362200" y="5377755"/>
            <a:ext cx="2518693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2250" b="1" dirty="0">
                <a:solidFill>
                  <a:srgbClr val="4A4A4A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retendard" pitchFamily="34" charset="-120"/>
              </a:rPr>
              <a:t>정희성 · Full-stack</a:t>
            </a:r>
            <a:endParaRPr lang="en-US" sz="2250" dirty="0">
              <a:latin typeface="맑은 고딕" panose="020B0503020000020004" pitchFamily="50" charset="-127"/>
            </a:endParaRPr>
          </a:p>
        </p:txBody>
      </p:sp>
      <p:sp>
        <p:nvSpPr>
          <p:cNvPr id="27" name="Text 25"/>
          <p:cNvSpPr/>
          <p:nvPr/>
        </p:nvSpPr>
        <p:spPr>
          <a:xfrm>
            <a:off x="2362200" y="5758755"/>
            <a:ext cx="2886968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buNone/>
            </a:pPr>
            <a:r>
              <a:rPr lang="en-US" sz="1700" dirty="0" err="1">
                <a:solidFill>
                  <a:srgbClr val="6E6A60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retendard" pitchFamily="34" charset="-120"/>
              </a:rPr>
              <a:t>장소</a:t>
            </a:r>
            <a:r>
              <a:rPr lang="en-US" sz="1700" dirty="0">
                <a:solidFill>
                  <a:srgbClr val="6E6A60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retendard" pitchFamily="34" charset="-120"/>
              </a:rPr>
              <a:t> · </a:t>
            </a:r>
            <a:r>
              <a:rPr lang="en-US" sz="1700" dirty="0" err="1">
                <a:solidFill>
                  <a:srgbClr val="6E6A60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retendard" pitchFamily="34" charset="-120"/>
              </a:rPr>
              <a:t>투표</a:t>
            </a:r>
            <a:r>
              <a:rPr lang="en-US" sz="1700" dirty="0">
                <a:solidFill>
                  <a:srgbClr val="6E6A60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retendard" pitchFamily="34" charset="-120"/>
              </a:rPr>
              <a:t> · </a:t>
            </a:r>
            <a:r>
              <a:rPr lang="en-US" sz="1700" dirty="0" err="1">
                <a:solidFill>
                  <a:srgbClr val="6E6A60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retendard" pitchFamily="34" charset="-120"/>
              </a:rPr>
              <a:t>정산</a:t>
            </a:r>
            <a:r>
              <a:rPr lang="en-US" sz="1700" dirty="0">
                <a:solidFill>
                  <a:srgbClr val="6E6A60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retendard" pitchFamily="34" charset="-120"/>
              </a:rPr>
              <a:t> · </a:t>
            </a:r>
            <a:r>
              <a:rPr lang="ko-KR" altLang="en-US" sz="1700" dirty="0">
                <a:solidFill>
                  <a:srgbClr val="6E6A60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retendard" pitchFamily="34" charset="-120"/>
              </a:rPr>
              <a:t>페르소나</a:t>
            </a:r>
            <a:endParaRPr lang="en-US" sz="1700" dirty="0">
              <a:latin typeface="맑은 고딕" panose="020B0503020000020004" pitchFamily="50" charset="-127"/>
            </a:endParaRPr>
          </a:p>
        </p:txBody>
      </p:sp>
      <p:sp>
        <p:nvSpPr>
          <p:cNvPr id="28" name="Text 26"/>
          <p:cNvSpPr/>
          <p:nvPr/>
        </p:nvSpPr>
        <p:spPr>
          <a:xfrm>
            <a:off x="1352550" y="7379300"/>
            <a:ext cx="7156133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kern="0" spc="252" dirty="0">
                <a:solidFill>
                  <a:srgbClr val="9A9486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Space Mono" pitchFamily="34" charset="-120"/>
              </a:rPr>
              <a:t>LEARNED · 배운 점</a:t>
            </a:r>
            <a:endParaRPr lang="en-US" sz="1800" dirty="0">
              <a:latin typeface="맑은 고딕" panose="020B0503020000020004" pitchFamily="50" charset="-127"/>
            </a:endParaRPr>
          </a:p>
        </p:txBody>
      </p:sp>
      <p:sp>
        <p:nvSpPr>
          <p:cNvPr id="29" name="Shape 27"/>
          <p:cNvSpPr/>
          <p:nvPr/>
        </p:nvSpPr>
        <p:spPr>
          <a:xfrm>
            <a:off x="1352550" y="7855550"/>
            <a:ext cx="2183160" cy="495300"/>
          </a:xfrm>
          <a:prstGeom prst="roundRect">
            <a:avLst>
              <a:gd name="adj" fmla="val 50000"/>
            </a:avLst>
          </a:prstGeom>
          <a:ln w="9525">
            <a:solidFill>
              <a:srgbClr val="C7BFA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0" name="Text 28"/>
          <p:cNvSpPr/>
          <p:nvPr/>
        </p:nvSpPr>
        <p:spPr>
          <a:xfrm>
            <a:off x="1571625" y="7960325"/>
            <a:ext cx="1821210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buNone/>
            </a:pPr>
            <a:r>
              <a:rPr lang="en-US" sz="1875" dirty="0">
                <a:solidFill>
                  <a:srgbClr val="6E6A60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retendard" pitchFamily="34" charset="-120"/>
              </a:rPr>
              <a:t>실시간 설계 (SSE)</a:t>
            </a:r>
            <a:endParaRPr lang="en-US" sz="1875" dirty="0">
              <a:latin typeface="맑은 고딕" panose="020B0503020000020004" pitchFamily="50" charset="-127"/>
            </a:endParaRPr>
          </a:p>
        </p:txBody>
      </p:sp>
      <p:sp>
        <p:nvSpPr>
          <p:cNvPr id="31" name="Shape 29"/>
          <p:cNvSpPr/>
          <p:nvPr/>
        </p:nvSpPr>
        <p:spPr>
          <a:xfrm>
            <a:off x="3650010" y="7855550"/>
            <a:ext cx="1742033" cy="495300"/>
          </a:xfrm>
          <a:prstGeom prst="roundRect">
            <a:avLst>
              <a:gd name="adj" fmla="val 50000"/>
            </a:avLst>
          </a:prstGeom>
          <a:ln w="9525">
            <a:solidFill>
              <a:srgbClr val="C7BFA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2" name="Text 30"/>
          <p:cNvSpPr/>
          <p:nvPr/>
        </p:nvSpPr>
        <p:spPr>
          <a:xfrm>
            <a:off x="3869085" y="7960325"/>
            <a:ext cx="1380083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85000" lnSpcReduction="10000"/>
          </a:bodyPr>
          <a:lstStyle/>
          <a:p>
            <a:pPr marL="0" indent="0" algn="l">
              <a:buNone/>
            </a:pPr>
            <a:r>
              <a:rPr lang="en-US" sz="1875" dirty="0">
                <a:solidFill>
                  <a:srgbClr val="6E6A60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retendard" pitchFamily="34" charset="-120"/>
              </a:rPr>
              <a:t>외부 API 통합</a:t>
            </a:r>
            <a:endParaRPr lang="en-US" sz="1875" dirty="0">
              <a:latin typeface="맑은 고딕" panose="020B0503020000020004" pitchFamily="50" charset="-127"/>
            </a:endParaRPr>
          </a:p>
        </p:txBody>
      </p:sp>
      <p:sp>
        <p:nvSpPr>
          <p:cNvPr id="33" name="Shape 31"/>
          <p:cNvSpPr/>
          <p:nvPr/>
        </p:nvSpPr>
        <p:spPr>
          <a:xfrm>
            <a:off x="5506343" y="7855550"/>
            <a:ext cx="1995041" cy="495300"/>
          </a:xfrm>
          <a:prstGeom prst="roundRect">
            <a:avLst>
              <a:gd name="adj" fmla="val 50000"/>
            </a:avLst>
          </a:prstGeom>
          <a:ln w="9525">
            <a:solidFill>
              <a:srgbClr val="C7BFA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4" name="Text 32"/>
          <p:cNvSpPr/>
          <p:nvPr/>
        </p:nvSpPr>
        <p:spPr>
          <a:xfrm>
            <a:off x="5725418" y="7960325"/>
            <a:ext cx="1633091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85000" lnSpcReduction="10000"/>
          </a:bodyPr>
          <a:lstStyle/>
          <a:p>
            <a:pPr marL="0" indent="0" algn="l">
              <a:buNone/>
            </a:pPr>
            <a:r>
              <a:rPr lang="en-US" sz="1875" dirty="0">
                <a:solidFill>
                  <a:srgbClr val="6E6A60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retendard" pitchFamily="34" charset="-120"/>
              </a:rPr>
              <a:t>도메인 단위 협업</a:t>
            </a:r>
            <a:endParaRPr lang="en-US" sz="1875" dirty="0">
              <a:latin typeface="맑은 고딕" panose="020B0503020000020004" pitchFamily="50" charset="-127"/>
            </a:endParaRPr>
          </a:p>
        </p:txBody>
      </p:sp>
      <p:sp>
        <p:nvSpPr>
          <p:cNvPr id="35" name="Text 33"/>
          <p:cNvSpPr/>
          <p:nvPr/>
        </p:nvSpPr>
        <p:spPr>
          <a:xfrm>
            <a:off x="8821169" y="3044765"/>
            <a:ext cx="7156133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kern="0" spc="252" dirty="0">
                <a:solidFill>
                  <a:srgbClr val="9A9486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Space Mono" pitchFamily="34" charset="-120"/>
              </a:rPr>
              <a:t>ROADMAP · 향후 계획</a:t>
            </a:r>
            <a:endParaRPr lang="en-US" sz="1800" dirty="0">
              <a:latin typeface="맑은 고딕" panose="020B0503020000020004" pitchFamily="50" charset="-127"/>
            </a:endParaRPr>
          </a:p>
        </p:txBody>
      </p:sp>
      <p:sp>
        <p:nvSpPr>
          <p:cNvPr id="36" name="Shape 34"/>
          <p:cNvSpPr/>
          <p:nvPr/>
        </p:nvSpPr>
        <p:spPr>
          <a:xfrm>
            <a:off x="8821170" y="3540065"/>
            <a:ext cx="3910148" cy="714375"/>
          </a:xfrm>
          <a:prstGeom prst="roundRect">
            <a:avLst>
              <a:gd name="adj" fmla="val 21333"/>
            </a:avLst>
          </a:prstGeom>
          <a:solidFill>
            <a:srgbClr val="E4EAF0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37" name="Image 0" descr="preencoded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 rot="2700000">
            <a:off x="9009638" y="3695197"/>
            <a:ext cx="404111" cy="404111"/>
          </a:xfrm>
          <a:prstGeom prst="rect">
            <a:avLst/>
          </a:prstGeom>
        </p:spPr>
      </p:pic>
      <p:sp>
        <p:nvSpPr>
          <p:cNvPr id="38" name="Text 35"/>
          <p:cNvSpPr/>
          <p:nvPr/>
        </p:nvSpPr>
        <p:spPr>
          <a:xfrm>
            <a:off x="9526019" y="3730565"/>
            <a:ext cx="1719947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85000" lnSpcReduction="10000"/>
          </a:bodyPr>
          <a:lstStyle/>
          <a:p>
            <a:pPr marL="0" indent="0" algn="l">
              <a:buNone/>
            </a:pPr>
            <a:r>
              <a:rPr lang="en-US" sz="2175" b="1" dirty="0">
                <a:solidFill>
                  <a:srgbClr val="4A4A4A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retendard" pitchFamily="34" charset="-120"/>
              </a:rPr>
              <a:t>해외 여행 지원</a:t>
            </a:r>
            <a:endParaRPr lang="en-US" sz="2175" dirty="0">
              <a:latin typeface="맑은 고딕" panose="020B0503020000020004" pitchFamily="50" charset="-127"/>
            </a:endParaRPr>
          </a:p>
        </p:txBody>
      </p:sp>
      <p:sp>
        <p:nvSpPr>
          <p:cNvPr id="39" name="Shape 36"/>
          <p:cNvSpPr/>
          <p:nvPr/>
        </p:nvSpPr>
        <p:spPr>
          <a:xfrm>
            <a:off x="8821170" y="4425890"/>
            <a:ext cx="3910148" cy="714375"/>
          </a:xfrm>
          <a:prstGeom prst="roundRect">
            <a:avLst>
              <a:gd name="adj" fmla="val 21333"/>
            </a:avLst>
          </a:prstGeom>
          <a:solidFill>
            <a:srgbClr val="E4EAF0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40" name="Image 1" descr="preencoded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 rot="2700000">
            <a:off x="9009638" y="4581022"/>
            <a:ext cx="404111" cy="404111"/>
          </a:xfrm>
          <a:prstGeom prst="rect">
            <a:avLst/>
          </a:prstGeom>
        </p:spPr>
      </p:pic>
      <p:sp>
        <p:nvSpPr>
          <p:cNvPr id="41" name="Text 37"/>
          <p:cNvSpPr/>
          <p:nvPr/>
        </p:nvSpPr>
        <p:spPr>
          <a:xfrm>
            <a:off x="9526019" y="4616390"/>
            <a:ext cx="2343849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85000" lnSpcReduction="10000"/>
          </a:bodyPr>
          <a:lstStyle/>
          <a:p>
            <a:pPr marL="0" indent="0" algn="l">
              <a:buNone/>
            </a:pPr>
            <a:r>
              <a:rPr lang="en-US" sz="2175" b="1" dirty="0">
                <a:solidFill>
                  <a:srgbClr val="4A4A4A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retendard" pitchFamily="34" charset="-120"/>
              </a:rPr>
              <a:t>AI 코스 추천 고도화</a:t>
            </a:r>
            <a:endParaRPr lang="en-US" sz="2175" dirty="0">
              <a:latin typeface="맑은 고딕" panose="020B0503020000020004" pitchFamily="50" charset="-127"/>
            </a:endParaRPr>
          </a:p>
        </p:txBody>
      </p:sp>
      <p:sp>
        <p:nvSpPr>
          <p:cNvPr id="42" name="Shape 38"/>
          <p:cNvSpPr/>
          <p:nvPr/>
        </p:nvSpPr>
        <p:spPr>
          <a:xfrm>
            <a:off x="8821170" y="5311715"/>
            <a:ext cx="3910148" cy="714375"/>
          </a:xfrm>
          <a:prstGeom prst="roundRect">
            <a:avLst>
              <a:gd name="adj" fmla="val 21333"/>
            </a:avLst>
          </a:prstGeom>
          <a:solidFill>
            <a:srgbClr val="E4EAF0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43" name="Image 2" descr="preencoded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 rot="2700000">
            <a:off x="9009638" y="5466847"/>
            <a:ext cx="404111" cy="404111"/>
          </a:xfrm>
          <a:prstGeom prst="rect">
            <a:avLst/>
          </a:prstGeom>
        </p:spPr>
      </p:pic>
      <p:sp>
        <p:nvSpPr>
          <p:cNvPr id="44" name="Text 39"/>
          <p:cNvSpPr/>
          <p:nvPr/>
        </p:nvSpPr>
        <p:spPr>
          <a:xfrm>
            <a:off x="9526019" y="5502215"/>
            <a:ext cx="1719947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85000" lnSpcReduction="10000"/>
          </a:bodyPr>
          <a:lstStyle/>
          <a:p>
            <a:pPr marL="0" indent="0" algn="l">
              <a:buNone/>
            </a:pPr>
            <a:r>
              <a:rPr lang="en-US" sz="2175" b="1" dirty="0">
                <a:solidFill>
                  <a:srgbClr val="4A4A4A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retendard" pitchFamily="34" charset="-120"/>
              </a:rPr>
              <a:t>모바일 앱 출시</a:t>
            </a:r>
            <a:endParaRPr lang="en-US" sz="2175" dirty="0">
              <a:latin typeface="맑은 고딕" panose="020B0503020000020004" pitchFamily="50" charset="-127"/>
            </a:endParaRPr>
          </a:p>
        </p:txBody>
      </p:sp>
      <p:sp>
        <p:nvSpPr>
          <p:cNvPr id="48" name="Text 4">
            <a:extLst>
              <a:ext uri="{FF2B5EF4-FFF2-40B4-BE49-F238E27FC236}">
                <a16:creationId xmlns:a16="http://schemas.microsoft.com/office/drawing/2014/main" id="{F7A79834-6930-4416-B227-FAD8C1AA851C}"/>
              </a:ext>
            </a:extLst>
          </p:cNvPr>
          <p:cNvSpPr/>
          <p:nvPr/>
        </p:nvSpPr>
        <p:spPr>
          <a:xfrm>
            <a:off x="15830996" y="1238250"/>
            <a:ext cx="1561207" cy="723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800" kern="0" spc="360" dirty="0">
                <a:solidFill>
                  <a:srgbClr val="B0AA9B"/>
                </a:solidFill>
                <a:latin typeface="맑은 고딕" panose="020B0503020000020004" pitchFamily="50" charset="-127"/>
                <a:ea typeface="Microsoft YaHei" panose="020B0503020204020204" pitchFamily="34" charset="-122"/>
                <a:cs typeface="Arial" panose="020B0604020202020204" pitchFamily="34" charset="0"/>
              </a:rPr>
              <a:t>BOARDING</a:t>
            </a:r>
          </a:p>
          <a:p>
            <a:pPr marL="0" indent="0" algn="ctr">
              <a:lnSpc>
                <a:spcPct val="150000"/>
              </a:lnSpc>
              <a:buNone/>
            </a:pPr>
            <a:r>
              <a:rPr lang="en-US" sz="1800" kern="0" spc="360" dirty="0">
                <a:solidFill>
                  <a:srgbClr val="B0AA9B"/>
                </a:solidFill>
                <a:latin typeface="맑은 고딕" panose="020B0503020000020004" pitchFamily="50" charset="-127"/>
                <a:ea typeface="Microsoft YaHei" panose="020B0503020204020204" pitchFamily="34" charset="-122"/>
                <a:cs typeface="Arial" panose="020B0604020202020204" pitchFamily="34" charset="0"/>
              </a:rPr>
              <a:t>PASS</a:t>
            </a:r>
            <a:endParaRPr lang="en-US" sz="1800" dirty="0">
              <a:latin typeface="맑은 고딕" panose="020B0503020000020004" pitchFamily="50" charset="-127"/>
              <a:cs typeface="Arial" panose="020B0604020202020204" pitchFamily="34" charset="0"/>
            </a:endParaRPr>
          </a:p>
        </p:txBody>
      </p:sp>
      <p:cxnSp>
        <p:nvCxnSpPr>
          <p:cNvPr id="50" name="직선 연결선 49">
            <a:extLst>
              <a:ext uri="{FF2B5EF4-FFF2-40B4-BE49-F238E27FC236}">
                <a16:creationId xmlns:a16="http://schemas.microsoft.com/office/drawing/2014/main" id="{CA88D85A-91E0-4561-838C-AC10F0A66424}"/>
              </a:ext>
            </a:extLst>
          </p:cNvPr>
          <p:cNvCxnSpPr>
            <a:cxnSpLocks/>
          </p:cNvCxnSpPr>
          <p:nvPr/>
        </p:nvCxnSpPr>
        <p:spPr>
          <a:xfrm>
            <a:off x="8735854" y="6273740"/>
            <a:ext cx="4284821" cy="0"/>
          </a:xfrm>
          <a:prstGeom prst="line">
            <a:avLst/>
          </a:prstGeom>
          <a:ln>
            <a:solidFill>
              <a:srgbClr val="C7BFA9"/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54" name="Text 7">
            <a:extLst>
              <a:ext uri="{FF2B5EF4-FFF2-40B4-BE49-F238E27FC236}">
                <a16:creationId xmlns:a16="http://schemas.microsoft.com/office/drawing/2014/main" id="{428D38CC-EDAE-4D71-8003-B82E69B54A2E}"/>
              </a:ext>
            </a:extLst>
          </p:cNvPr>
          <p:cNvSpPr/>
          <p:nvPr/>
        </p:nvSpPr>
        <p:spPr>
          <a:xfrm>
            <a:off x="15796766" y="8705850"/>
            <a:ext cx="1792471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kern="0" spc="324" dirty="0">
                <a:solidFill>
                  <a:srgbClr val="B0AA9B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Space Mono" pitchFamily="34" charset="-120"/>
              </a:rPr>
              <a:t>ADMIT ONE</a:t>
            </a:r>
            <a:endParaRPr lang="en-US" sz="1800" dirty="0">
              <a:latin typeface="맑은 고딕" panose="020B0503020000020004" pitchFamily="50" charset="-127"/>
            </a:endParaRPr>
          </a:p>
        </p:txBody>
      </p:sp>
      <p:sp>
        <p:nvSpPr>
          <p:cNvPr id="55" name="Text 5">
            <a:extLst>
              <a:ext uri="{FF2B5EF4-FFF2-40B4-BE49-F238E27FC236}">
                <a16:creationId xmlns:a16="http://schemas.microsoft.com/office/drawing/2014/main" id="{34E53BF8-7A16-4E67-BE71-1FAA3802E1DA}"/>
              </a:ext>
            </a:extLst>
          </p:cNvPr>
          <p:cNvSpPr/>
          <p:nvPr/>
        </p:nvSpPr>
        <p:spPr>
          <a:xfrm rot="10800000">
            <a:off x="16373475" y="3166533"/>
            <a:ext cx="552450" cy="3055822"/>
          </a:xfrm>
          <a:prstGeom prst="rect">
            <a:avLst/>
          </a:prstGeom>
          <a:noFill/>
          <a:ln/>
        </p:spPr>
        <p:txBody>
          <a:bodyPr vert="eaVert"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3150" b="1" i="1" kern="0" spc="504" dirty="0">
                <a:solidFill>
                  <a:srgbClr val="4A4A4A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Georgia" pitchFamily="34" charset="-120"/>
              </a:rPr>
              <a:t>GROUTRIP</a:t>
            </a:r>
            <a:endParaRPr lang="en-US" sz="3150" dirty="0">
              <a:latin typeface="맑은 고딕" panose="020B0503020000020004" pitchFamily="50" charset="-127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87A0B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52450" y="552450"/>
            <a:ext cx="17183100" cy="9182100"/>
          </a:xfrm>
          <a:prstGeom prst="roundRect">
            <a:avLst>
              <a:gd name="adj" fmla="val 3734"/>
            </a:avLst>
          </a:prstGeom>
          <a:solidFill>
            <a:srgbClr val="FBF8EF"/>
          </a:solidFill>
          <a:ln/>
          <a:effectLst>
            <a:outerShdw blurRad="857250" dist="381000" dir="5400000" algn="bl" rotWithShape="0">
              <a:srgbClr val="233241">
                <a:alpha val="2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15468600" y="552450"/>
            <a:ext cx="19050" cy="9182100"/>
          </a:xfrm>
          <a:prstGeom prst="rect">
            <a:avLst/>
          </a:prstGeom>
          <a:solidFill>
            <a:srgbClr val="C7BFA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15278100" y="342900"/>
            <a:ext cx="419100" cy="419100"/>
          </a:xfrm>
          <a:prstGeom prst="ellipse">
            <a:avLst/>
          </a:prstGeom>
          <a:solidFill>
            <a:srgbClr val="87A0B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15278100" y="9525000"/>
            <a:ext cx="419100" cy="419100"/>
          </a:xfrm>
          <a:prstGeom prst="ellipse">
            <a:avLst/>
          </a:prstGeom>
          <a:solidFill>
            <a:srgbClr val="87A0B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Shape 6"/>
          <p:cNvSpPr/>
          <p:nvPr/>
        </p:nvSpPr>
        <p:spPr>
          <a:xfrm>
            <a:off x="15887551" y="7943850"/>
            <a:ext cx="1447800" cy="590550"/>
          </a:xfrm>
          <a:prstGeom prst="rect">
            <a:avLst/>
          </a:prstGeom>
          <a:blipFill>
            <a:blip r:embed="rId3"/>
            <a:tile tx="0" ty="0" sx="100000" sy="100000" flip="none" algn="tl"/>
          </a:blip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9" name="Text 7"/>
          <p:cNvSpPr/>
          <p:nvPr/>
        </p:nvSpPr>
        <p:spPr>
          <a:xfrm>
            <a:off x="15796766" y="8705850"/>
            <a:ext cx="1792471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kern="0" spc="324" dirty="0">
                <a:solidFill>
                  <a:srgbClr val="B0AA9B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Space Mono" pitchFamily="34" charset="-120"/>
              </a:rPr>
              <a:t>ADMIT ONE</a:t>
            </a:r>
            <a:endParaRPr lang="en-US" sz="1800" dirty="0">
              <a:latin typeface="맑은 고딕" panose="020B0503020000020004" pitchFamily="50" charset="-127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5690443" y="7762875"/>
            <a:ext cx="3388816" cy="590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endParaRPr lang="en-US" sz="3450" dirty="0">
              <a:latin typeface="맑은 고딕" panose="020B0503020000020004" pitchFamily="50" charset="-127"/>
            </a:endParaRPr>
          </a:p>
        </p:txBody>
      </p:sp>
      <p:sp>
        <p:nvSpPr>
          <p:cNvPr id="26" name="Text 4">
            <a:extLst>
              <a:ext uri="{FF2B5EF4-FFF2-40B4-BE49-F238E27FC236}">
                <a16:creationId xmlns:a16="http://schemas.microsoft.com/office/drawing/2014/main" id="{83878738-E781-4460-A63F-953655D13A42}"/>
              </a:ext>
            </a:extLst>
          </p:cNvPr>
          <p:cNvSpPr/>
          <p:nvPr/>
        </p:nvSpPr>
        <p:spPr>
          <a:xfrm>
            <a:off x="15830996" y="1238250"/>
            <a:ext cx="1561207" cy="723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800" kern="0" spc="360" dirty="0">
                <a:solidFill>
                  <a:srgbClr val="B0AA9B"/>
                </a:solidFill>
                <a:latin typeface="맑은 고딕" panose="020B0503020000020004" pitchFamily="50" charset="-127"/>
                <a:ea typeface="Microsoft YaHei" panose="020B0503020204020204" pitchFamily="34" charset="-122"/>
                <a:cs typeface="Arial" panose="020B0604020202020204" pitchFamily="34" charset="0"/>
              </a:rPr>
              <a:t>BOARDING</a:t>
            </a:r>
          </a:p>
          <a:p>
            <a:pPr marL="0" indent="0" algn="ctr">
              <a:lnSpc>
                <a:spcPct val="150000"/>
              </a:lnSpc>
              <a:buNone/>
            </a:pPr>
            <a:r>
              <a:rPr lang="en-US" sz="1800" kern="0" spc="360" dirty="0">
                <a:solidFill>
                  <a:srgbClr val="B0AA9B"/>
                </a:solidFill>
                <a:latin typeface="맑은 고딕" panose="020B0503020000020004" pitchFamily="50" charset="-127"/>
                <a:ea typeface="Microsoft YaHei" panose="020B0503020204020204" pitchFamily="34" charset="-122"/>
                <a:cs typeface="Arial" panose="020B0604020202020204" pitchFamily="34" charset="0"/>
              </a:rPr>
              <a:t>PASS</a:t>
            </a:r>
            <a:endParaRPr lang="en-US" sz="1800" dirty="0">
              <a:latin typeface="맑은 고딕" panose="020B0503020000020004" pitchFamily="50" charset="-127"/>
              <a:cs typeface="Arial" panose="020B0604020202020204" pitchFamily="34" charset="0"/>
            </a:endParaRPr>
          </a:p>
        </p:txBody>
      </p:sp>
      <p:sp>
        <p:nvSpPr>
          <p:cNvPr id="27" name="Text 41">
            <a:extLst>
              <a:ext uri="{FF2B5EF4-FFF2-40B4-BE49-F238E27FC236}">
                <a16:creationId xmlns:a16="http://schemas.microsoft.com/office/drawing/2014/main" id="{1F9E5115-B8BC-440D-8EEE-9D08EDBA2624}"/>
              </a:ext>
            </a:extLst>
          </p:cNvPr>
          <p:cNvSpPr/>
          <p:nvPr/>
        </p:nvSpPr>
        <p:spPr>
          <a:xfrm>
            <a:off x="6822252" y="4084997"/>
            <a:ext cx="3193901" cy="16628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buNone/>
            </a:pPr>
            <a:r>
              <a:rPr lang="ko-KR" altLang="en-US" sz="9600" b="1" dirty="0">
                <a:solidFill>
                  <a:srgbClr val="4A4A4A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시연</a:t>
            </a:r>
            <a:endParaRPr lang="en-US" sz="9600" dirty="0">
              <a:latin typeface="맑은 고딕" panose="020B0503020000020004" pitchFamily="50" charset="-127"/>
            </a:endParaRPr>
          </a:p>
        </p:txBody>
      </p:sp>
      <p:sp>
        <p:nvSpPr>
          <p:cNvPr id="15" name="Text 5">
            <a:extLst>
              <a:ext uri="{FF2B5EF4-FFF2-40B4-BE49-F238E27FC236}">
                <a16:creationId xmlns:a16="http://schemas.microsoft.com/office/drawing/2014/main" id="{CDF8F0A3-5FB5-465F-A17E-3B5CBFFED5CF}"/>
              </a:ext>
            </a:extLst>
          </p:cNvPr>
          <p:cNvSpPr/>
          <p:nvPr/>
        </p:nvSpPr>
        <p:spPr>
          <a:xfrm rot="10800000">
            <a:off x="16373475" y="3166533"/>
            <a:ext cx="552450" cy="3055822"/>
          </a:xfrm>
          <a:prstGeom prst="rect">
            <a:avLst/>
          </a:prstGeom>
          <a:noFill/>
          <a:ln/>
        </p:spPr>
        <p:txBody>
          <a:bodyPr vert="eaVert"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3150" b="1" i="1" kern="0" spc="504" dirty="0">
                <a:solidFill>
                  <a:srgbClr val="4A4A4A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Georgia" pitchFamily="34" charset="-120"/>
              </a:rPr>
              <a:t>GROUTRIP</a:t>
            </a:r>
            <a:endParaRPr lang="en-US" sz="3150" dirty="0">
              <a:latin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22730344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87A0B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52450" y="552450"/>
            <a:ext cx="17183100" cy="9182100"/>
          </a:xfrm>
          <a:prstGeom prst="roundRect">
            <a:avLst>
              <a:gd name="adj" fmla="val 3734"/>
            </a:avLst>
          </a:prstGeom>
          <a:solidFill>
            <a:srgbClr val="FBF8EF"/>
          </a:solidFill>
          <a:ln/>
          <a:effectLst>
            <a:outerShdw blurRad="857250" dist="381000" dir="5400000" algn="bl" rotWithShape="0">
              <a:srgbClr val="233241">
                <a:alpha val="2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15468600" y="552450"/>
            <a:ext cx="19050" cy="9182100"/>
          </a:xfrm>
          <a:prstGeom prst="rect">
            <a:avLst/>
          </a:prstGeom>
          <a:solidFill>
            <a:srgbClr val="C7BFA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15278100" y="342900"/>
            <a:ext cx="419100" cy="419100"/>
          </a:xfrm>
          <a:prstGeom prst="ellipse">
            <a:avLst/>
          </a:prstGeom>
          <a:solidFill>
            <a:srgbClr val="87A0B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15278100" y="9525000"/>
            <a:ext cx="419100" cy="419100"/>
          </a:xfrm>
          <a:prstGeom prst="ellipse">
            <a:avLst/>
          </a:prstGeom>
          <a:solidFill>
            <a:srgbClr val="87A0B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Shape 6"/>
          <p:cNvSpPr/>
          <p:nvPr/>
        </p:nvSpPr>
        <p:spPr>
          <a:xfrm>
            <a:off x="15887551" y="7943850"/>
            <a:ext cx="1447800" cy="590550"/>
          </a:xfrm>
          <a:prstGeom prst="rect">
            <a:avLst/>
          </a:prstGeom>
          <a:blipFill>
            <a:blip r:embed="rId3"/>
            <a:tile tx="0" ty="0" sx="100000" sy="100000" flip="none" algn="tl"/>
          </a:blip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9" name="Text 7"/>
          <p:cNvSpPr/>
          <p:nvPr/>
        </p:nvSpPr>
        <p:spPr>
          <a:xfrm>
            <a:off x="15796766" y="8705850"/>
            <a:ext cx="1792471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kern="0" spc="324" dirty="0">
                <a:solidFill>
                  <a:srgbClr val="B0AA9B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Space Mono" pitchFamily="34" charset="-120"/>
              </a:rPr>
              <a:t>ADMIT ONE</a:t>
            </a:r>
            <a:endParaRPr lang="en-US" sz="1800" dirty="0">
              <a:latin typeface="맑은 고딕" panose="020B0503020000020004" pitchFamily="50" charset="-127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5690443" y="7762875"/>
            <a:ext cx="3388816" cy="590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endParaRPr lang="en-US" sz="3450" dirty="0">
              <a:latin typeface="맑은 고딕" panose="020B0503020000020004" pitchFamily="50" charset="-127"/>
            </a:endParaRPr>
          </a:p>
        </p:txBody>
      </p:sp>
      <p:sp>
        <p:nvSpPr>
          <p:cNvPr id="26" name="Text 4">
            <a:extLst>
              <a:ext uri="{FF2B5EF4-FFF2-40B4-BE49-F238E27FC236}">
                <a16:creationId xmlns:a16="http://schemas.microsoft.com/office/drawing/2014/main" id="{83878738-E781-4460-A63F-953655D13A42}"/>
              </a:ext>
            </a:extLst>
          </p:cNvPr>
          <p:cNvSpPr/>
          <p:nvPr/>
        </p:nvSpPr>
        <p:spPr>
          <a:xfrm>
            <a:off x="15830996" y="1238250"/>
            <a:ext cx="1561207" cy="723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800" kern="0" spc="360" dirty="0">
                <a:solidFill>
                  <a:srgbClr val="B0AA9B"/>
                </a:solidFill>
                <a:latin typeface="맑은 고딕" panose="020B0503020000020004" pitchFamily="50" charset="-127"/>
                <a:ea typeface="Microsoft YaHei" panose="020B0503020204020204" pitchFamily="34" charset="-122"/>
                <a:cs typeface="Arial" panose="020B0604020202020204" pitchFamily="34" charset="0"/>
              </a:rPr>
              <a:t>BOARDING</a:t>
            </a:r>
          </a:p>
          <a:p>
            <a:pPr marL="0" indent="0" algn="ctr">
              <a:lnSpc>
                <a:spcPct val="150000"/>
              </a:lnSpc>
              <a:buNone/>
            </a:pPr>
            <a:r>
              <a:rPr lang="en-US" sz="1800" kern="0" spc="360" dirty="0">
                <a:solidFill>
                  <a:srgbClr val="B0AA9B"/>
                </a:solidFill>
                <a:latin typeface="맑은 고딕" panose="020B0503020000020004" pitchFamily="50" charset="-127"/>
                <a:ea typeface="Microsoft YaHei" panose="020B0503020204020204" pitchFamily="34" charset="-122"/>
                <a:cs typeface="Arial" panose="020B0604020202020204" pitchFamily="34" charset="0"/>
              </a:rPr>
              <a:t>PASS</a:t>
            </a:r>
            <a:endParaRPr lang="en-US" sz="1800" dirty="0">
              <a:latin typeface="맑은 고딕" panose="020B0503020000020004" pitchFamily="50" charset="-127"/>
              <a:cs typeface="Arial" panose="020B0604020202020204" pitchFamily="34" charset="0"/>
            </a:endParaRPr>
          </a:p>
        </p:txBody>
      </p:sp>
      <p:sp>
        <p:nvSpPr>
          <p:cNvPr id="27" name="Text 41">
            <a:extLst>
              <a:ext uri="{FF2B5EF4-FFF2-40B4-BE49-F238E27FC236}">
                <a16:creationId xmlns:a16="http://schemas.microsoft.com/office/drawing/2014/main" id="{1F9E5115-B8BC-440D-8EEE-9D08EDBA2624}"/>
              </a:ext>
            </a:extLst>
          </p:cNvPr>
          <p:cNvSpPr/>
          <p:nvPr/>
        </p:nvSpPr>
        <p:spPr>
          <a:xfrm>
            <a:off x="6697965" y="4084997"/>
            <a:ext cx="3193901" cy="16628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buNone/>
            </a:pPr>
            <a:r>
              <a:rPr lang="en-US" sz="9600" b="1" i="1" dirty="0">
                <a:solidFill>
                  <a:srgbClr val="4A4A4A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Bitter" pitchFamily="34" charset="-120"/>
              </a:rPr>
              <a:t>Q&amp;A</a:t>
            </a:r>
            <a:endParaRPr lang="en-US" sz="9600" dirty="0">
              <a:latin typeface="맑은 고딕" panose="020B0503020000020004" pitchFamily="50" charset="-127"/>
            </a:endParaRPr>
          </a:p>
        </p:txBody>
      </p:sp>
      <p:sp>
        <p:nvSpPr>
          <p:cNvPr id="30" name="Shape 5">
            <a:extLst>
              <a:ext uri="{FF2B5EF4-FFF2-40B4-BE49-F238E27FC236}">
                <a16:creationId xmlns:a16="http://schemas.microsoft.com/office/drawing/2014/main" id="{F2BB0FCC-E5D4-46DA-8340-57ECFA939365}"/>
              </a:ext>
            </a:extLst>
          </p:cNvPr>
          <p:cNvSpPr/>
          <p:nvPr/>
        </p:nvSpPr>
        <p:spPr>
          <a:xfrm rot="21000001">
            <a:off x="15792450" y="4114800"/>
            <a:ext cx="1638300" cy="1638300"/>
          </a:xfrm>
          <a:prstGeom prst="ellipse">
            <a:avLst/>
          </a:prstGeom>
          <a:ln w="28575">
            <a:solidFill>
              <a:srgbClr val="8AA6C0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1" name="Shape 6">
            <a:extLst>
              <a:ext uri="{FF2B5EF4-FFF2-40B4-BE49-F238E27FC236}">
                <a16:creationId xmlns:a16="http://schemas.microsoft.com/office/drawing/2014/main" id="{EFE589D4-2B28-43C3-B979-C1F21A2445A0}"/>
              </a:ext>
            </a:extLst>
          </p:cNvPr>
          <p:cNvSpPr/>
          <p:nvPr/>
        </p:nvSpPr>
        <p:spPr>
          <a:xfrm>
            <a:off x="15806097" y="4128447"/>
            <a:ext cx="1611006" cy="1611007"/>
          </a:xfrm>
          <a:prstGeom prst="ellipse">
            <a:avLst/>
          </a:prstGeom>
          <a:ln w="19050">
            <a:solidFill>
              <a:srgbClr val="8AA6C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2" name="Text 7">
            <a:extLst>
              <a:ext uri="{FF2B5EF4-FFF2-40B4-BE49-F238E27FC236}">
                <a16:creationId xmlns:a16="http://schemas.microsoft.com/office/drawing/2014/main" id="{828332C5-F609-42F5-B3C7-830EC0CDEAB1}"/>
              </a:ext>
            </a:extLst>
          </p:cNvPr>
          <p:cNvSpPr/>
          <p:nvPr/>
        </p:nvSpPr>
        <p:spPr>
          <a:xfrm>
            <a:off x="16049353" y="4531929"/>
            <a:ext cx="1141572" cy="50770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325" b="1" i="1" dirty="0">
                <a:solidFill>
                  <a:srgbClr val="8AA6C0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Bitter" pitchFamily="34" charset="-120"/>
              </a:rPr>
              <a:t>THANK</a:t>
            </a:r>
            <a:endParaRPr lang="en-US" sz="2325" dirty="0">
              <a:latin typeface="맑은 고딕" panose="020B0503020000020004" pitchFamily="50" charset="-127"/>
            </a:endParaRPr>
          </a:p>
        </p:txBody>
      </p:sp>
      <p:sp>
        <p:nvSpPr>
          <p:cNvPr id="33" name="Text 8">
            <a:extLst>
              <a:ext uri="{FF2B5EF4-FFF2-40B4-BE49-F238E27FC236}">
                <a16:creationId xmlns:a16="http://schemas.microsoft.com/office/drawing/2014/main" id="{2BCA1956-9E9C-4DA7-9808-1F031AB7CC17}"/>
              </a:ext>
            </a:extLst>
          </p:cNvPr>
          <p:cNvSpPr/>
          <p:nvPr/>
        </p:nvSpPr>
        <p:spPr>
          <a:xfrm>
            <a:off x="16311537" y="4859881"/>
            <a:ext cx="727574" cy="4768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2325" b="1" i="1" dirty="0">
                <a:solidFill>
                  <a:srgbClr val="8AA6C0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Bitter" pitchFamily="34" charset="-120"/>
              </a:rPr>
              <a:t>YOU</a:t>
            </a:r>
            <a:endParaRPr lang="en-US" sz="2325" dirty="0">
              <a:latin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64594783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263</TotalTime>
  <Words>2322</Words>
  <Application>Microsoft Office PowerPoint</Application>
  <PresentationFormat>사용자 지정</PresentationFormat>
  <Paragraphs>488</Paragraphs>
  <Slides>18</Slides>
  <Notes>18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18</vt:i4>
      </vt:variant>
    </vt:vector>
  </HeadingPairs>
  <TitlesOfParts>
    <vt:vector size="23" baseType="lpstr">
      <vt:lpstr>맑은 고딕</vt:lpstr>
      <vt:lpstr>Arial</vt:lpstr>
      <vt:lpstr>Microsoft YaHei</vt:lpstr>
      <vt:lpstr>Calibri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SSAFY</cp:lastModifiedBy>
  <cp:revision>60</cp:revision>
  <dcterms:created xsi:type="dcterms:W3CDTF">2026-06-25T06:29:38Z</dcterms:created>
  <dcterms:modified xsi:type="dcterms:W3CDTF">2026-06-26T01:51:37Z</dcterms:modified>
</cp:coreProperties>
</file>